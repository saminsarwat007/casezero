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f2e2ccafae4a63" /><Relationship Type="http://schemas.openxmlformats.org/officeDocument/2006/relationships/extended-properties" Target="/docProps/app.xml" Id="R2bfc31a8f1584243" /><Relationship Type="http://schemas.openxmlformats.org/officeDocument/2006/relationships/officeDocument" Target="/ppt/presentation.xml" Id="Re7be1dd4521b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d889df488443f7"/>
  </p:sldMasterIdLst>
  <p:notesMasterIdLst>
    <p:notesMasterId xmlns:r="http://schemas.openxmlformats.org/officeDocument/2006/relationships" r:id="Rc289ddeedf224589"/>
  </p:notesMasterIdLst>
  <p:sldIdLst>
    <p:sldId xmlns:r="http://schemas.openxmlformats.org/officeDocument/2006/relationships" id="256" r:id="R04521af3ef0747e3"/>
    <p:sldId xmlns:r="http://schemas.openxmlformats.org/officeDocument/2006/relationships" id="257" r:id="R9ef458dc9d54455f"/>
    <p:sldId xmlns:r="http://schemas.openxmlformats.org/officeDocument/2006/relationships" id="258" r:id="R140821558f79487a"/>
    <p:sldId xmlns:r="http://schemas.openxmlformats.org/officeDocument/2006/relationships" id="259" r:id="R6fce76a42e484a44"/>
    <p:sldId xmlns:r="http://schemas.openxmlformats.org/officeDocument/2006/relationships" id="260" r:id="R920072f87d964545"/>
    <p:sldId xmlns:r="http://schemas.openxmlformats.org/officeDocument/2006/relationships" id="261" r:id="R319101a886d2417c"/>
    <p:sldId xmlns:r="http://schemas.openxmlformats.org/officeDocument/2006/relationships" id="262" r:id="R1034001bef4641e1"/>
    <p:sldId xmlns:r="http://schemas.openxmlformats.org/officeDocument/2006/relationships" id="263" r:id="R2c5ac7924a8041f6"/>
    <p:sldId xmlns:r="http://schemas.openxmlformats.org/officeDocument/2006/relationships" id="264" r:id="R725d63d4b5314e71"/>
    <p:sldId xmlns:r="http://schemas.openxmlformats.org/officeDocument/2006/relationships" id="265" r:id="R2cd3c698bd0b4e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0c75c6af64580" /><Relationship Type="http://schemas.openxmlformats.org/officeDocument/2006/relationships/slideMaster" Target="/ppt/slideMasters/slideMaster1.xml" Id="R6dd889df488443f7" /><Relationship Type="http://schemas.openxmlformats.org/officeDocument/2006/relationships/notesMaster" Target="/ppt/notesMasters/notesMaster1.xml" Id="Rc289ddeedf224589" /><Relationship Type="http://schemas.openxmlformats.org/officeDocument/2006/relationships/presProps" Target="/ppt/presProps.xml" Id="R493f6084e3ff43b4" /><Relationship Type="http://schemas.openxmlformats.org/officeDocument/2006/relationships/tableStyles" Target="/ppt/tableStyles.xml" Id="Ra4fafbdd78174a15" /><Relationship Type="http://schemas.openxmlformats.org/officeDocument/2006/relationships/slide" Target="/ppt/slides/slide1.xml" Id="R04521af3ef0747e3" /><Relationship Type="http://schemas.openxmlformats.org/officeDocument/2006/relationships/slide" Target="/ppt/slides/slide2.xml" Id="R9ef458dc9d54455f" /><Relationship Type="http://schemas.openxmlformats.org/officeDocument/2006/relationships/slide" Target="/ppt/slides/slide3.xml" Id="R140821558f79487a" /><Relationship Type="http://schemas.openxmlformats.org/officeDocument/2006/relationships/slide" Target="/ppt/slides/slide4.xml" Id="R6fce76a42e484a44" /><Relationship Type="http://schemas.openxmlformats.org/officeDocument/2006/relationships/slide" Target="/ppt/slides/slide5.xml" Id="R920072f87d964545" /><Relationship Type="http://schemas.openxmlformats.org/officeDocument/2006/relationships/slide" Target="/ppt/slides/slide6.xml" Id="R319101a886d2417c" /><Relationship Type="http://schemas.openxmlformats.org/officeDocument/2006/relationships/slide" Target="/ppt/slides/slide7.xml" Id="R1034001bef4641e1" /><Relationship Type="http://schemas.openxmlformats.org/officeDocument/2006/relationships/slide" Target="/ppt/slides/slide8.xml" Id="R2c5ac7924a8041f6" /><Relationship Type="http://schemas.openxmlformats.org/officeDocument/2006/relationships/slide" Target="/ppt/slides/slide9.xml" Id="R725d63d4b5314e71" /><Relationship Type="http://schemas.openxmlformats.org/officeDocument/2006/relationships/slide" Target="/ppt/slides/slide10.xml" Id="R2cd3c698bd0b4e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96849cca4f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0" dist="102587" dir="4091915">
              <a:srgbClr val="0B0F0C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cf87b8c9b84a7d" /><Relationship Type="http://schemas.openxmlformats.org/officeDocument/2006/relationships/notesMaster" Target="/ppt/notesMasters/notesMaster1.xml" Id="Rde4d150d4fe04a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172b593ddc428f" /><Relationship Type="http://schemas.openxmlformats.org/officeDocument/2006/relationships/notesMaster" Target="/ppt/notesMasters/notesMaster1.xml" Id="Re4e61858c36a4b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11d0d415641a7" /><Relationship Type="http://schemas.openxmlformats.org/officeDocument/2006/relationships/notesMaster" Target="/ppt/notesMasters/notesMaster1.xml" Id="Rc31a1d30a62c41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26e65fd5944be4" /><Relationship Type="http://schemas.openxmlformats.org/officeDocument/2006/relationships/notesMaster" Target="/ppt/notesMasters/notesMaster1.xml" Id="Rd6b54e8615144d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3778b278f54f5a" /><Relationship Type="http://schemas.openxmlformats.org/officeDocument/2006/relationships/notesMaster" Target="/ppt/notesMasters/notesMaster1.xml" Id="Rd433b42f2a744b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5caffa9b7540e7" /><Relationship Type="http://schemas.openxmlformats.org/officeDocument/2006/relationships/notesMaster" Target="/ppt/notesMasters/notesMaster1.xml" Id="R5fd7f7f4836b49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15dd5ffd554542" /><Relationship Type="http://schemas.openxmlformats.org/officeDocument/2006/relationships/notesMaster" Target="/ppt/notesMasters/notesMaster1.xml" Id="R45b89306dfa14b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5d74bbddac45c4" /><Relationship Type="http://schemas.openxmlformats.org/officeDocument/2006/relationships/notesMaster" Target="/ppt/notesMasters/notesMaster1.xml" Id="R70a1d84c3e9046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a118dbf29a47b1" /><Relationship Type="http://schemas.openxmlformats.org/officeDocument/2006/relationships/notesMaster" Target="/ppt/notesMasters/notesMaster1.xml" Id="R39e886eb9b0745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ebe297c43f4395" /><Relationship Type="http://schemas.openxmlformats.org/officeDocument/2006/relationships/notesMaster" Target="/ppt/notesMasters/notesMaster1.xml" Id="Rb05df3edb4a845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Case Study 1 exactly. Axiom is a governed banking-dispute operating agent: it can use AI for interpretation, but it must prove authority before any financial action.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Tencent Cloud x UTM Hackathon Handbook, page 4.</a:t>
            </a:r>
          </a:p>
          <a:p xmlns:a="http://schemas.openxmlformats.org/drawingml/2006/main">
            <a:r>
              <a:t>- First-party production capture: https://casezero-alpha.vercel.app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handbook gives us the bank's baseline: 1.8 million customers, 90 minutes of manual handling per case, and roughly 11 percent of regulatory deadlines missed.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Tencent Cloud x UTM Hackathon Handbook, Case Study 1 introduction, page 4.</a:t>
            </a:r>
          </a:p>
          <a:p xmlns:a="http://schemas.openxmlformats.org/drawingml/2006/main">
            <a:r>
              <a:t>- First-party Axiom production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path deliberately starts with an allow-listed synthetic customer. The execution beneath it is live: FastAPI, Gemini, MCP bank tools, Supabase writes, journal posting, and hash verification. That boundary protects customer PII without faking the run.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First-party production capture and persisted live endpoint at https://casezero-alpha.vercel.app/live</a:t>
            </a:r>
          </a:p>
          <a:p xmlns:a="http://schemas.openxmlformats.org/drawingml/2006/main">
            <a:r>
              <a:t>- Tencent Cloud x UTM Hackathon Handbook, security and auditability requirements, page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Axiom uses specialist agents where probabilistic reasoning helps, then crosses into deterministic code for policy, authorization, and financial posting. The image is the actual telemetry from the deployed case: three metered Gemini calls and three MCP bank-tool calls.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Persisted production proof for MYB-2026-000028.</a:t>
            </a:r>
          </a:p>
          <a:p xmlns:a="http://schemas.openxmlformats.org/drawingml/2006/main">
            <a:r>
              <a:t>- CaseZero api/agents and api/kernel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 is necessary, but not sufficient. The kernel also requires a short-lived signed ticket, a balanced journal, and an unbroken event chain. The displayed RM 2,450 entry is the actual posting returned by the production run.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Persisted production proof for MYB-2026-000028.</a:t>
            </a:r>
          </a:p>
          <a:p xmlns:a="http://schemas.openxmlformats.org/drawingml/2006/main">
            <a:r>
              <a:t>- CaseZero resolver, kernel ticket, journal, and hash-chain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redesigned public experience has one first action. It does not ask a judge to choose a mode or tour a dashboard. It starts with one sanitized complaint, waits for production, and shows only returned evidence.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First-party production capture: https://casezero-alpha.vercel.app/live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external experience is intentionally calmer than the operator proof. A pre-approved communication is linted, authorized, and released with the final state and applicable redress information. The displayed customer is a sanctioned fixture; the status behavior is implemented.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Tencent Cloud x UTM Hackathon Handbook, compliant customer communication requirement, page 5.</a:t>
            </a:r>
          </a:p>
          <a:p xmlns:a="http://schemas.openxmlformats.org/drawingml/2006/main">
            <a:r>
              <a:t>- First-party CaseZero customer-outcome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release we just exercised in production. It completed in 24.59 seconds with three metered model calls, three MCP bank-tool calls, thirteen valid chain links, and a balanced journal. The full local release gate is 466 backend tests and 14 browser journeys.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Persisted production proof for MYB-2026-000028.</a:t>
            </a:r>
          </a:p>
          <a:p xmlns:a="http://schemas.openxmlformats.org/drawingml/2006/main">
            <a:r>
              <a:t>- CaseZero 4 August 2026 backend, browser, build, and npm-audit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controlled rollout targets the two highest-volume categories, which together account for 57 percent of the handbook's stated mix. The 24.59-second figure is this live demonstration case, not a promised production average. A bank should prove its own target in shadow mode before enabling thresholded posting.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Tencent Cloud x UTM Hackathon Handbook, Case Study 1 category mix and under-five-minute stretch target, page 4.</a:t>
            </a:r>
          </a:p>
          <a:p xmlns:a="http://schemas.openxmlformats.org/drawingml/2006/main">
            <a:r>
              <a:t>- Persisted production proof for MYB-2026-000028.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decision boundary. The public system is live today with safe synthetic input. A real bank rollout needs bank-owned core and CRM endpoints, complaint-mailbox send authority, the approved compliance pack and thresholds, and named administrators plus an always-on SLA worker.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CaseZero production deployment and stakeholder deployment guide.</a:t>
            </a:r>
          </a:p>
          <a:p xmlns:a="http://schemas.openxmlformats.org/drawingml/2006/main">
            <a:r>
              <a:t>- First-party Axiom settings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1d9f363dc4e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fb5981ab8740c5" /><Relationship Type="http://schemas.openxmlformats.org/officeDocument/2006/relationships/slideLayout" Target="/ppt/slideLayouts/slideLayout1.xml" Id="R3ae0f66a7f2a40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e0f66a7f2a40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a77df825b4586" /><Relationship Type="http://schemas.openxmlformats.org/officeDocument/2006/relationships/image" Target="/ppt/media/image.png" Id="R25c1b64c993e4ab7" /><Relationship Type="http://schemas.openxmlformats.org/officeDocument/2006/relationships/notesSlide" Target="/ppt/notesSlides/notesSlide1.xml" Id="R485479b32e3b44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1d3ffa3a641e5" /><Relationship Type="http://schemas.openxmlformats.org/officeDocument/2006/relationships/image" Target="/ppt/media/image2.png" Id="Rfd10ee26d4cd49be" /><Relationship Type="http://schemas.openxmlformats.org/officeDocument/2006/relationships/notesSlide" Target="/ppt/notesSlides/notesSlide2.xml" Id="Rbd101e53a49b4f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324cfa2d64b61" /><Relationship Type="http://schemas.openxmlformats.org/officeDocument/2006/relationships/image" Target="/ppt/media/image3.png" Id="R2d50729101a84657" /><Relationship Type="http://schemas.openxmlformats.org/officeDocument/2006/relationships/notesSlide" Target="/ppt/notesSlides/notesSlide3.xml" Id="Rd186459222c844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0b54898404e13" /><Relationship Type="http://schemas.openxmlformats.org/officeDocument/2006/relationships/image" Target="/ppt/media/image4.png" Id="R770cf64efcc5497e" /><Relationship Type="http://schemas.openxmlformats.org/officeDocument/2006/relationships/notesSlide" Target="/ppt/notesSlides/notesSlide4.xml" Id="R2b6d4dbe5d084b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16f5709fc49d4" /><Relationship Type="http://schemas.openxmlformats.org/officeDocument/2006/relationships/image" Target="/ppt/media/image5.png" Id="R0220d2220d1f4ab6" /><Relationship Type="http://schemas.openxmlformats.org/officeDocument/2006/relationships/notesSlide" Target="/ppt/notesSlides/notesSlide5.xml" Id="Ra07fef805df444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e204b30b540af" /><Relationship Type="http://schemas.openxmlformats.org/officeDocument/2006/relationships/image" Target="/ppt/media/image6.png" Id="Re59fb281178140d6" /><Relationship Type="http://schemas.openxmlformats.org/officeDocument/2006/relationships/notesSlide" Target="/ppt/notesSlides/notesSlide6.xml" Id="R2749d985c5d844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b5f5680bb444c" /><Relationship Type="http://schemas.openxmlformats.org/officeDocument/2006/relationships/image" Target="/ppt/media/image7.png" Id="R874c0bd366d74fd9" /><Relationship Type="http://schemas.openxmlformats.org/officeDocument/2006/relationships/notesSlide" Target="/ppt/notesSlides/notesSlide7.xml" Id="Rc380a8d6b5a640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2cafcac4d4d79" /><Relationship Type="http://schemas.openxmlformats.org/officeDocument/2006/relationships/notesSlide" Target="/ppt/notesSlides/notesSlide8.xml" Id="Rb284501e1eea4f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6e421b19e4fa6" /><Relationship Type="http://schemas.openxmlformats.org/officeDocument/2006/relationships/image" Target="/ppt/media/image8.png" Id="R49d613ab25044276" /><Relationship Type="http://schemas.openxmlformats.org/officeDocument/2006/relationships/notesSlide" Target="/ppt/notesSlides/notesSlide9.xml" Id="Rc62a8093753e40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1d84d154a4067" /><Relationship Type="http://schemas.openxmlformats.org/officeDocument/2006/relationships/image" Target="/ppt/media/image9.png" Id="Rb470ace9c67c4823" /><Relationship Type="http://schemas.openxmlformats.org/officeDocument/2006/relationships/notesSlide" Target="/ppt/notesSlides/notesSlide10.xml" Id="Rb3dbc960de87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E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1b64c993e4ab7"/>
          <a:stretch xmlns:a="http://schemas.openxmlformats.org/drawingml/2006/main"/>
        </p:blipFill>
        <p:spPr>
          <a:xfrm xmlns:a="http://schemas.openxmlformats.org/drawingml/2006/main">
            <a:off x="7768843" y="781050"/>
            <a:ext cx="3417064" cy="5295900"/>
          </a:xfrm>
          <a:prstGeom xmlns:a="http://schemas.openxmlformats.org/drawingml/2006/main" prst="rect">
            <a:avLst/>
          </a:prstGeom>
        </p:spPr>
      </p:pic>
      <p:sp>
        <p:nvSpPr>
          <p:cNvPr id="2" name="title-ground">
            <a:extLst xmlns:a="http://schemas.openxmlformats.org/drawingml/2006/main">
              <a:ext uri="{FF2B5EF4-FFF2-40B4-BE49-F238E27FC236}">
                <a16:creationId xmlns:a16="http://schemas.microsoft.com/office/drawing/2014/main" id="{E556B358-C0D7-43B6-857C-F4A71FE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5334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se-study">
            <a:extLst xmlns:a="http://schemas.openxmlformats.org/drawingml/2006/main">
              <a:ext uri="{FF2B5EF4-FFF2-40B4-BE49-F238E27FC236}">
                <a16:creationId xmlns:a16="http://schemas.microsoft.com/office/drawing/2014/main" id="{ABC7D019-972F-4D64-AABF-AA86A4F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CASE STUDY 1 / BANKING DISPUTE AUTOMATION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E5CE8B-2C11-4CC8-8D74-4E5598BA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850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Axiom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45BD9D1-04EE-4543-8C4E-9C8CB755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57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307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One complaint.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307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One governed outcome.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85F9B301-C566-4A20-A828-E0F44A7A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gent">
            <a:extLst xmlns:a="http://schemas.openxmlformats.org/drawingml/2006/main">
              <a:ext uri="{FF2B5EF4-FFF2-40B4-BE49-F238E27FC236}">
                <a16:creationId xmlns:a16="http://schemas.microsoft.com/office/drawing/2014/main" id="{FBCE280E-2294-4D6A-8CE2-6C60BFFB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LIVE NOW · PROVABLE END TO END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7AFB49E-D0EF-4D79-A9A6-167B7C02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casezero-alpha.vercel.app</a:t>
            </a:r>
          </a:p>
        </p:txBody>
      </p:sp>
    </p:spTree>
    <p:extLst>
      <p:ext uri="{BB962C8B-B14F-4D97-AF65-F5344CB8AC3E}">
        <p14:creationId xmlns:p14="http://schemas.microsoft.com/office/powerpoint/2010/main" val="107168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6E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0ee26d4cd49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ight-paper">
            <a:extLst xmlns:a="http://schemas.openxmlformats.org/drawingml/2006/main">
              <a:ext uri="{FF2B5EF4-FFF2-40B4-BE49-F238E27FC236}">
                <a16:creationId xmlns:a16="http://schemas.microsoft.com/office/drawing/2014/main" id="{B0E4CEAE-0A7A-4857-ADE4-1FD30BFE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1000"/>
            <a:ext cx="4705350" cy="588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3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9C4E389-4352-460A-9932-05A3D5AF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66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THE BANK'S STARTING POINT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52B337-D8F1-4738-9B0B-60C0A125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23950"/>
            <a:ext cx="3848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Time is lost before evidence is assembled.</a:t>
            </a:r>
          </a:p>
        </p:txBody>
      </p:sp>
      <p:sp>
        <p:nvSpPr>
          <p:cNvPr id="5" name="m0">
            <a:extLst xmlns:a="http://schemas.openxmlformats.org/drawingml/2006/main">
              <a:ext uri="{FF2B5EF4-FFF2-40B4-BE49-F238E27FC236}">
                <a16:creationId xmlns:a16="http://schemas.microsoft.com/office/drawing/2014/main" id="{D3100DDE-CBE5-4799-BD75-47A36B84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1.8M</a:t>
            </a:r>
          </a:p>
        </p:txBody>
      </p:sp>
      <p:sp>
        <p:nvSpPr>
          <p:cNvPr id="6" name="ml0">
            <a:extLst xmlns:a="http://schemas.openxmlformats.org/drawingml/2006/main">
              <a:ext uri="{FF2B5EF4-FFF2-40B4-BE49-F238E27FC236}">
                <a16:creationId xmlns:a16="http://schemas.microsoft.com/office/drawing/2014/main" id="{0D6878B7-0A82-421D-80AB-BE7C8234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670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retail + SME customers</a:t>
            </a:r>
          </a:p>
        </p:txBody>
      </p:sp>
      <p:sp>
        <p:nvSpPr>
          <p:cNvPr id="7" name="m1">
            <a:extLst xmlns:a="http://schemas.openxmlformats.org/drawingml/2006/main">
              <a:ext uri="{FF2B5EF4-FFF2-40B4-BE49-F238E27FC236}">
                <a16:creationId xmlns:a16="http://schemas.microsoft.com/office/drawing/2014/main" id="{FE663C15-D8BB-4F12-A3DD-9780494C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909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90 MIN</a:t>
            </a:r>
          </a:p>
        </p:txBody>
      </p:sp>
      <p:sp>
        <p:nvSpPr>
          <p:cNvPr id="8" name="ml1">
            <a:extLst xmlns:a="http://schemas.openxmlformats.org/drawingml/2006/main">
              <a:ext uri="{FF2B5EF4-FFF2-40B4-BE49-F238E27FC236}">
                <a16:creationId xmlns:a16="http://schemas.microsoft.com/office/drawing/2014/main" id="{7F592FBE-E4BE-4BBA-851E-EB0CD1D3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052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manual handling per case</a:t>
            </a:r>
          </a:p>
        </p:txBody>
      </p:sp>
      <p:sp>
        <p:nvSpPr>
          <p:cNvPr id="9" name="m2">
            <a:extLst xmlns:a="http://schemas.openxmlformats.org/drawingml/2006/main">
              <a:ext uri="{FF2B5EF4-FFF2-40B4-BE49-F238E27FC236}">
                <a16:creationId xmlns:a16="http://schemas.microsoft.com/office/drawing/2014/main" id="{94BE627D-4711-44F6-A83F-3D98852B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2915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A4263C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A4263C"/>
                </a:solidFill>
                <a:latin typeface="Avenir Next"/>
                <a:ea typeface="Avenir Next"/>
                <a:cs typeface="Avenir Next"/>
              </a:rPr>
              <a:t>11%</a:t>
            </a:r>
          </a:p>
        </p:txBody>
      </p:sp>
      <p:sp>
        <p:nvSpPr>
          <p:cNvPr id="10" name="ml2">
            <a:extLst xmlns:a="http://schemas.openxmlformats.org/drawingml/2006/main">
              <a:ext uri="{FF2B5EF4-FFF2-40B4-BE49-F238E27FC236}">
                <a16:creationId xmlns:a16="http://schemas.microsoft.com/office/drawing/2014/main" id="{15183E35-D568-4157-9254-4D8FFD2C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053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regulatory deadlines missed</a:t>
            </a:r>
          </a:p>
        </p:txBody>
      </p:sp>
      <p:sp>
        <p:nvSpPr>
          <p:cNvPr id="11" name="sla">
            <a:extLst xmlns:a="http://schemas.openxmlformats.org/drawingml/2006/main">
              <a:ext uri="{FF2B5EF4-FFF2-40B4-BE49-F238E27FC236}">
                <a16:creationId xmlns:a16="http://schemas.microsoft.com/office/drawing/2014/main" id="{07B939ED-C20E-4BE7-9146-FEFE0F31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657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BNM / FMOS · 5-20 WORKING DAYS</a:t>
            </a:r>
          </a:p>
        </p:txBody>
      </p:sp>
    </p:spTree>
    <p:extLst>
      <p:ext uri="{BB962C8B-B14F-4D97-AF65-F5344CB8AC3E}">
        <p14:creationId xmlns:p14="http://schemas.microsoft.com/office/powerpoint/2010/main" val="1709347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6E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3">
            <a:extLst xmlns:a="http://schemas.openxmlformats.org/drawingml/2006/main">
              <a:ext uri="{FF2B5EF4-FFF2-40B4-BE49-F238E27FC236}">
                <a16:creationId xmlns:a16="http://schemas.microsoft.com/office/drawing/2014/main" id="{2BF7B279-D051-4982-9534-ECEDEB7C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AXIOM / LIVE PRODUCT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B736B808-CD9F-4AEA-AAB0-2702638E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86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rule-52">
            <a:extLst xmlns:a="http://schemas.openxmlformats.org/drawingml/2006/main">
              <a:ext uri="{FF2B5EF4-FFF2-40B4-BE49-F238E27FC236}">
                <a16:creationId xmlns:a16="http://schemas.microsoft.com/office/drawing/2014/main" id="{9DC9132A-8CF4-4DD3-83DD-DEDF82F1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77A32F-83CA-4FA5-8639-526B7399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A fresh complaint becomes a public proof.</a:t>
            </a:r>
          </a:p>
        </p:txBody>
      </p:sp>
      <p:sp>
        <p:nvSpPr>
          <p:cNvPr id="5" name="steps">
            <a:extLst xmlns:a="http://schemas.openxmlformats.org/drawingml/2006/main">
              <a:ext uri="{FF2B5EF4-FFF2-40B4-BE49-F238E27FC236}">
                <a16:creationId xmlns:a16="http://schemas.microsoft.com/office/drawing/2014/main" id="{3D57648C-CB56-4275-B98D-56095955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71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SANITIZED INPUT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LIVE EXECUTION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SIGNED OUTCOME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SHAREABLE PROOF</a:t>
            </a:r>
          </a:p>
        </p:txBody>
      </p:sp>
      <p:sp>
        <p:nvSpPr>
          <p:cNvPr id="6" name="promise">
            <a:extLst xmlns:a="http://schemas.openxmlformats.org/drawingml/2006/main">
              <a:ext uri="{FF2B5EF4-FFF2-40B4-BE49-F238E27FC236}">
                <a16:creationId xmlns:a16="http://schemas.microsoft.com/office/drawing/2014/main" id="{DA9A36AB-BC93-4315-ABA9-C1BD8AEB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No prefilled success. No silent fallback.</a:t>
            </a:r>
          </a:p>
        </p:txBody>
      </p:sp>
      <p:sp>
        <p:nvSpPr>
          <p:cNvPr id="7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A6D9BB5-5ACA-4F1D-8E45-4741C23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914400"/>
            <a:ext cx="636270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0729101a84657"/>
          <a:stretch xmlns:a="http://schemas.openxmlformats.org/drawingml/2006/main"/>
        </p:blipFill>
        <p:spPr>
          <a:xfrm xmlns:a="http://schemas.openxmlformats.org/drawingml/2006/main">
            <a:off x="5334000" y="1646634"/>
            <a:ext cx="6134100" cy="34504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594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cf64efcc5497e"/>
          <a:stretch xmlns:a="http://schemas.openxmlformats.org/drawingml/2006/main"/>
        </p:blipFill>
        <p:spPr>
          <a:xfrm xmlns:a="http://schemas.openxmlformats.org/drawingml/2006/main">
            <a:off x="5602861" y="1143000"/>
            <a:ext cx="6339328" cy="4572000"/>
          </a:xfrm>
          <a:prstGeom xmlns:a="http://schemas.openxmlformats.org/drawingml/2006/main" prst="rect">
            <a:avLst/>
          </a:prstGeom>
        </p:spPr>
      </p:pic>
      <p:sp>
        <p:nvSpPr>
          <p:cNvPr id="2" name="copy-ground">
            <a:extLst xmlns:a="http://schemas.openxmlformats.org/drawingml/2006/main">
              <a:ext uri="{FF2B5EF4-FFF2-40B4-BE49-F238E27FC236}">
                <a16:creationId xmlns:a16="http://schemas.microsoft.com/office/drawing/2014/main" id="{94575E50-C27A-4171-BC33-36388DE3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"/>
            <a:ext cx="535305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E7E52D9-A4D1-462A-A338-ACB01CF7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AI INNOVATION / AUTHORITY DESIGN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5E390F-C2B7-4883-A833-F29FE95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050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AI proposes.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050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Policy decides.</a:t>
            </a:r>
          </a:p>
        </p:txBody>
      </p:sp>
      <p:sp>
        <p:nvSpPr>
          <p:cNvPr id="5" name="line-0">
            <a:extLst xmlns:a="http://schemas.openxmlformats.org/drawingml/2006/main">
              <a:ext uri="{FF2B5EF4-FFF2-40B4-BE49-F238E27FC236}">
                <a16:creationId xmlns:a16="http://schemas.microsoft.com/office/drawing/2014/main" id="{83A6D618-7B72-42FF-9713-94208F80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0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Intake extracts + encrypts</a:t>
            </a:r>
          </a:p>
        </p:txBody>
      </p:sp>
      <p:sp>
        <p:nvSpPr>
          <p:cNvPr id="6" name="line-1">
            <a:extLst xmlns:a="http://schemas.openxmlformats.org/drawingml/2006/main">
              <a:ext uri="{FF2B5EF4-FFF2-40B4-BE49-F238E27FC236}">
                <a16:creationId xmlns:a16="http://schemas.microsoft.com/office/drawing/2014/main" id="{0F4F6D48-0AD1-4874-94D9-38E41A00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0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Classifier assigns category + SLA</a:t>
            </a:r>
          </a:p>
        </p:txBody>
      </p:sp>
      <p:sp>
        <p:nvSpPr>
          <p:cNvPr id="7" name="line-2">
            <a:extLst xmlns:a="http://schemas.openxmlformats.org/drawingml/2006/main">
              <a:ext uri="{FF2B5EF4-FFF2-40B4-BE49-F238E27FC236}">
                <a16:creationId xmlns:a16="http://schemas.microsoft.com/office/drawing/2014/main" id="{FEF13A31-8EB0-4D8D-90F2-D1AF3670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0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Verifier calls CRM + core tools</a:t>
            </a:r>
          </a:p>
        </p:txBody>
      </p:sp>
      <p:sp>
        <p:nvSpPr>
          <p:cNvPr id="8" name="line-3">
            <a:extLst xmlns:a="http://schemas.openxmlformats.org/drawingml/2006/main">
              <a:ext uri="{FF2B5EF4-FFF2-40B4-BE49-F238E27FC236}">
                <a16:creationId xmlns:a16="http://schemas.microsoft.com/office/drawing/2014/main" id="{417DC861-5C47-42FB-AFCA-CA16A76E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Deterministic gate owns POST</a:t>
            </a:r>
          </a:p>
        </p:txBody>
      </p:sp>
      <p:sp>
        <p:nvSpPr>
          <p:cNvPr id="9" name="ox-rule">
            <a:extLst xmlns:a="http://schemas.openxmlformats.org/drawingml/2006/main">
              <a:ext uri="{FF2B5EF4-FFF2-40B4-BE49-F238E27FC236}">
                <a16:creationId xmlns:a16="http://schemas.microsoft.com/office/drawing/2014/main" id="{0A9F465A-7823-4495-8DC6-78C43142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ciple">
            <a:extLst xmlns:a="http://schemas.openxmlformats.org/drawingml/2006/main">
              <a:ext uri="{FF2B5EF4-FFF2-40B4-BE49-F238E27FC236}">
                <a16:creationId xmlns:a16="http://schemas.microsoft.com/office/drawing/2014/main" id="{03BB8CF8-C5C7-4947-9D09-B71614DF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MODELS WRITE PROPOSALS / CODE OWNS AUTHORITY</a:t>
            </a:r>
          </a:p>
        </p:txBody>
      </p:sp>
    </p:spTree>
    <p:extLst>
      <p:ext uri="{BB962C8B-B14F-4D97-AF65-F5344CB8AC3E}">
        <p14:creationId xmlns:p14="http://schemas.microsoft.com/office/powerpoint/2010/main" val="430441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5">
            <a:extLst xmlns:a="http://schemas.openxmlformats.org/drawingml/2006/main">
              <a:ext uri="{FF2B5EF4-FFF2-40B4-BE49-F238E27FC236}">
                <a16:creationId xmlns:a16="http://schemas.microsoft.com/office/drawing/2014/main" id="{D4AFDD31-9D98-4720-A966-0809ED70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AXIOM / FINANCIAL CONTROL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8B5AAF47-BCC5-4696-92CD-098302B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86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rule-52">
            <a:extLst xmlns:a="http://schemas.openxmlformats.org/drawingml/2006/main">
              <a:ext uri="{FF2B5EF4-FFF2-40B4-BE49-F238E27FC236}">
                <a16:creationId xmlns:a16="http://schemas.microsoft.com/office/drawing/2014/main" id="{E6F81198-1C9F-4319-8236-58C393A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796488-3D11-4E91-9459-DA734BD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A verified model result still cannot move money.</a:t>
            </a:r>
          </a:p>
        </p:txBody>
      </p:sp>
      <p:sp>
        <p:nvSpPr>
          <p:cNvPr id="5" name="audit-frame">
            <a:extLst xmlns:a="http://schemas.openxmlformats.org/drawingml/2006/main">
              <a:ext uri="{FF2B5EF4-FFF2-40B4-BE49-F238E27FC236}">
                <a16:creationId xmlns:a16="http://schemas.microsoft.com/office/drawing/2014/main" id="{815F9C77-70B0-45EF-951D-21A3B787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74295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0d2220d1f4ab6"/>
          <a:stretch xmlns:a="http://schemas.openxmlformats.org/drawingml/2006/main"/>
        </p:blipFill>
        <p:spPr>
          <a:xfrm xmlns:a="http://schemas.openxmlformats.org/drawingml/2006/main">
            <a:off x="685800" y="2108777"/>
            <a:ext cx="7239000" cy="3345295"/>
          </a:xfrm>
          <a:prstGeom xmlns:a="http://schemas.openxmlformats.org/drawingml/2006/main" prst="rect">
            <a:avLst/>
          </a:prstGeom>
        </p:spPr>
      </p:pic>
      <p:sp>
        <p:nvSpPr>
          <p:cNvPr id="7" name="n-01">
            <a:extLst xmlns:a="http://schemas.openxmlformats.org/drawingml/2006/main">
              <a:ext uri="{FF2B5EF4-FFF2-40B4-BE49-F238E27FC236}">
                <a16:creationId xmlns:a16="http://schemas.microsoft.com/office/drawing/2014/main" id="{6B459D0C-6D12-482F-97B3-A0BE57C8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c-01">
            <a:extLst xmlns:a="http://schemas.openxmlformats.org/drawingml/2006/main">
              <a:ext uri="{FF2B5EF4-FFF2-40B4-BE49-F238E27FC236}">
                <a16:creationId xmlns:a16="http://schemas.microsoft.com/office/drawing/2014/main" id="{8755100B-7716-48FA-8B0F-01DA3D0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Bank evidence returns PASS</a:t>
            </a:r>
          </a:p>
        </p:txBody>
      </p:sp>
      <p:sp>
        <p:nvSpPr>
          <p:cNvPr id="9" name="r-01">
            <a:extLst xmlns:a="http://schemas.openxmlformats.org/drawingml/2006/main">
              <a:ext uri="{FF2B5EF4-FFF2-40B4-BE49-F238E27FC236}">
                <a16:creationId xmlns:a16="http://schemas.microsoft.com/office/drawing/2014/main" id="{1680F741-6378-4B08-9690-FD3BE526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-02">
            <a:extLst xmlns:a="http://schemas.openxmlformats.org/drawingml/2006/main">
              <a:ext uri="{FF2B5EF4-FFF2-40B4-BE49-F238E27FC236}">
                <a16:creationId xmlns:a16="http://schemas.microsoft.com/office/drawing/2014/main" id="{56F83B71-0376-4514-8DD0-D2CB4A9A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c-02">
            <a:extLst xmlns:a="http://schemas.openxmlformats.org/drawingml/2006/main">
              <a:ext uri="{FF2B5EF4-FFF2-40B4-BE49-F238E27FC236}">
                <a16:creationId xmlns:a16="http://schemas.microsoft.com/office/drawing/2014/main" id="{4807ED7F-48CC-4E93-9732-0C767F05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1465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Ticket binds case, amount + expiry</a:t>
            </a:r>
          </a:p>
        </p:txBody>
      </p:sp>
      <p:sp>
        <p:nvSpPr>
          <p:cNvPr id="12" name="r-02">
            <a:extLst xmlns:a="http://schemas.openxmlformats.org/drawingml/2006/main">
              <a:ext uri="{FF2B5EF4-FFF2-40B4-BE49-F238E27FC236}">
                <a16:creationId xmlns:a16="http://schemas.microsoft.com/office/drawing/2014/main" id="{BC4C5177-7832-4AFC-92B3-C81EC262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433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-03">
            <a:extLst xmlns:a="http://schemas.openxmlformats.org/drawingml/2006/main">
              <a:ext uri="{FF2B5EF4-FFF2-40B4-BE49-F238E27FC236}">
                <a16:creationId xmlns:a16="http://schemas.microsoft.com/office/drawing/2014/main" id="{A84B8500-00E6-4159-ADF5-A0FAA9E2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c-03">
            <a:extLst xmlns:a="http://schemas.openxmlformats.org/drawingml/2006/main">
              <a:ext uri="{FF2B5EF4-FFF2-40B4-BE49-F238E27FC236}">
                <a16:creationId xmlns:a16="http://schemas.microsoft.com/office/drawing/2014/main" id="{9A507719-C79B-4291-BC24-1F1F6E8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6715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Debit equals credit: RM 2,450</a:t>
            </a:r>
          </a:p>
        </p:txBody>
      </p:sp>
      <p:sp>
        <p:nvSpPr>
          <p:cNvPr id="15" name="r-03">
            <a:extLst xmlns:a="http://schemas.openxmlformats.org/drawingml/2006/main">
              <a:ext uri="{FF2B5EF4-FFF2-40B4-BE49-F238E27FC236}">
                <a16:creationId xmlns:a16="http://schemas.microsoft.com/office/drawing/2014/main" id="{8DC15EA0-DB41-46DA-90C6-4DAD5664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-04">
            <a:extLst xmlns:a="http://schemas.openxmlformats.org/drawingml/2006/main">
              <a:ext uri="{FF2B5EF4-FFF2-40B4-BE49-F238E27FC236}">
                <a16:creationId xmlns:a16="http://schemas.microsoft.com/office/drawing/2014/main" id="{C1F4CD75-B7C7-4654-AAFF-4E123ED8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38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A4263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4263C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c-04">
            <a:extLst xmlns:a="http://schemas.openxmlformats.org/drawingml/2006/main">
              <a:ext uri="{FF2B5EF4-FFF2-40B4-BE49-F238E27FC236}">
                <a16:creationId xmlns:a16="http://schemas.microsoft.com/office/drawing/2014/main" id="{C781E08C-C594-4F07-8264-88B9B575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1965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13-link chain verifies the write</a:t>
            </a:r>
          </a:p>
        </p:txBody>
      </p:sp>
      <p:sp>
        <p:nvSpPr>
          <p:cNvPr id="18" name="r-04">
            <a:extLst xmlns:a="http://schemas.openxmlformats.org/drawingml/2006/main">
              <a:ext uri="{FF2B5EF4-FFF2-40B4-BE49-F238E27FC236}">
                <a16:creationId xmlns:a16="http://schemas.microsoft.com/office/drawing/2014/main" id="{5B896206-90A8-4DC0-8A70-F783E711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483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A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7298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6E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fb281178140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A7A05B46-D3E0-4D9C-BB10-AE952044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47157CF-1085-4B6A-A645-00AEE86E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USER EXPERIENCE / ONE CLEAR FIRST ACTION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209A59-B576-4090-87EB-0E3204FA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One click starts a fresh production case.</a:t>
            </a:r>
          </a:p>
        </p:txBody>
      </p:sp>
      <p:sp>
        <p:nvSpPr>
          <p:cNvPr id="5" name="caption">
            <a:extLst xmlns:a="http://schemas.openxmlformats.org/drawingml/2006/main">
              <a:ext uri="{FF2B5EF4-FFF2-40B4-BE49-F238E27FC236}">
                <a16:creationId xmlns:a16="http://schemas.microsoft.com/office/drawing/2014/main" id="{65B6968A-3B54-4B60-ADD2-A7BA10EC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790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3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</p:sp>
      <p:sp>
        <p:nvSpPr>
          <p:cNvPr id="6" name="caption-text">
            <a:extLst xmlns:a="http://schemas.openxmlformats.org/drawingml/2006/main">
              <a:ext uri="{FF2B5EF4-FFF2-40B4-BE49-F238E27FC236}">
                <a16:creationId xmlns:a16="http://schemas.microsoft.com/office/drawing/2014/main" id="{172D8038-C253-4F4B-90D5-D153116B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5792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Synthetic customer. Real API, model, MCP tools + Supabase.</a:t>
            </a:r>
          </a:p>
        </p:txBody>
      </p:sp>
    </p:spTree>
    <p:extLst>
      <p:ext uri="{BB962C8B-B14F-4D97-AF65-F5344CB8AC3E}">
        <p14:creationId xmlns:p14="http://schemas.microsoft.com/office/powerpoint/2010/main" val="5370407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6E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7">
            <a:extLst xmlns:a="http://schemas.openxmlformats.org/drawingml/2006/main">
              <a:ext uri="{FF2B5EF4-FFF2-40B4-BE49-F238E27FC236}">
                <a16:creationId xmlns:a16="http://schemas.microsoft.com/office/drawing/2014/main" id="{1141FE64-E793-4ECE-A2E3-248C784F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AXIOM / CUSTOMER COMMUNICATION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5E904D73-E66E-49C2-92E6-783D1860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86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rule-52">
            <a:extLst xmlns:a="http://schemas.openxmlformats.org/drawingml/2006/main">
              <a:ext uri="{FF2B5EF4-FFF2-40B4-BE49-F238E27FC236}">
                <a16:creationId xmlns:a16="http://schemas.microsoft.com/office/drawing/2014/main" id="{83465650-C1E1-4953-81F8-A5A72933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0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92C0DD-3F6E-4593-ACBE-F69CE3C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525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The customer receives a resolution - not agent internals.</a:t>
            </a:r>
          </a:p>
        </p:txBody>
      </p:sp>
      <p:sp>
        <p:nvSpPr>
          <p:cNvPr id="5" name="amount">
            <a:extLst xmlns:a="http://schemas.openxmlformats.org/drawingml/2006/main">
              <a:ext uri="{FF2B5EF4-FFF2-40B4-BE49-F238E27FC236}">
                <a16:creationId xmlns:a16="http://schemas.microsoft.com/office/drawing/2014/main" id="{12DA323C-6E36-4A03-A26B-C82D072B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RM 2,450</a:t>
            </a:r>
          </a:p>
        </p:txBody>
      </p:sp>
      <p:sp>
        <p:nvSpPr>
          <p:cNvPr id="6" name="labels">
            <a:extLst xmlns:a="http://schemas.openxmlformats.org/drawingml/2006/main">
              <a:ext uri="{FF2B5EF4-FFF2-40B4-BE49-F238E27FC236}">
                <a16:creationId xmlns:a16="http://schemas.microsoft.com/office/drawing/2014/main" id="{CE6EFA4F-E957-43B5-9938-3E3D26D1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COMMUNICATED · PASS · POSTED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plain-language case record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FMOS notice when required</a:t>
            </a:r>
          </a:p>
        </p:txBody>
      </p:sp>
      <p:sp>
        <p:nvSpPr>
          <p:cNvPr id="7" name="phone-ground">
            <a:extLst xmlns:a="http://schemas.openxmlformats.org/drawingml/2006/main">
              <a:ext uri="{FF2B5EF4-FFF2-40B4-BE49-F238E27FC236}">
                <a16:creationId xmlns:a16="http://schemas.microsoft.com/office/drawing/2014/main" id="{30F8FAB9-DE22-4E0B-8C4C-FFEDBA8B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"/>
            <a:ext cx="405765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3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c0bd366d74fd9"/>
          <a:stretch xmlns:a="http://schemas.openxmlformats.org/drawingml/2006/main"/>
        </p:blipFill>
        <p:spPr>
          <a:xfrm xmlns:a="http://schemas.openxmlformats.org/drawingml/2006/main">
            <a:off x="7562850" y="938213"/>
            <a:ext cx="3409950" cy="5114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4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BC340D0A-58A1-4C9A-B7B9-99CB505F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RELEASE EVIDENCE / VERIFIED 04 AUG 2026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416C4A-58E7-4EBD-A66D-993B5190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Measured at the system boundary.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EAE5605B-47CA-4341-9764-39194C42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24.59s</a:t>
            </a:r>
          </a:p>
        </p:txBody>
      </p:sp>
      <p:sp>
        <p:nvSpPr>
          <p:cNvPr id="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3C378A21-9B68-4DAA-B591-DE39133A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fresh production run</a:t>
            </a:r>
          </a:p>
        </p:txBody>
      </p:sp>
      <p:sp>
        <p:nvSpPr>
          <p:cNvPr id="5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2B3A2C78-8F44-489A-9280-F11566B0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24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46C33799-0FC8-422A-97B5-575A4304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3 / 3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0DAF01E-CB7F-4D66-A34A-2A3D4382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623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metered model calls</a:t>
            </a:r>
          </a:p>
        </p:txBody>
      </p:sp>
      <p:sp>
        <p:nvSpPr>
          <p:cNvPr id="8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61F05C3C-8890-41CD-A0BA-D8A4CD13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29100"/>
            <a:ext cx="224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C88743C4-5097-40C1-AC12-A6AFF5F9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3 / 3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B26782D-69E1-4BDB-BA54-60522FBC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MCP bank tool calls</a:t>
            </a:r>
          </a:p>
        </p:txBody>
      </p:sp>
      <p:sp>
        <p:nvSpPr>
          <p:cNvPr id="11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EBC1989F-59CF-408F-A011-0AD40F6C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224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3">
            <a:extLst xmlns:a="http://schemas.openxmlformats.org/drawingml/2006/main">
              <a:ext uri="{FF2B5EF4-FFF2-40B4-BE49-F238E27FC236}">
                <a16:creationId xmlns:a16="http://schemas.microsoft.com/office/drawing/2014/main" id="{C77F4ECB-8EB7-4FF1-B5E8-DB22D7A0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82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13 / 13</a:t>
            </a:r>
          </a:p>
        </p:txBody>
      </p:sp>
      <p:sp>
        <p:nvSpPr>
          <p:cNvPr id="13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87080E5C-B5EC-4226-A2A5-67F4997A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623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hash links valid</a:t>
            </a:r>
          </a:p>
        </p:txBody>
      </p:sp>
      <p:sp>
        <p:nvSpPr>
          <p:cNvPr id="14" name="metric-rule-3">
            <a:extLst xmlns:a="http://schemas.openxmlformats.org/drawingml/2006/main">
              <a:ext uri="{FF2B5EF4-FFF2-40B4-BE49-F238E27FC236}">
                <a16:creationId xmlns:a16="http://schemas.microsoft.com/office/drawing/2014/main" id="{51DE82E6-0ED8-4202-A8F2-031946C2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29100"/>
            <a:ext cx="224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tency">
            <a:extLst xmlns:a="http://schemas.openxmlformats.org/drawingml/2006/main">
              <a:ext uri="{FF2B5EF4-FFF2-40B4-BE49-F238E27FC236}">
                <a16:creationId xmlns:a16="http://schemas.microsoft.com/office/drawing/2014/main" id="{66C47376-2205-4195-AFB8-8F5FBFF6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466 BACKEND TESTS   /   14 BROWSER JOURNEYS   /   0 HIGH-SEVERITY NPM VULNERABILITIES</a:t>
            </a:r>
          </a:p>
        </p:txBody>
      </p:sp>
      <p:sp>
        <p:nvSpPr>
          <p:cNvPr id="16" name="qualifier">
            <a:extLst xmlns:a="http://schemas.openxmlformats.org/drawingml/2006/main">
              <a:ext uri="{FF2B5EF4-FFF2-40B4-BE49-F238E27FC236}">
                <a16:creationId xmlns:a16="http://schemas.microsoft.com/office/drawing/2014/main" id="{88896892-5E8C-43E1-92D9-25C08ADD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MYB-2026-000028 · COMMUNICATED · PASS · POSTED · BALANCED</a:t>
            </a:r>
          </a:p>
        </p:txBody>
      </p:sp>
    </p:spTree>
    <p:extLst>
      <p:ext uri="{BB962C8B-B14F-4D97-AF65-F5344CB8AC3E}">
        <p14:creationId xmlns:p14="http://schemas.microsoft.com/office/powerpoint/2010/main" val="374808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6E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613ab250442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alue-paper">
            <a:extLst xmlns:a="http://schemas.openxmlformats.org/drawingml/2006/main">
              <a:ext uri="{FF2B5EF4-FFF2-40B4-BE49-F238E27FC236}">
                <a16:creationId xmlns:a16="http://schemas.microsoft.com/office/drawing/2014/main" id="{58E2295B-FD69-422B-BA99-F0B4572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"/>
            <a:ext cx="51435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3"/>
          </a:solidFill>
          <a:ln xmlns:a="http://schemas.openxmlformats.org/drawingml/2006/main" w="9525">
            <a:solidFill>
              <a:srgbClr val="0B0F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956488B-96CD-4BD3-A3E0-0717302D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85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CONTROLLED VALUE / FIRST ROLLOUT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1C8799-2D10-42A9-AD0B-3BF09555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62050"/>
            <a:ext cx="4191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300" b="1">
                <a:solidFill>
                  <a:srgbClr val="0B0F0C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0B0F0C"/>
                </a:solidFill>
                <a:latin typeface="Avenir Next"/>
                <a:ea typeface="Avenir Next"/>
                <a:cs typeface="Avenir Next"/>
              </a:rPr>
              <a:t>Start where 57% of dispute volume already sits.</a:t>
            </a:r>
          </a:p>
        </p:txBody>
      </p:sp>
      <p:sp>
        <p:nvSpPr>
          <p:cNvPr id="5" name="mix">
            <a:extLst xmlns:a="http://schemas.openxmlformats.org/drawingml/2006/main">
              <a:ext uri="{FF2B5EF4-FFF2-40B4-BE49-F238E27FC236}">
                <a16:creationId xmlns:a16="http://schemas.microsoft.com/office/drawing/2014/main" id="{EFB88010-16D1-4D87-AF0B-9A69CCF3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35% unauthorised transactions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+ 22% billing errors</a:t>
            </a:r>
          </a:p>
        </p:txBody>
      </p:sp>
      <p:sp>
        <p:nvSpPr>
          <p:cNvPr id="6" name="target">
            <a:extLst xmlns:a="http://schemas.openxmlformats.org/drawingml/2006/main">
              <a:ext uri="{FF2B5EF4-FFF2-40B4-BE49-F238E27FC236}">
                <a16:creationId xmlns:a16="http://schemas.microsoft.com/office/drawing/2014/main" id="{6766CA51-EF38-405A-A098-D98B2853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3164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31644D"/>
                </a:solidFill>
                <a:latin typeface="Avenir Next"/>
                <a:ea typeface="Avenir Next"/>
                <a:cs typeface="Avenir Next"/>
              </a:rPr>
              <a:t>DEMO CASE · 90 MIN → 24.59 SEC</a:t>
            </a:r>
          </a:p>
        </p:txBody>
      </p:sp>
      <p:sp>
        <p:nvSpPr>
          <p:cNvPr id="7" name="rollout">
            <a:extLst xmlns:a="http://schemas.openxmlformats.org/drawingml/2006/main">
              <a:ext uri="{FF2B5EF4-FFF2-40B4-BE49-F238E27FC236}">
                <a16:creationId xmlns:a16="http://schemas.microsoft.com/office/drawing/2014/main" id="{D7B90C4D-EEAD-4DFE-BC90-AACCF0B9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673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F6D64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5F6D64"/>
                </a:solidFill>
                <a:latin typeface="Avenir Next"/>
                <a:ea typeface="Avenir Next"/>
                <a:cs typeface="Avenir Next"/>
              </a:rPr>
              <a:t>SHADOW MODE → COMPLIANCE SIGN-OFF → THRESHOLDED POSTING</a:t>
            </a:r>
          </a:p>
        </p:txBody>
      </p:sp>
    </p:spTree>
    <p:extLst>
      <p:ext uri="{BB962C8B-B14F-4D97-AF65-F5344CB8AC3E}">
        <p14:creationId xmlns:p14="http://schemas.microsoft.com/office/powerpoint/2010/main" val="18740080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6ED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ft-panel">
            <a:extLst xmlns:a="http://schemas.openxmlformats.org/drawingml/2006/main">
              <a:ext uri="{FF2B5EF4-FFF2-40B4-BE49-F238E27FC236}">
                <a16:creationId xmlns:a16="http://schemas.microsoft.com/office/drawing/2014/main" id="{60F12690-F1B7-46BE-98D2-4BF4F3CA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81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ttings-ground">
            <a:extLst xmlns:a="http://schemas.openxmlformats.org/drawingml/2006/main">
              <a:ext uri="{FF2B5EF4-FFF2-40B4-BE49-F238E27FC236}">
                <a16:creationId xmlns:a16="http://schemas.microsoft.com/office/drawing/2014/main" id="{B862052B-997D-4AC5-9D09-B8A41A22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0"/>
            <a:ext cx="6210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0ace9c67c4823"/>
          <a:stretch xmlns:a="http://schemas.openxmlformats.org/drawingml/2006/main"/>
        </p:blipFill>
        <p:spPr>
          <a:xfrm xmlns:a="http://schemas.openxmlformats.org/drawingml/2006/main">
            <a:off x="6248400" y="1401536"/>
            <a:ext cx="5676900" cy="4054929"/>
          </a:xfrm>
          <a:prstGeom xmlns:a="http://schemas.openxmlformats.org/drawingml/2006/main" prst="rect">
            <a:avLst/>
          </a:prstGeom>
        </p:spPr>
      </p:pic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F11728B-3BA6-4989-878B-009A357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BANK STAKEHOLDER HANDOFF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D6AEB6-AA8B-440B-96CF-EB055FC2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The system is live.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Your inputs make it bank-ready.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56C9EAF2-4CCF-4F72-8D66-37C6567A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Connect the controlled boundaries:</a:t>
            </a:r>
          </a:p>
        </p:txBody>
      </p:sp>
      <p:sp>
        <p:nvSpPr>
          <p:cNvPr id="7" name="needs">
            <a:extLst xmlns:a="http://schemas.openxmlformats.org/drawingml/2006/main">
              <a:ext uri="{FF2B5EF4-FFF2-40B4-BE49-F238E27FC236}">
                <a16:creationId xmlns:a16="http://schemas.microsoft.com/office/drawing/2014/main" id="{597916C8-FD6C-4843-9628-69FB639C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01  CORE + CRM ENDPOINTS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02  MAILBOX + SEND AUTHORITY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03  COMPLIANCE PACK + THRESHOLDS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04  ADMIN USERS + SLA WORKER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5BBFD7B1-2746-4D75-A7BB-BEF0E7E4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url">
            <a:extLst xmlns:a="http://schemas.openxmlformats.org/drawingml/2006/main">
              <a:ext uri="{FF2B5EF4-FFF2-40B4-BE49-F238E27FC236}">
                <a16:creationId xmlns:a16="http://schemas.microsoft.com/office/drawing/2014/main" id="{3B70FE6D-B4CD-4EA9-8F66-90DB1C56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F7FAF7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7FAF7"/>
                </a:solidFill>
                <a:latin typeface="Avenir Next"/>
                <a:ea typeface="Avenir Next"/>
                <a:cs typeface="Avenir Next"/>
              </a:rPr>
              <a:t>casezero-alpha.vercel.app</a:t>
            </a:r>
          </a:p>
        </p:txBody>
      </p:sp>
      <p:sp>
        <p:nvSpPr>
          <p:cNvPr id="10" name="close">
            <a:extLst xmlns:a="http://schemas.openxmlformats.org/drawingml/2006/main">
              <a:ext uri="{FF2B5EF4-FFF2-40B4-BE49-F238E27FC236}">
                <a16:creationId xmlns:a16="http://schemas.microsoft.com/office/drawing/2014/main" id="{4258DD78-B684-47A8-8122-B3A7377C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055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75" b="1">
                <a:solidFill>
                  <a:srgbClr val="A8C7B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8C7B7"/>
                </a:solidFill>
                <a:latin typeface="Avenir Next"/>
                <a:ea typeface="Avenir Next"/>
                <a:cs typeface="Avenir Next"/>
              </a:rPr>
              <a:t>AXIOM / CASE STUDY 1 / SAFE INPUT · PRODUCTION BEHAVIOR</a:t>
            </a:r>
          </a:p>
        </p:txBody>
      </p:sp>
    </p:spTree>
    <p:extLst>
      <p:ext uri="{BB962C8B-B14F-4D97-AF65-F5344CB8AC3E}">
        <p14:creationId xmlns:p14="http://schemas.microsoft.com/office/powerpoint/2010/main" val="1197388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0" dist="102587" dir="4091915">
              <a:srgbClr val="0B0F0C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2026-08-04T07:12:51.5640000Z</dcterms:created>
  <dcterms:modified xsi:type="dcterms:W3CDTF">2026-08-04T07:12:51.5640000Z</dcterms:modified>
</coreProperties>
</file>