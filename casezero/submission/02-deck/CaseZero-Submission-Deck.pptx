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d1661699934569" /><Relationship Type="http://schemas.openxmlformats.org/officeDocument/2006/relationships/extended-properties" Target="/docProps/app.xml" Id="R930a47bf5ec3425d" /><Relationship Type="http://schemas.openxmlformats.org/officeDocument/2006/relationships/officeDocument" Target="/ppt/presentation.xml" Id="R87382bd2a6254ba8" /></Relationships>
</file>

<file path=ppt/presentation.xml><?xml version="1.0" encoding="utf-8"?>
<p:presentation xmlns:p="http://schemas.openxmlformats.org/presentationml/2006/main">
  <p:sldMasterIdLst>
    <p:sldMasterId xmlns:r="http://schemas.openxmlformats.org/officeDocument/2006/relationships" id="2147483648" r:id="Re271de50d89f42da"/>
  </p:sldMasterIdLst>
  <p:notesMasterIdLst>
    <p:notesMasterId xmlns:r="http://schemas.openxmlformats.org/officeDocument/2006/relationships" r:id="Rb97c9d49a6ee44f8"/>
  </p:notesMasterIdLst>
  <p:sldIdLst>
    <p:sldId xmlns:r="http://schemas.openxmlformats.org/officeDocument/2006/relationships" id="256" r:id="R160a9c835a1a4a8e"/>
    <p:sldId xmlns:r="http://schemas.openxmlformats.org/officeDocument/2006/relationships" id="257" r:id="R381258f0bce247b9"/>
    <p:sldId xmlns:r="http://schemas.openxmlformats.org/officeDocument/2006/relationships" id="258" r:id="R5f4d3e0b50014f2a"/>
    <p:sldId xmlns:r="http://schemas.openxmlformats.org/officeDocument/2006/relationships" id="259" r:id="R923327cd3dca4cb0"/>
    <p:sldId xmlns:r="http://schemas.openxmlformats.org/officeDocument/2006/relationships" id="260" r:id="R9b242eb9b0b14009"/>
    <p:sldId xmlns:r="http://schemas.openxmlformats.org/officeDocument/2006/relationships" id="261" r:id="R6160e2cb32b242e4"/>
    <p:sldId xmlns:r="http://schemas.openxmlformats.org/officeDocument/2006/relationships" id="262" r:id="R52fbbdb360e14764"/>
    <p:sldId xmlns:r="http://schemas.openxmlformats.org/officeDocument/2006/relationships" id="263" r:id="R9ff6a541d3b44882"/>
    <p:sldId xmlns:r="http://schemas.openxmlformats.org/officeDocument/2006/relationships" id="264" r:id="R17c2a23cd21c44df"/>
    <p:sldId xmlns:r="http://schemas.openxmlformats.org/officeDocument/2006/relationships" id="265" r:id="R6dadb490b38c4e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8d4934ec3e4135" /><Relationship Type="http://schemas.openxmlformats.org/officeDocument/2006/relationships/slideMaster" Target="/ppt/slideMasters/slideMaster1.xml" Id="Re271de50d89f42da" /><Relationship Type="http://schemas.openxmlformats.org/officeDocument/2006/relationships/notesMaster" Target="/ppt/notesMasters/notesMaster1.xml" Id="Rb97c9d49a6ee44f8" /><Relationship Type="http://schemas.openxmlformats.org/officeDocument/2006/relationships/presProps" Target="/ppt/presProps.xml" Id="Rb48c18b80eff423f" /><Relationship Type="http://schemas.openxmlformats.org/officeDocument/2006/relationships/tableStyles" Target="/ppt/tableStyles.xml" Id="R1164f0c6ed0f4d27" /><Relationship Type="http://schemas.openxmlformats.org/officeDocument/2006/relationships/slide" Target="/ppt/slides/slide1.xml" Id="R160a9c835a1a4a8e" /><Relationship Type="http://schemas.openxmlformats.org/officeDocument/2006/relationships/slide" Target="/ppt/slides/slide2.xml" Id="R381258f0bce247b9" /><Relationship Type="http://schemas.openxmlformats.org/officeDocument/2006/relationships/slide" Target="/ppt/slides/slide3.xml" Id="R5f4d3e0b50014f2a" /><Relationship Type="http://schemas.openxmlformats.org/officeDocument/2006/relationships/slide" Target="/ppt/slides/slide4.xml" Id="R923327cd3dca4cb0" /><Relationship Type="http://schemas.openxmlformats.org/officeDocument/2006/relationships/slide" Target="/ppt/slides/slide5.xml" Id="R9b242eb9b0b14009" /><Relationship Type="http://schemas.openxmlformats.org/officeDocument/2006/relationships/slide" Target="/ppt/slides/slide6.xml" Id="R6160e2cb32b242e4" /><Relationship Type="http://schemas.openxmlformats.org/officeDocument/2006/relationships/slide" Target="/ppt/slides/slide7.xml" Id="R52fbbdb360e14764" /><Relationship Type="http://schemas.openxmlformats.org/officeDocument/2006/relationships/slide" Target="/ppt/slides/slide8.xml" Id="R9ff6a541d3b44882" /><Relationship Type="http://schemas.openxmlformats.org/officeDocument/2006/relationships/slide" Target="/ppt/slides/slide9.xml" Id="R17c2a23cd21c44df" /><Relationship Type="http://schemas.openxmlformats.org/officeDocument/2006/relationships/slide" Target="/ppt/slides/slide10.xml" Id="R6dadb490b38c4e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2cb446a35c4c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e2864d525e40db" /><Relationship Type="http://schemas.openxmlformats.org/officeDocument/2006/relationships/notesMaster" Target="/ppt/notesMasters/notesMaster1.xml" Id="R908d79acc4ff40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c7bf2363ae45f9" /><Relationship Type="http://schemas.openxmlformats.org/officeDocument/2006/relationships/notesMaster" Target="/ppt/notesMasters/notesMaster1.xml" Id="R914f66cfe8be4b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c6ce784fb14f63" /><Relationship Type="http://schemas.openxmlformats.org/officeDocument/2006/relationships/notesMaster" Target="/ppt/notesMasters/notesMaster1.xml" Id="R609c191ff0fb4a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6c9499e54b4775" /><Relationship Type="http://schemas.openxmlformats.org/officeDocument/2006/relationships/notesMaster" Target="/ppt/notesMasters/notesMaster1.xml" Id="R0e0ed284dd5c4e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716cf96d1a4aa3" /><Relationship Type="http://schemas.openxmlformats.org/officeDocument/2006/relationships/notesMaster" Target="/ppt/notesMasters/notesMaster1.xml" Id="R94bca1a4762e4a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f92004485f41e3" /><Relationship Type="http://schemas.openxmlformats.org/officeDocument/2006/relationships/notesMaster" Target="/ppt/notesMasters/notesMaster1.xml" Id="Re0d207de59ef47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3ccdf9e6644642" /><Relationship Type="http://schemas.openxmlformats.org/officeDocument/2006/relationships/notesMaster" Target="/ppt/notesMasters/notesMaster1.xml" Id="R5dbe38e373054e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06d456f42e497f" /><Relationship Type="http://schemas.openxmlformats.org/officeDocument/2006/relationships/notesMaster" Target="/ppt/notesMasters/notesMaster1.xml" Id="Rf0bd553c145545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08f84810544c2d" /><Relationship Type="http://schemas.openxmlformats.org/officeDocument/2006/relationships/notesMaster" Target="/ppt/notesMasters/notesMaster1.xml" Id="Rd249665afbd842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a497252bcd408a" /><Relationship Type="http://schemas.openxmlformats.org/officeDocument/2006/relationships/notesMaster" Target="/ppt/notesMasters/notesMaster1.xml" Id="Rf24f7275751e4b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0:00-0:25</a:t>
            </a:r>
          </a:p>
          <a:p xmlns:a="http://schemas.openxmlformats.org/drawingml/2006/main">
            <a:r>
              <a:t>Open by stating the chosen challenge exactly. CaseZero is a governed banking-dispute operating system for a five-person, non-technical complaints team. The promise is simple: one complaint can reach a verified, compliant outcome in minutes without giving a model authority over money.</a:t>
            </a:r>
          </a:p>
          <a:p xmlns:a="http://schemas.openxmlformats.org/drawingml/2006/main">
            <a:r>
              <a:t>[Sources]</a:t>
            </a:r>
          </a:p>
          <a:p xmlns:a="http://schemas.openxmlformats.org/drawingml/2006/main">
            <a:r>
              <a:t>- Tencent Cloud x UTM Hackathon Handbook, AI Agent Track, Case Study 1.</a:t>
            </a:r>
          </a:p>
          <a:p xmlns:a="http://schemas.openxmlformats.org/drawingml/2006/main">
            <a:r>
              <a:t>- OpenAI-generated hero artwork saved in submission/assets/generated/casezero-hero.png.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0:25-1:05</a:t>
            </a:r>
          </a:p>
          <a:p xmlns:a="http://schemas.openxmlformats.org/drawingml/2006/main">
            <a:r>
              <a:t>The bank serves 1.8 million customers, yet each dispute takes about 90 minutes across multiple departments and eleven percent of deadlines are missed. The challenge is not to add another chatbot. It is to compress investigation, verification, financial resolution and customer communication while preserving five-to-twenty-working-day regulation.</a:t>
            </a:r>
          </a:p>
          <a:p xmlns:a="http://schemas.openxmlformats.org/drawingml/2006/main">
            <a:r>
              <a:t>[Sources]</a:t>
            </a:r>
          </a:p>
          <a:p xmlns:a="http://schemas.openxmlformats.org/drawingml/2006/main">
            <a:r>
              <a:t>- Tencent Cloud x UTM Hackathon Handbook, Case Study 1 introduction and challenge.</a:t>
            </a:r>
          </a:p>
          <a:p xmlns:a="http://schemas.openxmlformats.org/drawingml/2006/main">
            <a:r>
              <a:t>- OpenAI-generated transformation artwork saved in submission/assets/generated/90-to-5-transformation.png.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1:05-1:45</a:t>
            </a:r>
          </a:p>
          <a:p xmlns:a="http://schemas.openxmlformats.org/drawingml/2006/main">
            <a:r>
              <a:t>CaseZero turns a raw email and PDF into one continuous case. Intake protects and extracts it. Verification checks bank and CRM evidence. Resolution can post only after a deterministic gate. Communication inserts mandatory disclosures by code. The operator sees the same story in a first-shift guide rather than learning an engineering pipeline.</a:t>
            </a:r>
          </a:p>
          <a:p xmlns:a="http://schemas.openxmlformats.org/drawingml/2006/main">
            <a:r>
              <a:t>[Sources]</a:t>
            </a:r>
          </a:p>
          <a:p xmlns:a="http://schemas.openxmlformats.org/drawingml/2006/main">
            <a:r>
              <a:t>- CaseZero production interface screenshot, submission/assets/ui/01-home.png.</a:t>
            </a:r>
          </a:p>
          <a:p xmlns:a="http://schemas.openxmlformats.org/drawingml/2006/main">
            <a:r>
              <a:t>- CaseZero README and API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1:45-2:25</a:t>
            </a:r>
          </a:p>
          <a:p xmlns:a="http://schemas.openxmlformats.org/drawingml/2006/main">
            <a:r>
              <a:t>The innovation is the boundary between intelligence and authority. Six agents handle intake, classification, evidence, resolution, communication and SLA supervision in parallel. They return typed proposals. Axiom lets a business operator ask for work in natural language, but shows the capability, authority, effect and gates before execution. The deterministic kernel owns every financial and compliance decision.</a:t>
            </a:r>
          </a:p>
          <a:p xmlns:a="http://schemas.openxmlformats.org/drawingml/2006/main">
            <a:r>
              <a:t>[Sources]</a:t>
            </a:r>
          </a:p>
          <a:p xmlns:a="http://schemas.openxmlformats.org/drawingml/2006/main">
            <a:r>
              <a:t>- CaseZero api/agents and api/kernel implementation.</a:t>
            </a:r>
          </a:p>
          <a:p xmlns:a="http://schemas.openxmlformats.org/drawingml/2006/main">
            <a:r>
              <a:t>- OpenAI-generated agent artwork saved in submission/assets/generated/six-agents-one-kernel.png.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2:25-3:05</a:t>
            </a:r>
          </a:p>
          <a:p xmlns:a="http://schemas.openxmlformats.org/drawingml/2006/main">
            <a:r>
              <a:t>Here is the control argument. Core banking and CRM are real MCP tool boundaries. A PASS result is necessary but not sufficient: the kernel also mints a signed ticket bound to the case, action, amount and expiry. The server rejects forged or stretched tickets. A posting must balance double entry. Every event extends one chain, and the audit screen names the exact sequence if a privileged row is altered.</a:t>
            </a:r>
          </a:p>
          <a:p xmlns:a="http://schemas.openxmlformats.org/drawingml/2006/main">
            <a:r>
              <a:t>[Sources]</a:t>
            </a:r>
          </a:p>
          <a:p xmlns:a="http://schemas.openxmlformats.org/drawingml/2006/main">
            <a:r>
              <a:t>- CaseZero MCP smoke, agent smoke and database integrity outputs.</a:t>
            </a:r>
          </a:p>
          <a:p xmlns:a="http://schemas.openxmlformats.org/drawingml/2006/main">
            <a:r>
              <a:t>- CaseZero audit screenshot, submission/assets/ui/05-audit-proof.png.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3:05-3:45</a:t>
            </a:r>
          </a:p>
          <a:p xmlns:a="http://schemas.openxmlformats.org/drawingml/2006/main">
            <a:r>
              <a:t>The demo should pause here. The operator asks for cases at SLA risk. Axiom does not instantly claim success. It displays the selected capability, the required role, whether anything changes, and the controls still in force. Read-only work can complete immediately. Invitations and settings changes require an eligible role, explicit confirmation, server-side re-planning and a receipt.</a:t>
            </a:r>
          </a:p>
          <a:p xmlns:a="http://schemas.openxmlformats.org/drawingml/2006/main">
            <a:r>
              <a:t>[Sources]</a:t>
            </a:r>
          </a:p>
          <a:p xmlns:a="http://schemas.openxmlformats.org/drawingml/2006/main">
            <a:r>
              <a:t>- CaseZero Axiom production interface screenshot, submission/assets/ui/03-axiom.png.</a:t>
            </a:r>
          </a:p>
          <a:p xmlns:a="http://schemas.openxmlformats.org/drawingml/2006/main">
            <a:r>
              <a:t>- CaseZero api/agents/wajar.py capability planner; legacy filename retained for migration compatibility.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3:45-4:20</a:t>
            </a:r>
          </a:p>
          <a:p xmlns:a="http://schemas.openxmlformats.org/drawingml/2006/main">
            <a:r>
              <a:t>The customer gets a calm, current record rather than the internal pipeline. This proactive example identifies a transaction, opens a pre-filled dispute and returns RM2,450 only after PASS verification. The tracker explains what happened in plain language and preserves the FMOS right to refer an eligible dissatisfied claim within six months.</a:t>
            </a:r>
          </a:p>
          <a:p xmlns:a="http://schemas.openxmlformats.org/drawingml/2006/main">
            <a:r>
              <a:t>[Sources]</a:t>
            </a:r>
          </a:p>
          <a:p xmlns:a="http://schemas.openxmlformats.org/drawingml/2006/main">
            <a:r>
              <a:t>- Tencent Cloud x UTM Hackathon Handbook, compliant customer communication requirement.</a:t>
            </a:r>
          </a:p>
          <a:p xmlns:a="http://schemas.openxmlformats.org/drawingml/2006/main">
            <a:r>
              <a:t>- CaseZero customer outcome screenshot, submission/assets/ui/06-customer-outcome-crop.png.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4:20-5:00</a:t>
            </a:r>
          </a:p>
          <a:p xmlns:a="http://schemas.openxmlformats.org/drawingml/2006/main">
            <a:r>
              <a:t>The latest persisted production-model run classified 95.90 percent of the clean cases, assigned urgency at 98.97 percent and blocked all five injection attacks with zero clean false positives. Median model latency was 2.616 seconds and measured model cost was about one-tenth of a sen per case. The release now has 465 backend tests, eleven browser journeys and no npm vulnerabilities.</a:t>
            </a:r>
          </a:p>
          <a:p xmlns:a="http://schemas.openxmlformats.org/drawingml/2006/main">
            <a:r>
              <a:t>[Sources]</a:t>
            </a:r>
          </a:p>
          <a:p xmlns:a="http://schemas.openxmlformats.org/drawingml/2006/main">
            <a:r>
              <a:t>- CaseZero evals/latest.json and SUBMISSION.md measured results.</a:t>
            </a:r>
          </a:p>
          <a:p xmlns:a="http://schemas.openxmlformats.org/drawingml/2006/main">
            <a:r>
              <a:t>- CaseZero 4 August 2026 release test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5:00-5:40</a:t>
            </a:r>
          </a:p>
          <a:p xmlns:a="http://schemas.openxmlformats.org/drawingml/2006/main">
            <a:r>
              <a:t>Commercial rollout starts with unauthorised transactions and billing errors, which together represent fifty-seven percent of the stated mix. We do not switch on every automation. The bank begins in shadow mode, validates evidence and letters, receives Compliance sign-off, and then enables thresholded automation with the kill switch visible in Settings. The stretch target is under five minutes instead of ninety.</a:t>
            </a:r>
          </a:p>
          <a:p xmlns:a="http://schemas.openxmlformats.org/drawingml/2006/main">
            <a:r>
              <a:t>[Sources]</a:t>
            </a:r>
          </a:p>
          <a:p xmlns:a="http://schemas.openxmlformats.org/drawingml/2006/main">
            <a:r>
              <a:t>- Tencent Cloud x UTM Hackathon Handbook, Case Study 1 category mix and stretch target.</a:t>
            </a:r>
          </a:p>
          <a:p xmlns:a="http://schemas.openxmlformats.org/drawingml/2006/main">
            <a:r>
              <a:t>- CaseZero rollout plan and OpenAI-generated transformation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5:40-6:20 + 20s reflection</a:t>
            </a:r>
          </a:p>
          <a:p xmlns:a="http://schemas.openxmlformats.org/drawingml/2006/main">
            <a:r>
              <a:t>CaseZero is live now for stakeholder onboarding, safe rehearsal and a synthetic-data pilot. A real bank rollout needs four controlled handoffs: core and CRM credentials, the complaints mailbox, Compliance sign-off, and the first Admin identity. Our build lesson is to let CodeBuddy accelerate implementation while tests and deterministic gates remain the authority. The public link is on screen. Close by inviting the judges to run the safe rehearsal.</a:t>
            </a:r>
          </a:p>
          <a:p xmlns:a="http://schemas.openxmlformats.org/drawingml/2006/main">
            <a:r>
              <a:t>[Sources]</a:t>
            </a:r>
          </a:p>
          <a:p xmlns:a="http://schemas.openxmlformats.org/drawingml/2006/main">
            <a:r>
              <a:t>- CaseZero production deployment and Control Register screenshot.</a:t>
            </a:r>
          </a:p>
          <a:p xmlns:a="http://schemas.openxmlformats.org/drawingml/2006/main">
            <a:r>
              <a:t>- Tencent Cloud x UTM Hackathon Handbook, demo-video reflection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0b9c70b98b4a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4b758ba4c9473b" /><Relationship Type="http://schemas.openxmlformats.org/officeDocument/2006/relationships/slideLayout" Target="/ppt/slideLayouts/slideLayout1.xml" Id="Ra89f4c266de445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9f4c266de445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927cffb8794360" /><Relationship Type="http://schemas.openxmlformats.org/officeDocument/2006/relationships/image" Target="/ppt/media/image.png" Id="Rdb4d31dbd33d4a98" /><Relationship Type="http://schemas.openxmlformats.org/officeDocument/2006/relationships/notesSlide" Target="/ppt/notesSlides/notesSlide1.xml" Id="R4726d6d0e78c47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18da9d54a541cf" /><Relationship Type="http://schemas.openxmlformats.org/officeDocument/2006/relationships/image" Target="/ppt/media/image2.png" Id="R5351ef041c04460c" /><Relationship Type="http://schemas.openxmlformats.org/officeDocument/2006/relationships/notesSlide" Target="/ppt/notesSlides/notesSlide2.xml" Id="Rd24de30ccefa4a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fa5037890142dc" /><Relationship Type="http://schemas.openxmlformats.org/officeDocument/2006/relationships/image" Target="/ppt/media/image3.png" Id="Rdf542324a1cd416f" /><Relationship Type="http://schemas.openxmlformats.org/officeDocument/2006/relationships/notesSlide" Target="/ppt/notesSlides/notesSlide3.xml" Id="R7583818dede447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4efc4aebc44488" /><Relationship Type="http://schemas.openxmlformats.org/officeDocument/2006/relationships/image" Target="/ppt/media/image4.png" Id="R13af62a213464a63" /><Relationship Type="http://schemas.openxmlformats.org/officeDocument/2006/relationships/notesSlide" Target="/ppt/notesSlides/notesSlide4.xml" Id="Rd02983bf77a747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edf54c09844a69" /><Relationship Type="http://schemas.openxmlformats.org/officeDocument/2006/relationships/image" Target="/ppt/media/image5.png" Id="R660fa84cb7914350" /><Relationship Type="http://schemas.openxmlformats.org/officeDocument/2006/relationships/notesSlide" Target="/ppt/notesSlides/notesSlide5.xml" Id="R99e44763975a4e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63d4d3766f4886" /><Relationship Type="http://schemas.openxmlformats.org/officeDocument/2006/relationships/image" Target="/ppt/media/image6.png" Id="R515e8d2bbe144236" /><Relationship Type="http://schemas.openxmlformats.org/officeDocument/2006/relationships/notesSlide" Target="/ppt/notesSlides/notesSlide6.xml" Id="R2fd262a221284a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e40a5933a84e5e" /><Relationship Type="http://schemas.openxmlformats.org/officeDocument/2006/relationships/image" Target="/ppt/media/image7.png" Id="R4fc5855fe16c4bbe" /><Relationship Type="http://schemas.openxmlformats.org/officeDocument/2006/relationships/notesSlide" Target="/ppt/notesSlides/notesSlide7.xml" Id="R4ac74da9686a4e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6f70232f9f45bb" /><Relationship Type="http://schemas.openxmlformats.org/officeDocument/2006/relationships/notesSlide" Target="/ppt/notesSlides/notesSlide8.xml" Id="Rfb48b06097e341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0e704763114084" /><Relationship Type="http://schemas.openxmlformats.org/officeDocument/2006/relationships/image" Target="/ppt/media/image8.png" Id="Rda52b17ae6bf4f35" /><Relationship Type="http://schemas.openxmlformats.org/officeDocument/2006/relationships/notesSlide" Target="/ppt/notesSlides/notesSlide9.xml" Id="Rf4aa428b796b48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d8b88a61734d77" /><Relationship Type="http://schemas.openxmlformats.org/officeDocument/2006/relationships/image" Target="/ppt/media/image9.png" Id="R8c2a4747f47747ea" /><Relationship Type="http://schemas.openxmlformats.org/officeDocument/2006/relationships/notesSlide" Target="/ppt/notesSlides/notesSlide10.xml" Id="Rc0c0b8593a1e45df" /></Relationships>
</file>

<file path=ppt/slides/slide1.xml><?xml version="1.0" encoding="utf-8"?>
<p:sld xmlns:p="http://schemas.openxmlformats.org/presentationml/2006/main">
  <p:cSld>
    <p:bg>
      <p:bgPr>
        <a:solidFill xmlns:a="http://schemas.openxmlformats.org/drawingml/2006/main">
          <a:srgbClr val="0B0F0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b4d31dbd33d4a9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ground">
            <a:extLst xmlns:a="http://schemas.openxmlformats.org/drawingml/2006/main">
              <a:ext uri="{FF2B5EF4-FFF2-40B4-BE49-F238E27FC236}">
                <a16:creationId xmlns:a16="http://schemas.microsoft.com/office/drawing/2014/main" id="{E556B358-C0D7-43B6-857C-F4A71FE45BDE}"/>
              </a:ext>
            </a:extLst>
          </p:cNvPr>
          <p:cNvSpPr>
            <a:spLocks xmlns:a="http://schemas.openxmlformats.org/drawingml/2006/main" noGrp="1"/>
          </p:cNvSpPr>
          <p:nvPr/>
        </p:nvSpPr>
        <p:spPr>
          <a:xfrm xmlns:a="http://schemas.openxmlformats.org/drawingml/2006/main">
            <a:off x="457200" y="419100"/>
            <a:ext cx="5334000" cy="4171950"/>
          </a:xfrm>
          <a:prstGeom xmlns:a="http://schemas.openxmlformats.org/drawingml/2006/main" prst="rect">
            <a:avLst/>
          </a:prstGeom>
          <a:solidFill xmlns:a="http://schemas.openxmlformats.org/drawingml/2006/main">
            <a:srgbClr val="0B0F0C"/>
          </a:solidFill>
          <a:ln xmlns:a="http://schemas.openxmlformats.org/drawingml/2006/main" w="0">
            <a:solidFill>
              <a:srgbClr val="0B0F0C"/>
            </a:solidFill>
            <a:prstDash val="solid"/>
          </a:ln>
        </p:spPr>
      </p:sp>
      <p:sp>
        <p:nvSpPr>
          <p:cNvPr id="3" name="case-study">
            <a:extLst xmlns:a="http://schemas.openxmlformats.org/drawingml/2006/main">
              <a:ext uri="{FF2B5EF4-FFF2-40B4-BE49-F238E27FC236}">
                <a16:creationId xmlns:a16="http://schemas.microsoft.com/office/drawing/2014/main" id="{ABC7D019-972F-4D64-AABF-AA86A4F06AF5}"/>
              </a:ext>
            </a:extLst>
          </p:cNvPr>
          <p:cNvSpPr>
            <a:spLocks xmlns:a="http://schemas.openxmlformats.org/drawingml/2006/main" noGrp="1"/>
          </p:cNvSpPr>
          <p:nvPr/>
        </p:nvSpPr>
        <p:spPr>
          <a:xfrm xmlns:a="http://schemas.openxmlformats.org/drawingml/2006/main">
            <a:off x="723900" y="6858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A8BFB0"/>
                </a:solidFill>
              </a:defRPr>
            </a:pPr>
            <a:r>
              <a:rPr sz="975" b="1">
                <a:solidFill>
                  <a:srgbClr val="A8BFB0"/>
                </a:solidFill>
              </a:rPr>
              <a:t>AI AGENT TRACK / CASE STUDY 1</a:t>
            </a:r>
          </a:p>
        </p:txBody>
      </p:sp>
      <p:sp>
        <p:nvSpPr>
          <p:cNvPr id="4" name="title">
            <a:extLst xmlns:a="http://schemas.openxmlformats.org/drawingml/2006/main">
              <a:ext uri="{FF2B5EF4-FFF2-40B4-BE49-F238E27FC236}">
                <a16:creationId xmlns:a16="http://schemas.microsoft.com/office/drawing/2014/main" id="{0FE5CE8B-2C11-4CC8-8D74-4E5598BA0561}"/>
              </a:ext>
            </a:extLst>
          </p:cNvPr>
          <p:cNvSpPr>
            <a:spLocks xmlns:a="http://schemas.openxmlformats.org/drawingml/2006/main" noGrp="1"/>
          </p:cNvSpPr>
          <p:nvPr/>
        </p:nvSpPr>
        <p:spPr>
          <a:xfrm xmlns:a="http://schemas.openxmlformats.org/drawingml/2006/main">
            <a:off x="666750" y="114300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5700" b="1">
                <a:solidFill>
                  <a:srgbClr val="F7FAF7"/>
                </a:solidFill>
              </a:defRPr>
            </a:pPr>
            <a:r>
              <a:rPr sz="5700" b="1">
                <a:solidFill>
                  <a:srgbClr val="F7FAF7"/>
                </a:solidFill>
              </a:rPr>
              <a:t>CaseZero</a:t>
            </a:r>
          </a:p>
        </p:txBody>
      </p:sp>
      <p:sp>
        <p:nvSpPr>
          <p:cNvPr id="5" name="subtitle">
            <a:extLst xmlns:a="http://schemas.openxmlformats.org/drawingml/2006/main">
              <a:ext uri="{FF2B5EF4-FFF2-40B4-BE49-F238E27FC236}">
                <a16:creationId xmlns:a16="http://schemas.microsoft.com/office/drawing/2014/main" id="{A45BD9D1-04EE-4543-8C4E-9C8CB7557C65}"/>
              </a:ext>
            </a:extLst>
          </p:cNvPr>
          <p:cNvSpPr>
            <a:spLocks xmlns:a="http://schemas.openxmlformats.org/drawingml/2006/main" noGrp="1"/>
          </p:cNvSpPr>
          <p:nvPr/>
        </p:nvSpPr>
        <p:spPr>
          <a:xfrm xmlns:a="http://schemas.openxmlformats.org/drawingml/2006/main">
            <a:off x="723900" y="2333625"/>
            <a:ext cx="4333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250" b="1">
                <a:solidFill>
                  <a:srgbClr val="E4EAE5"/>
                </a:solidFill>
              </a:defRPr>
            </a:pPr>
            <a:r>
              <a:rPr sz="2250" b="1">
                <a:solidFill>
                  <a:srgbClr val="E4EAE5"/>
                </a:solidFill>
              </a:rPr>
              <a:t>Bank disputes resolved in minutes, governed end to end.</a:t>
            </a:r>
          </a:p>
        </p:txBody>
      </p:sp>
      <p:sp>
        <p:nvSpPr>
          <p:cNvPr id="6" name="title-rule">
            <a:extLst xmlns:a="http://schemas.openxmlformats.org/drawingml/2006/main">
              <a:ext uri="{FF2B5EF4-FFF2-40B4-BE49-F238E27FC236}">
                <a16:creationId xmlns:a16="http://schemas.microsoft.com/office/drawing/2014/main" id="{85F9B301-C566-4A20-A828-E0F44A7AB529}"/>
              </a:ext>
            </a:extLst>
          </p:cNvPr>
          <p:cNvSpPr>
            <a:spLocks xmlns:a="http://schemas.openxmlformats.org/drawingml/2006/main" noGrp="1"/>
          </p:cNvSpPr>
          <p:nvPr/>
        </p:nvSpPr>
        <p:spPr>
          <a:xfrm xmlns:a="http://schemas.openxmlformats.org/drawingml/2006/main">
            <a:off x="723900" y="3676650"/>
            <a:ext cx="1219200" cy="38100"/>
          </a:xfrm>
          <a:prstGeom xmlns:a="http://schemas.openxmlformats.org/drawingml/2006/main" prst="rect">
            <a:avLst/>
          </a:prstGeom>
          <a:solidFill xmlns:a="http://schemas.openxmlformats.org/drawingml/2006/main">
            <a:srgbClr val="8B2333"/>
          </a:solidFill>
          <a:ln xmlns:a="http://schemas.openxmlformats.org/drawingml/2006/main" w="0">
            <a:solidFill>
              <a:srgbClr val="8B2333"/>
            </a:solidFill>
            <a:prstDash val="solid"/>
          </a:ln>
        </p:spPr>
      </p:sp>
      <p:sp>
        <p:nvSpPr>
          <p:cNvPr id="7" name="agent">
            <a:extLst xmlns:a="http://schemas.openxmlformats.org/drawingml/2006/main">
              <a:ext uri="{FF2B5EF4-FFF2-40B4-BE49-F238E27FC236}">
                <a16:creationId xmlns:a16="http://schemas.microsoft.com/office/drawing/2014/main" id="{FBCE280E-2294-4D6A-8CE2-6C60BFFBEC5D}"/>
              </a:ext>
            </a:extLst>
          </p:cNvPr>
          <p:cNvSpPr>
            <a:spLocks xmlns:a="http://schemas.openxmlformats.org/drawingml/2006/main" noGrp="1"/>
          </p:cNvSpPr>
          <p:nvPr/>
        </p:nvSpPr>
        <p:spPr>
          <a:xfrm xmlns:a="http://schemas.openxmlformats.org/drawingml/2006/main">
            <a:off x="723900" y="39433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8BFB0"/>
                </a:solidFill>
              </a:defRPr>
            </a:pPr>
            <a:r>
              <a:rPr sz="900" b="1">
                <a:solidFill>
                  <a:srgbClr val="A8BFB0"/>
                </a:solidFill>
              </a:rPr>
              <a:t>AXIOM BY CASEZERO</a:t>
            </a:r>
          </a:p>
        </p:txBody>
      </p:sp>
      <p:sp>
        <p:nvSpPr>
          <p:cNvPr id="8" name="footer">
            <a:extLst xmlns:a="http://schemas.openxmlformats.org/drawingml/2006/main">
              <a:ext uri="{FF2B5EF4-FFF2-40B4-BE49-F238E27FC236}">
                <a16:creationId xmlns:a16="http://schemas.microsoft.com/office/drawing/2014/main" id="{37AFB49E-D0EF-4D79-A9A6-167B7C02984A}"/>
              </a:ext>
            </a:extLst>
          </p:cNvPr>
          <p:cNvSpPr>
            <a:spLocks xmlns:a="http://schemas.openxmlformats.org/drawingml/2006/main" noGrp="1"/>
          </p:cNvSpPr>
          <p:nvPr/>
        </p:nvSpPr>
        <p:spPr>
          <a:xfrm xmlns:a="http://schemas.openxmlformats.org/drawingml/2006/main">
            <a:off x="723900" y="62293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FB0"/>
                </a:solidFill>
              </a:defRPr>
            </a:pPr>
            <a:r>
              <a:rPr sz="750" b="1">
                <a:solidFill>
                  <a:srgbClr val="A8BFB0"/>
                </a:solidFill>
              </a:rPr>
              <a:t>TENCENT CLOUD x UTM HACKATHON 2026</a:t>
            </a:r>
          </a:p>
        </p:txBody>
      </p:sp>
    </p:spTree>
    <p:extLst>
      <p:ext uri="{BB962C8B-B14F-4D97-AF65-F5344CB8AC3E}">
        <p14:creationId xmlns:p14="http://schemas.microsoft.com/office/powerpoint/2010/main" val="107168925"/>
      </p:ext>
    </p:extLst>
  </p:cSld>
</p:sld>
</file>

<file path=ppt/slides/slide2.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351ef041c04460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ight-paper">
            <a:extLst xmlns:a="http://schemas.openxmlformats.org/drawingml/2006/main">
              <a:ext uri="{FF2B5EF4-FFF2-40B4-BE49-F238E27FC236}">
                <a16:creationId xmlns:a16="http://schemas.microsoft.com/office/drawing/2014/main" id="{B0E4CEAE-0A7A-4857-ADE4-1FD30BFECA4A}"/>
              </a:ext>
            </a:extLst>
          </p:cNvPr>
          <p:cNvSpPr>
            <a:spLocks xmlns:a="http://schemas.openxmlformats.org/drawingml/2006/main" noGrp="1"/>
          </p:cNvSpPr>
          <p:nvPr/>
        </p:nvSpPr>
        <p:spPr>
          <a:xfrm xmlns:a="http://schemas.openxmlformats.org/drawingml/2006/main">
            <a:off x="7029450" y="381000"/>
            <a:ext cx="4705350" cy="5886450"/>
          </a:xfrm>
          <a:prstGeom xmlns:a="http://schemas.openxmlformats.org/drawingml/2006/main" prst="rect">
            <a:avLst/>
          </a:prstGeom>
          <a:solidFill xmlns:a="http://schemas.openxmlformats.org/drawingml/2006/main">
            <a:srgbClr val="F2F5F2"/>
          </a:solidFill>
          <a:ln xmlns:a="http://schemas.openxmlformats.org/drawingml/2006/main" w="0">
            <a:solidFill>
              <a:srgbClr val="F2F5F2"/>
            </a:solidFill>
            <a:prstDash val="solid"/>
          </a:ln>
        </p:spPr>
      </p:sp>
      <p:sp>
        <p:nvSpPr>
          <p:cNvPr id="3" name="eyebrow">
            <a:extLst xmlns:a="http://schemas.openxmlformats.org/drawingml/2006/main">
              <a:ext uri="{FF2B5EF4-FFF2-40B4-BE49-F238E27FC236}">
                <a16:creationId xmlns:a16="http://schemas.microsoft.com/office/drawing/2014/main" id="{D9C4E389-4352-460A-9932-05A3D5AF6508}"/>
              </a:ext>
            </a:extLst>
          </p:cNvPr>
          <p:cNvSpPr>
            <a:spLocks xmlns:a="http://schemas.openxmlformats.org/drawingml/2006/main" noGrp="1"/>
          </p:cNvSpPr>
          <p:nvPr/>
        </p:nvSpPr>
        <p:spPr>
          <a:xfrm xmlns:a="http://schemas.openxmlformats.org/drawingml/2006/main">
            <a:off x="7410450" y="6667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365F48"/>
                </a:solidFill>
              </a:defRPr>
            </a:pPr>
            <a:r>
              <a:rPr sz="900" b="1">
                <a:solidFill>
                  <a:srgbClr val="365F48"/>
                </a:solidFill>
              </a:rPr>
              <a:t>REAL-WORLD SCENARIO INSIGHT</a:t>
            </a:r>
          </a:p>
        </p:txBody>
      </p:sp>
      <p:sp>
        <p:nvSpPr>
          <p:cNvPr id="4" name="title">
            <a:extLst xmlns:a="http://schemas.openxmlformats.org/drawingml/2006/main">
              <a:ext uri="{FF2B5EF4-FFF2-40B4-BE49-F238E27FC236}">
                <a16:creationId xmlns:a16="http://schemas.microsoft.com/office/drawing/2014/main" id="{7E52B337-D8F1-4738-9B0B-60C0A1254B8F}"/>
              </a:ext>
            </a:extLst>
          </p:cNvPr>
          <p:cNvSpPr>
            <a:spLocks xmlns:a="http://schemas.openxmlformats.org/drawingml/2006/main" noGrp="1"/>
          </p:cNvSpPr>
          <p:nvPr/>
        </p:nvSpPr>
        <p:spPr>
          <a:xfrm xmlns:a="http://schemas.openxmlformats.org/drawingml/2006/main">
            <a:off x="7410450" y="1123950"/>
            <a:ext cx="39052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31A15"/>
                </a:solidFill>
              </a:defRPr>
            </a:pPr>
            <a:r>
              <a:rPr sz="2925" b="1">
                <a:solidFill>
                  <a:srgbClr val="131A15"/>
                </a:solidFill>
              </a:rPr>
              <a:t>The clock starts</a:t>
            </a:r>
          </a:p>
          <a:p xmlns:a="http://schemas.openxmlformats.org/drawingml/2006/main">
            <a:pPr>
              <a:defRPr sz="2925" b="1">
                <a:solidFill>
                  <a:srgbClr val="131A15"/>
                </a:solidFill>
              </a:defRPr>
            </a:pPr>
            <a:r>
              <a:rPr sz="2925" b="1">
                <a:solidFill>
                  <a:srgbClr val="131A15"/>
                </a:solidFill>
              </a:rPr>
              <a:t>before anyone</a:t>
            </a:r>
          </a:p>
          <a:p xmlns:a="http://schemas.openxmlformats.org/drawingml/2006/main">
            <a:pPr>
              <a:defRPr sz="2925" b="1">
                <a:solidFill>
                  <a:srgbClr val="131A15"/>
                </a:solidFill>
              </a:defRPr>
            </a:pPr>
            <a:r>
              <a:rPr sz="2925" b="1">
                <a:solidFill>
                  <a:srgbClr val="131A15"/>
                </a:solidFill>
              </a:rPr>
              <a:t>understands the case.</a:t>
            </a:r>
          </a:p>
        </p:txBody>
      </p:sp>
      <p:sp>
        <p:nvSpPr>
          <p:cNvPr id="5" name="m0">
            <a:extLst xmlns:a="http://schemas.openxmlformats.org/drawingml/2006/main">
              <a:ext uri="{FF2B5EF4-FFF2-40B4-BE49-F238E27FC236}">
                <a16:creationId xmlns:a16="http://schemas.microsoft.com/office/drawing/2014/main" id="{D3100DDE-CBE5-4799-BD75-47A36B842B09}"/>
              </a:ext>
            </a:extLst>
          </p:cNvPr>
          <p:cNvSpPr>
            <a:spLocks xmlns:a="http://schemas.openxmlformats.org/drawingml/2006/main" noGrp="1"/>
          </p:cNvSpPr>
          <p:nvPr/>
        </p:nvSpPr>
        <p:spPr>
          <a:xfrm xmlns:a="http://schemas.openxmlformats.org/drawingml/2006/main">
            <a:off x="7410450" y="2952750"/>
            <a:ext cx="1600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31A15"/>
                </a:solidFill>
              </a:defRPr>
            </a:pPr>
            <a:r>
              <a:rPr sz="2550" b="1">
                <a:solidFill>
                  <a:srgbClr val="131A15"/>
                </a:solidFill>
              </a:rPr>
              <a:t>1.8M</a:t>
            </a:r>
          </a:p>
        </p:txBody>
      </p:sp>
      <p:sp>
        <p:nvSpPr>
          <p:cNvPr id="6" name="ml0">
            <a:extLst xmlns:a="http://schemas.openxmlformats.org/drawingml/2006/main">
              <a:ext uri="{FF2B5EF4-FFF2-40B4-BE49-F238E27FC236}">
                <a16:creationId xmlns:a16="http://schemas.microsoft.com/office/drawing/2014/main" id="{0D6878B7-0A82-421D-80AB-BE7C82343D1F}"/>
              </a:ext>
            </a:extLst>
          </p:cNvPr>
          <p:cNvSpPr>
            <a:spLocks xmlns:a="http://schemas.openxmlformats.org/drawingml/2006/main" noGrp="1"/>
          </p:cNvSpPr>
          <p:nvPr/>
        </p:nvSpPr>
        <p:spPr>
          <a:xfrm xmlns:a="http://schemas.openxmlformats.org/drawingml/2006/main">
            <a:off x="9067800" y="305752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A665D"/>
                </a:solidFill>
              </a:defRPr>
            </a:pPr>
            <a:r>
              <a:rPr sz="1200" b="1">
                <a:solidFill>
                  <a:srgbClr val="5A665D"/>
                </a:solidFill>
              </a:rPr>
              <a:t>retail + SME customers</a:t>
            </a:r>
          </a:p>
        </p:txBody>
      </p:sp>
      <p:sp>
        <p:nvSpPr>
          <p:cNvPr id="7" name="m1">
            <a:extLst xmlns:a="http://schemas.openxmlformats.org/drawingml/2006/main">
              <a:ext uri="{FF2B5EF4-FFF2-40B4-BE49-F238E27FC236}">
                <a16:creationId xmlns:a16="http://schemas.microsoft.com/office/drawing/2014/main" id="{FE663C15-D8BB-4F12-A3DD-9780494C27E8}"/>
              </a:ext>
            </a:extLst>
          </p:cNvPr>
          <p:cNvSpPr>
            <a:spLocks xmlns:a="http://schemas.openxmlformats.org/drawingml/2006/main" noGrp="1"/>
          </p:cNvSpPr>
          <p:nvPr/>
        </p:nvSpPr>
        <p:spPr>
          <a:xfrm xmlns:a="http://schemas.openxmlformats.org/drawingml/2006/main">
            <a:off x="7410450" y="3771900"/>
            <a:ext cx="1600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31A15"/>
                </a:solidFill>
              </a:defRPr>
            </a:pPr>
            <a:r>
              <a:rPr sz="2550" b="1">
                <a:solidFill>
                  <a:srgbClr val="131A15"/>
                </a:solidFill>
              </a:rPr>
              <a:t>90 MIN</a:t>
            </a:r>
          </a:p>
        </p:txBody>
      </p:sp>
      <p:sp>
        <p:nvSpPr>
          <p:cNvPr id="8" name="ml1">
            <a:extLst xmlns:a="http://schemas.openxmlformats.org/drawingml/2006/main">
              <a:ext uri="{FF2B5EF4-FFF2-40B4-BE49-F238E27FC236}">
                <a16:creationId xmlns:a16="http://schemas.microsoft.com/office/drawing/2014/main" id="{7F592FBE-E4BE-4BBA-851E-EB0CD1D3014F}"/>
              </a:ext>
            </a:extLst>
          </p:cNvPr>
          <p:cNvSpPr>
            <a:spLocks xmlns:a="http://schemas.openxmlformats.org/drawingml/2006/main" noGrp="1"/>
          </p:cNvSpPr>
          <p:nvPr/>
        </p:nvSpPr>
        <p:spPr>
          <a:xfrm xmlns:a="http://schemas.openxmlformats.org/drawingml/2006/main">
            <a:off x="9067800" y="387667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A665D"/>
                </a:solidFill>
              </a:defRPr>
            </a:pPr>
            <a:r>
              <a:rPr sz="1200" b="1">
                <a:solidFill>
                  <a:srgbClr val="5A665D"/>
                </a:solidFill>
              </a:rPr>
              <a:t>manual handling per case</a:t>
            </a:r>
          </a:p>
        </p:txBody>
      </p:sp>
      <p:sp>
        <p:nvSpPr>
          <p:cNvPr id="9" name="m2">
            <a:extLst xmlns:a="http://schemas.openxmlformats.org/drawingml/2006/main">
              <a:ext uri="{FF2B5EF4-FFF2-40B4-BE49-F238E27FC236}">
                <a16:creationId xmlns:a16="http://schemas.microsoft.com/office/drawing/2014/main" id="{94BE627D-4711-44F6-A83F-3D98852BC75A}"/>
              </a:ext>
            </a:extLst>
          </p:cNvPr>
          <p:cNvSpPr>
            <a:spLocks xmlns:a="http://schemas.openxmlformats.org/drawingml/2006/main" noGrp="1"/>
          </p:cNvSpPr>
          <p:nvPr/>
        </p:nvSpPr>
        <p:spPr>
          <a:xfrm xmlns:a="http://schemas.openxmlformats.org/drawingml/2006/main">
            <a:off x="7410450" y="4591050"/>
            <a:ext cx="1600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8B2333"/>
                </a:solidFill>
              </a:defRPr>
            </a:pPr>
            <a:r>
              <a:rPr sz="2550" b="1">
                <a:solidFill>
                  <a:srgbClr val="8B2333"/>
                </a:solidFill>
              </a:rPr>
              <a:t>11%</a:t>
            </a:r>
          </a:p>
        </p:txBody>
      </p:sp>
      <p:sp>
        <p:nvSpPr>
          <p:cNvPr id="10" name="ml2">
            <a:extLst xmlns:a="http://schemas.openxmlformats.org/drawingml/2006/main">
              <a:ext uri="{FF2B5EF4-FFF2-40B4-BE49-F238E27FC236}">
                <a16:creationId xmlns:a16="http://schemas.microsoft.com/office/drawing/2014/main" id="{15183E35-D568-4157-9254-4D8FFD2C40EA}"/>
              </a:ext>
            </a:extLst>
          </p:cNvPr>
          <p:cNvSpPr>
            <a:spLocks xmlns:a="http://schemas.openxmlformats.org/drawingml/2006/main" noGrp="1"/>
          </p:cNvSpPr>
          <p:nvPr/>
        </p:nvSpPr>
        <p:spPr>
          <a:xfrm xmlns:a="http://schemas.openxmlformats.org/drawingml/2006/main">
            <a:off x="9067800" y="469582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A665D"/>
                </a:solidFill>
              </a:defRPr>
            </a:pPr>
            <a:r>
              <a:rPr sz="1200" b="1">
                <a:solidFill>
                  <a:srgbClr val="5A665D"/>
                </a:solidFill>
              </a:rPr>
              <a:t>regulatory deadlines missed</a:t>
            </a:r>
          </a:p>
        </p:txBody>
      </p:sp>
      <p:sp>
        <p:nvSpPr>
          <p:cNvPr id="11" name="sla">
            <a:extLst xmlns:a="http://schemas.openxmlformats.org/drawingml/2006/main">
              <a:ext uri="{FF2B5EF4-FFF2-40B4-BE49-F238E27FC236}">
                <a16:creationId xmlns:a16="http://schemas.microsoft.com/office/drawing/2014/main" id="{07B939ED-C20E-4BE7-9146-FEFE0F31D84D}"/>
              </a:ext>
            </a:extLst>
          </p:cNvPr>
          <p:cNvSpPr>
            <a:spLocks xmlns:a="http://schemas.openxmlformats.org/drawingml/2006/main" noGrp="1"/>
          </p:cNvSpPr>
          <p:nvPr/>
        </p:nvSpPr>
        <p:spPr>
          <a:xfrm xmlns:a="http://schemas.openxmlformats.org/drawingml/2006/main">
            <a:off x="7410450" y="54483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365F48"/>
                </a:solidFill>
              </a:defRPr>
            </a:pPr>
            <a:r>
              <a:rPr sz="975" b="1">
                <a:solidFill>
                  <a:srgbClr val="365F48"/>
                </a:solidFill>
              </a:rPr>
              <a:t>BNM / FMOS: 5-20 working days</a:t>
            </a:r>
          </a:p>
        </p:txBody>
      </p:sp>
    </p:spTree>
    <p:extLst>
      <p:ext uri="{BB962C8B-B14F-4D97-AF65-F5344CB8AC3E}">
        <p14:creationId xmlns:p14="http://schemas.microsoft.com/office/powerpoint/2010/main" val="1709347954"/>
      </p:ext>
    </p:extLst>
  </p:cSld>
</p:sld>
</file>

<file path=ppt/slides/slide3.xml><?xml version="1.0" encoding="utf-8"?>
<p:sld xmlns:p="http://schemas.openxmlformats.org/presentationml/2006/main">
  <p:cSld>
    <p:bg>
      <p:bgPr>
        <a:solidFill xmlns:a="http://schemas.openxmlformats.org/drawingml/2006/main">
          <a:srgbClr val="E4EAE5"/>
        </a:solidFill>
      </p:bgPr>
    </p:bg>
    <p:spTree>
      <p:nvGrpSpPr>
        <p:cNvPr id="1" name=""/>
        <p:cNvGrpSpPr/>
        <p:nvPr/>
      </p:nvGrpSpPr>
      <p:grpSpPr>
        <a:xfrm xmlns:a="http://schemas.openxmlformats.org/drawingml/2006/main"/>
      </p:grpSpPr>
      <p:sp>
        <p:nvSpPr>
          <p:cNvPr id="9" name="section-3">
            <a:extLst xmlns:a="http://schemas.openxmlformats.org/drawingml/2006/main">
              <a:ext uri="{FF2B5EF4-FFF2-40B4-BE49-F238E27FC236}">
                <a16:creationId xmlns:a16="http://schemas.microsoft.com/office/drawing/2014/main" id="{2BF7B279-D051-4982-9534-ECEDEB7C8176}"/>
              </a:ext>
            </a:extLst>
          </p:cNvPr>
          <p:cNvSpPr>
            <a:spLocks xmlns:a="http://schemas.openxmlformats.org/drawingml/2006/main" noGrp="1"/>
          </p:cNvSpPr>
          <p:nvPr/>
        </p:nvSpPr>
        <p:spPr>
          <a:xfrm xmlns:a="http://schemas.openxmlformats.org/drawingml/2006/main">
            <a:off x="609600" y="2286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5A665D"/>
                </a:solidFill>
              </a:defRPr>
            </a:pPr>
            <a:r>
              <a:rPr sz="825" b="1">
                <a:solidFill>
                  <a:srgbClr val="5A665D"/>
                </a:solidFill>
              </a:rPr>
              <a:t>CASEZERO / SOLUTION</a:t>
            </a:r>
          </a:p>
        </p:txBody>
      </p:sp>
      <p:sp>
        <p:nvSpPr>
          <p:cNvPr id="2" name="page-3">
            <a:extLst xmlns:a="http://schemas.openxmlformats.org/drawingml/2006/main">
              <a:ext uri="{FF2B5EF4-FFF2-40B4-BE49-F238E27FC236}">
                <a16:creationId xmlns:a16="http://schemas.microsoft.com/office/drawing/2014/main" id="{B736B808-CD9F-4AEA-AAB0-2702638E2060}"/>
              </a:ext>
            </a:extLst>
          </p:cNvPr>
          <p:cNvSpPr>
            <a:spLocks xmlns:a="http://schemas.openxmlformats.org/drawingml/2006/main" noGrp="1"/>
          </p:cNvSpPr>
          <p:nvPr/>
        </p:nvSpPr>
        <p:spPr>
          <a:xfrm xmlns:a="http://schemas.openxmlformats.org/drawingml/2006/main">
            <a:off x="10953750" y="2286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5A665D"/>
                </a:solidFill>
              </a:defRPr>
            </a:pPr>
            <a:r>
              <a:rPr sz="825" b="1">
                <a:solidFill>
                  <a:srgbClr val="5A665D"/>
                </a:solidFill>
              </a:rPr>
              <a:t>03</a:t>
            </a:r>
          </a:p>
        </p:txBody>
      </p:sp>
      <p:sp>
        <p:nvSpPr>
          <p:cNvPr id="3" name="rule-52">
            <a:extLst xmlns:a="http://schemas.openxmlformats.org/drawingml/2006/main">
              <a:ext uri="{FF2B5EF4-FFF2-40B4-BE49-F238E27FC236}">
                <a16:creationId xmlns:a16="http://schemas.microsoft.com/office/drawing/2014/main" id="{9DC9132A-8CF4-4DD3-83DD-DEDF82F1E3BC}"/>
              </a:ext>
            </a:extLst>
          </p:cNvPr>
          <p:cNvSpPr>
            <a:spLocks xmlns:a="http://schemas.openxmlformats.org/drawingml/2006/main" noGrp="1"/>
          </p:cNvSpPr>
          <p:nvPr/>
        </p:nvSpPr>
        <p:spPr>
          <a:xfrm xmlns:a="http://schemas.openxmlformats.org/drawingml/2006/main">
            <a:off x="609600" y="495300"/>
            <a:ext cx="10972800" cy="19050"/>
          </a:xfrm>
          <a:prstGeom xmlns:a="http://schemas.openxmlformats.org/drawingml/2006/main" prst="rect">
            <a:avLst/>
          </a:prstGeom>
          <a:solidFill xmlns:a="http://schemas.openxmlformats.org/drawingml/2006/main">
            <a:srgbClr val="A8BFB0"/>
          </a:solidFill>
          <a:ln xmlns:a="http://schemas.openxmlformats.org/drawingml/2006/main" w="0">
            <a:solidFill>
              <a:srgbClr val="A8BFB0"/>
            </a:solidFill>
            <a:prstDash val="solid"/>
          </a:ln>
        </p:spPr>
      </p:sp>
      <p:sp>
        <p:nvSpPr>
          <p:cNvPr id="4" name="title">
            <a:extLst xmlns:a="http://schemas.openxmlformats.org/drawingml/2006/main">
              <a:ext uri="{FF2B5EF4-FFF2-40B4-BE49-F238E27FC236}">
                <a16:creationId xmlns:a16="http://schemas.microsoft.com/office/drawing/2014/main" id="{AD77A32F-83CA-4FA5-8639-526B739991E5}"/>
              </a:ext>
            </a:extLst>
          </p:cNvPr>
          <p:cNvSpPr>
            <a:spLocks xmlns:a="http://schemas.openxmlformats.org/drawingml/2006/main" noGrp="1"/>
          </p:cNvSpPr>
          <p:nvPr/>
        </p:nvSpPr>
        <p:spPr>
          <a:xfrm xmlns:a="http://schemas.openxmlformats.org/drawingml/2006/main">
            <a:off x="609600" y="8382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750" b="1">
                <a:solidFill>
                  <a:srgbClr val="131A15"/>
                </a:solidFill>
              </a:defRPr>
            </a:pPr>
            <a:r>
              <a:rPr sz="3750" b="1">
                <a:solidFill>
                  <a:srgbClr val="131A15"/>
                </a:solidFill>
              </a:rPr>
              <a:t>One email becomes one governed outcome.</a:t>
            </a:r>
          </a:p>
        </p:txBody>
      </p:sp>
      <p:sp>
        <p:nvSpPr>
          <p:cNvPr id="5" name="steps">
            <a:extLst xmlns:a="http://schemas.openxmlformats.org/drawingml/2006/main">
              <a:ext uri="{FF2B5EF4-FFF2-40B4-BE49-F238E27FC236}">
                <a16:creationId xmlns:a16="http://schemas.microsoft.com/office/drawing/2014/main" id="{3D57648C-CB56-4275-B98D-56095955C6A9}"/>
              </a:ext>
            </a:extLst>
          </p:cNvPr>
          <p:cNvSpPr>
            <a:spLocks xmlns:a="http://schemas.openxmlformats.org/drawingml/2006/main" noGrp="1"/>
          </p:cNvSpPr>
          <p:nvPr/>
        </p:nvSpPr>
        <p:spPr>
          <a:xfrm xmlns:a="http://schemas.openxmlformats.org/drawingml/2006/main">
            <a:off x="647700" y="2381250"/>
            <a:ext cx="3048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365F48"/>
                </a:solidFill>
              </a:defRPr>
            </a:pPr>
            <a:r>
              <a:rPr sz="1800" b="1">
                <a:solidFill>
                  <a:srgbClr val="365F48"/>
                </a:solidFill>
              </a:rPr>
              <a:t>INTAKE</a:t>
            </a:r>
          </a:p>
          <a:p xmlns:a="http://schemas.openxmlformats.org/drawingml/2006/main">
            <a:pPr>
              <a:defRPr sz="1800" b="1">
                <a:solidFill>
                  <a:srgbClr val="365F48"/>
                </a:solidFill>
              </a:defRPr>
            </a:pPr>
            <a:r>
              <a:rPr sz="1800" b="1">
                <a:solidFill>
                  <a:srgbClr val="365F48"/>
                </a:solidFill>
              </a:rPr>
              <a:t>VERIFY</a:t>
            </a:r>
          </a:p>
          <a:p xmlns:a="http://schemas.openxmlformats.org/drawingml/2006/main">
            <a:pPr>
              <a:defRPr sz="1800" b="1">
                <a:solidFill>
                  <a:srgbClr val="365F48"/>
                </a:solidFill>
              </a:defRPr>
            </a:pPr>
            <a:r>
              <a:rPr sz="1800" b="1">
                <a:solidFill>
                  <a:srgbClr val="365F48"/>
                </a:solidFill>
              </a:rPr>
              <a:t>RESOLVE</a:t>
            </a:r>
          </a:p>
          <a:p xmlns:a="http://schemas.openxmlformats.org/drawingml/2006/main">
            <a:pPr>
              <a:defRPr sz="1800" b="1">
                <a:solidFill>
                  <a:srgbClr val="365F48"/>
                </a:solidFill>
              </a:defRPr>
            </a:pPr>
            <a:r>
              <a:rPr sz="1800" b="1">
                <a:solidFill>
                  <a:srgbClr val="365F48"/>
                </a:solidFill>
              </a:rPr>
              <a:t>COMMUNICATE</a:t>
            </a:r>
          </a:p>
        </p:txBody>
      </p:sp>
      <p:sp>
        <p:nvSpPr>
          <p:cNvPr id="6" name="promise">
            <a:extLst xmlns:a="http://schemas.openxmlformats.org/drawingml/2006/main">
              <a:ext uri="{FF2B5EF4-FFF2-40B4-BE49-F238E27FC236}">
                <a16:creationId xmlns:a16="http://schemas.microsoft.com/office/drawing/2014/main" id="{DA9A36AB-BC93-4315-ABA9-C1BD8AEBE993}"/>
              </a:ext>
            </a:extLst>
          </p:cNvPr>
          <p:cNvSpPr>
            <a:spLocks xmlns:a="http://schemas.openxmlformats.org/drawingml/2006/main" noGrp="1"/>
          </p:cNvSpPr>
          <p:nvPr/>
        </p:nvSpPr>
        <p:spPr>
          <a:xfrm xmlns:a="http://schemas.openxmlformats.org/drawingml/2006/main">
            <a:off x="647700" y="4953000"/>
            <a:ext cx="400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A665D"/>
                </a:solidFill>
              </a:defRPr>
            </a:pPr>
            <a:r>
              <a:rPr sz="1650">
                <a:solidFill>
                  <a:srgbClr val="5A665D"/>
                </a:solidFill>
              </a:rPr>
              <a:t>Every transition carries evidence, an owner and a chained receipt.</a:t>
            </a:r>
          </a:p>
        </p:txBody>
      </p:sp>
      <p:sp>
        <p:nvSpPr>
          <p:cNvPr id="7" name="screen-frame">
            <a:extLst xmlns:a="http://schemas.openxmlformats.org/drawingml/2006/main">
              <a:ext uri="{FF2B5EF4-FFF2-40B4-BE49-F238E27FC236}">
                <a16:creationId xmlns:a16="http://schemas.microsoft.com/office/drawing/2014/main" id="{6A6D9BB5-5ACA-4F1D-8E45-4741C2358B6B}"/>
              </a:ext>
            </a:extLst>
          </p:cNvPr>
          <p:cNvSpPr>
            <a:spLocks xmlns:a="http://schemas.openxmlformats.org/drawingml/2006/main" noGrp="1"/>
          </p:cNvSpPr>
          <p:nvPr/>
        </p:nvSpPr>
        <p:spPr>
          <a:xfrm xmlns:a="http://schemas.openxmlformats.org/drawingml/2006/main">
            <a:off x="5219700" y="914400"/>
            <a:ext cx="6362700" cy="4914900"/>
          </a:xfrm>
          <a:prstGeom xmlns:a="http://schemas.openxmlformats.org/drawingml/2006/main" prst="rect">
            <a:avLst/>
          </a:prstGeom>
          <a:solidFill xmlns:a="http://schemas.openxmlformats.org/drawingml/2006/main">
            <a:srgbClr val="0B0F0C"/>
          </a:solidFill>
          <a:ln xmlns:a="http://schemas.openxmlformats.org/drawingml/2006/main" w="9525">
            <a:solidFill>
              <a:srgbClr val="0B0F0C"/>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f542324a1cd416f"/>
          <a:stretch xmlns:a="http://schemas.openxmlformats.org/drawingml/2006/main"/>
        </p:blipFill>
        <p:spPr>
          <a:xfrm xmlns:a="http://schemas.openxmlformats.org/drawingml/2006/main">
            <a:off x="5314950" y="1635919"/>
            <a:ext cx="6172200" cy="3471863"/>
          </a:xfrm>
          <a:prstGeom xmlns:a="http://schemas.openxmlformats.org/drawingml/2006/main" prst="rect">
            <a:avLst/>
          </a:prstGeom>
        </p:spPr>
      </p:pic>
    </p:spTree>
    <p:extLst>
      <p:ext uri="{BB962C8B-B14F-4D97-AF65-F5344CB8AC3E}">
        <p14:creationId xmlns:p14="http://schemas.microsoft.com/office/powerpoint/2010/main" val="988594098"/>
      </p:ext>
    </p:extLst>
  </p:cSld>
</p:sld>
</file>

<file path=ppt/slides/slide4.xml><?xml version="1.0" encoding="utf-8"?>
<p:sld xmlns:p="http://schemas.openxmlformats.org/presentationml/2006/main">
  <p:cSld>
    <p:bg>
      <p:bgPr>
        <a:solidFill xmlns:a="http://schemas.openxmlformats.org/drawingml/2006/main">
          <a:srgbClr val="0B0F0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3af62a213464a6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py-ground">
            <a:extLst xmlns:a="http://schemas.openxmlformats.org/drawingml/2006/main">
              <a:ext uri="{FF2B5EF4-FFF2-40B4-BE49-F238E27FC236}">
                <a16:creationId xmlns:a16="http://schemas.microsoft.com/office/drawing/2014/main" id="{94575E50-C27A-4171-BC33-36388DE38A87}"/>
              </a:ext>
            </a:extLst>
          </p:cNvPr>
          <p:cNvSpPr>
            <a:spLocks xmlns:a="http://schemas.openxmlformats.org/drawingml/2006/main" noGrp="1"/>
          </p:cNvSpPr>
          <p:nvPr/>
        </p:nvSpPr>
        <p:spPr>
          <a:xfrm xmlns:a="http://schemas.openxmlformats.org/drawingml/2006/main">
            <a:off x="400050" y="400050"/>
            <a:ext cx="4953000" cy="6057900"/>
          </a:xfrm>
          <a:prstGeom xmlns:a="http://schemas.openxmlformats.org/drawingml/2006/main" prst="rect">
            <a:avLst/>
          </a:prstGeom>
          <a:solidFill xmlns:a="http://schemas.openxmlformats.org/drawingml/2006/main">
            <a:srgbClr val="0B0F0C"/>
          </a:solidFill>
          <a:ln xmlns:a="http://schemas.openxmlformats.org/drawingml/2006/main" w="0">
            <a:solidFill>
              <a:srgbClr val="0B0F0C"/>
            </a:solidFill>
            <a:prstDash val="solid"/>
          </a:ln>
        </p:spPr>
      </p:sp>
      <p:sp>
        <p:nvSpPr>
          <p:cNvPr id="3" name="eyebrow">
            <a:extLst xmlns:a="http://schemas.openxmlformats.org/drawingml/2006/main">
              <a:ext uri="{FF2B5EF4-FFF2-40B4-BE49-F238E27FC236}">
                <a16:creationId xmlns:a16="http://schemas.microsoft.com/office/drawing/2014/main" id="{BE7E52D9-A4D1-462A-A338-ACB01CF79273}"/>
              </a:ext>
            </a:extLst>
          </p:cNvPr>
          <p:cNvSpPr>
            <a:spLocks xmlns:a="http://schemas.openxmlformats.org/drawingml/2006/main" noGrp="1"/>
          </p:cNvSpPr>
          <p:nvPr/>
        </p:nvSpPr>
        <p:spPr>
          <a:xfrm xmlns:a="http://schemas.openxmlformats.org/drawingml/2006/main">
            <a:off x="685800" y="7239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8BFB0"/>
                </a:solidFill>
              </a:defRPr>
            </a:pPr>
            <a:r>
              <a:rPr sz="900" b="1">
                <a:solidFill>
                  <a:srgbClr val="A8BFB0"/>
                </a:solidFill>
              </a:rPr>
              <a:t>AI INNOVATION / 30 POINTS</a:t>
            </a:r>
          </a:p>
        </p:txBody>
      </p:sp>
      <p:sp>
        <p:nvSpPr>
          <p:cNvPr id="4" name="title">
            <a:extLst xmlns:a="http://schemas.openxmlformats.org/drawingml/2006/main">
              <a:ext uri="{FF2B5EF4-FFF2-40B4-BE49-F238E27FC236}">
                <a16:creationId xmlns:a16="http://schemas.microsoft.com/office/drawing/2014/main" id="{2B5E390F-C2B7-4883-A833-F29FE9518BD3}"/>
              </a:ext>
            </a:extLst>
          </p:cNvPr>
          <p:cNvSpPr>
            <a:spLocks xmlns:a="http://schemas.openxmlformats.org/drawingml/2006/main" noGrp="1"/>
          </p:cNvSpPr>
          <p:nvPr/>
        </p:nvSpPr>
        <p:spPr>
          <a:xfrm xmlns:a="http://schemas.openxmlformats.org/drawingml/2006/main">
            <a:off x="666750" y="1200150"/>
            <a:ext cx="41910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750" b="1">
                <a:solidFill>
                  <a:srgbClr val="F7FAF7"/>
                </a:solidFill>
              </a:defRPr>
            </a:pPr>
            <a:r>
              <a:rPr sz="3750" b="1">
                <a:solidFill>
                  <a:srgbClr val="F7FAF7"/>
                </a:solidFill>
              </a:rPr>
              <a:t>Six agents propose. One kernel decides.</a:t>
            </a:r>
          </a:p>
        </p:txBody>
      </p:sp>
      <p:sp>
        <p:nvSpPr>
          <p:cNvPr id="5" name="line-0">
            <a:extLst xmlns:a="http://schemas.openxmlformats.org/drawingml/2006/main">
              <a:ext uri="{FF2B5EF4-FFF2-40B4-BE49-F238E27FC236}">
                <a16:creationId xmlns:a16="http://schemas.microsoft.com/office/drawing/2014/main" id="{83A6D618-7B72-42FF-9713-94208F80C289}"/>
              </a:ext>
            </a:extLst>
          </p:cNvPr>
          <p:cNvSpPr>
            <a:spLocks xmlns:a="http://schemas.openxmlformats.org/drawingml/2006/main" noGrp="1"/>
          </p:cNvSpPr>
          <p:nvPr/>
        </p:nvSpPr>
        <p:spPr>
          <a:xfrm xmlns:a="http://schemas.openxmlformats.org/drawingml/2006/main">
            <a:off x="762000" y="31623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A8BFB0"/>
                </a:solidFill>
              </a:defRPr>
            </a:pPr>
            <a:r>
              <a:rPr sz="1425" b="0">
                <a:solidFill>
                  <a:srgbClr val="A8BFB0"/>
                </a:solidFill>
              </a:rPr>
              <a:t>Parallel specialist agents</a:t>
            </a:r>
          </a:p>
        </p:txBody>
      </p:sp>
      <p:sp>
        <p:nvSpPr>
          <p:cNvPr id="6" name="line-1">
            <a:extLst xmlns:a="http://schemas.openxmlformats.org/drawingml/2006/main">
              <a:ext uri="{FF2B5EF4-FFF2-40B4-BE49-F238E27FC236}">
                <a16:creationId xmlns:a16="http://schemas.microsoft.com/office/drawing/2014/main" id="{0F4F6D48-0AD1-4874-94D9-38E41A00338F}"/>
              </a:ext>
            </a:extLst>
          </p:cNvPr>
          <p:cNvSpPr>
            <a:spLocks xmlns:a="http://schemas.openxmlformats.org/drawingml/2006/main" noGrp="1"/>
          </p:cNvSpPr>
          <p:nvPr/>
        </p:nvSpPr>
        <p:spPr>
          <a:xfrm xmlns:a="http://schemas.openxmlformats.org/drawingml/2006/main">
            <a:off x="762000" y="36766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A8BFB0"/>
                </a:solidFill>
              </a:defRPr>
            </a:pPr>
            <a:r>
              <a:rPr sz="1425" b="0">
                <a:solidFill>
                  <a:srgbClr val="A8BFB0"/>
                </a:solidFill>
              </a:rPr>
              <a:t>Typed model proposals</a:t>
            </a:r>
          </a:p>
        </p:txBody>
      </p:sp>
      <p:sp>
        <p:nvSpPr>
          <p:cNvPr id="7" name="line-2">
            <a:extLst xmlns:a="http://schemas.openxmlformats.org/drawingml/2006/main">
              <a:ext uri="{FF2B5EF4-FFF2-40B4-BE49-F238E27FC236}">
                <a16:creationId xmlns:a16="http://schemas.microsoft.com/office/drawing/2014/main" id="{FEF13A31-8EB0-4D8D-90F2-D1AF3670FB44}"/>
              </a:ext>
            </a:extLst>
          </p:cNvPr>
          <p:cNvSpPr>
            <a:spLocks xmlns:a="http://schemas.openxmlformats.org/drawingml/2006/main" noGrp="1"/>
          </p:cNvSpPr>
          <p:nvPr/>
        </p:nvSpPr>
        <p:spPr>
          <a:xfrm xmlns:a="http://schemas.openxmlformats.org/drawingml/2006/main">
            <a:off x="762000" y="4191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E4EAE5"/>
                </a:solidFill>
              </a:defRPr>
            </a:pPr>
            <a:r>
              <a:rPr sz="1425" b="1">
                <a:solidFill>
                  <a:srgbClr val="E4EAE5"/>
                </a:solidFill>
              </a:rPr>
              <a:t>Deterministic authority gates</a:t>
            </a:r>
          </a:p>
        </p:txBody>
      </p:sp>
      <p:sp>
        <p:nvSpPr>
          <p:cNvPr id="8" name="line-3">
            <a:extLst xmlns:a="http://schemas.openxmlformats.org/drawingml/2006/main">
              <a:ext uri="{FF2B5EF4-FFF2-40B4-BE49-F238E27FC236}">
                <a16:creationId xmlns:a16="http://schemas.microsoft.com/office/drawing/2014/main" id="{417DC861-5C47-42FB-AFCA-CA16A76EEAB1}"/>
              </a:ext>
            </a:extLst>
          </p:cNvPr>
          <p:cNvSpPr>
            <a:spLocks xmlns:a="http://schemas.openxmlformats.org/drawingml/2006/main" noGrp="1"/>
          </p:cNvSpPr>
          <p:nvPr/>
        </p:nvSpPr>
        <p:spPr>
          <a:xfrm xmlns:a="http://schemas.openxmlformats.org/drawingml/2006/main">
            <a:off x="762000" y="47053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A8BFB0"/>
                </a:solidFill>
              </a:defRPr>
            </a:pPr>
            <a:r>
              <a:rPr sz="1425" b="0">
                <a:solidFill>
                  <a:srgbClr val="A8BFB0"/>
                </a:solidFill>
              </a:rPr>
              <a:t>Axiom exposes every action before it runs</a:t>
            </a:r>
          </a:p>
        </p:txBody>
      </p:sp>
      <p:sp>
        <p:nvSpPr>
          <p:cNvPr id="9" name="ox-rule">
            <a:extLst xmlns:a="http://schemas.openxmlformats.org/drawingml/2006/main">
              <a:ext uri="{FF2B5EF4-FFF2-40B4-BE49-F238E27FC236}">
                <a16:creationId xmlns:a16="http://schemas.microsoft.com/office/drawing/2014/main" id="{0A9F465A-7823-4495-8DC6-78C43142FC0C}"/>
              </a:ext>
            </a:extLst>
          </p:cNvPr>
          <p:cNvSpPr>
            <a:spLocks xmlns:a="http://schemas.openxmlformats.org/drawingml/2006/main" noGrp="1"/>
          </p:cNvSpPr>
          <p:nvPr/>
        </p:nvSpPr>
        <p:spPr>
          <a:xfrm xmlns:a="http://schemas.openxmlformats.org/drawingml/2006/main">
            <a:off x="762000" y="5448300"/>
            <a:ext cx="1028700" cy="38100"/>
          </a:xfrm>
          <a:prstGeom xmlns:a="http://schemas.openxmlformats.org/drawingml/2006/main" prst="rect">
            <a:avLst/>
          </a:prstGeom>
          <a:solidFill xmlns:a="http://schemas.openxmlformats.org/drawingml/2006/main">
            <a:srgbClr val="8B2333"/>
          </a:solidFill>
          <a:ln xmlns:a="http://schemas.openxmlformats.org/drawingml/2006/main" w="0">
            <a:solidFill>
              <a:srgbClr val="8B2333"/>
            </a:solidFill>
            <a:prstDash val="solid"/>
          </a:ln>
        </p:spPr>
      </p:sp>
      <p:sp>
        <p:nvSpPr>
          <p:cNvPr id="10" name="principle">
            <a:extLst xmlns:a="http://schemas.openxmlformats.org/drawingml/2006/main">
              <a:ext uri="{FF2B5EF4-FFF2-40B4-BE49-F238E27FC236}">
                <a16:creationId xmlns:a16="http://schemas.microsoft.com/office/drawing/2014/main" id="{03BB8CF8-C5C7-4947-9D09-B71614DF7370}"/>
              </a:ext>
            </a:extLst>
          </p:cNvPr>
          <p:cNvSpPr>
            <a:spLocks xmlns:a="http://schemas.openxmlformats.org/drawingml/2006/main" noGrp="1"/>
          </p:cNvSpPr>
          <p:nvPr/>
        </p:nvSpPr>
        <p:spPr>
          <a:xfrm xmlns:a="http://schemas.openxmlformats.org/drawingml/2006/main">
            <a:off x="762000" y="56769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8BFB0"/>
                </a:solidFill>
              </a:defRPr>
            </a:pPr>
            <a:r>
              <a:rPr sz="825" b="1">
                <a:solidFill>
                  <a:srgbClr val="A8BFB0"/>
                </a:solidFill>
              </a:rPr>
              <a:t>MODELS PROPOSE / THE KERNEL DISPOSES</a:t>
            </a:r>
          </a:p>
        </p:txBody>
      </p:sp>
    </p:spTree>
    <p:extLst>
      <p:ext uri="{BB962C8B-B14F-4D97-AF65-F5344CB8AC3E}">
        <p14:creationId xmlns:p14="http://schemas.microsoft.com/office/powerpoint/2010/main" val="430441613"/>
      </p:ext>
    </p:extLst>
  </p:cSld>
</p:sld>
</file>

<file path=ppt/slides/slide5.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sp>
        <p:nvSpPr>
          <p:cNvPr id="19" name="section-5">
            <a:extLst xmlns:a="http://schemas.openxmlformats.org/drawingml/2006/main">
              <a:ext uri="{FF2B5EF4-FFF2-40B4-BE49-F238E27FC236}">
                <a16:creationId xmlns:a16="http://schemas.microsoft.com/office/drawing/2014/main" id="{D4AFDD31-9D98-4720-A966-0809ED70FBD1}"/>
              </a:ext>
            </a:extLst>
          </p:cNvPr>
          <p:cNvSpPr>
            <a:spLocks xmlns:a="http://schemas.openxmlformats.org/drawingml/2006/main" noGrp="1"/>
          </p:cNvSpPr>
          <p:nvPr/>
        </p:nvSpPr>
        <p:spPr>
          <a:xfrm xmlns:a="http://schemas.openxmlformats.org/drawingml/2006/main">
            <a:off x="609600" y="2286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5A665D"/>
                </a:solidFill>
              </a:defRPr>
            </a:pPr>
            <a:r>
              <a:rPr sz="825" b="1">
                <a:solidFill>
                  <a:srgbClr val="5A665D"/>
                </a:solidFill>
              </a:rPr>
              <a:t>CASEZERO / TECHNICAL EXCELLENCE / 20 POINTS</a:t>
            </a:r>
          </a:p>
        </p:txBody>
      </p:sp>
      <p:sp>
        <p:nvSpPr>
          <p:cNvPr id="2" name="page-5">
            <a:extLst xmlns:a="http://schemas.openxmlformats.org/drawingml/2006/main">
              <a:ext uri="{FF2B5EF4-FFF2-40B4-BE49-F238E27FC236}">
                <a16:creationId xmlns:a16="http://schemas.microsoft.com/office/drawing/2014/main" id="{8B5AAF47-BCC5-4696-92CD-098302B56F0E}"/>
              </a:ext>
            </a:extLst>
          </p:cNvPr>
          <p:cNvSpPr>
            <a:spLocks xmlns:a="http://schemas.openxmlformats.org/drawingml/2006/main" noGrp="1"/>
          </p:cNvSpPr>
          <p:nvPr/>
        </p:nvSpPr>
        <p:spPr>
          <a:xfrm xmlns:a="http://schemas.openxmlformats.org/drawingml/2006/main">
            <a:off x="10953750" y="2286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5A665D"/>
                </a:solidFill>
              </a:defRPr>
            </a:pPr>
            <a:r>
              <a:rPr sz="825" b="1">
                <a:solidFill>
                  <a:srgbClr val="5A665D"/>
                </a:solidFill>
              </a:rPr>
              <a:t>05</a:t>
            </a:r>
          </a:p>
        </p:txBody>
      </p:sp>
      <p:sp>
        <p:nvSpPr>
          <p:cNvPr id="3" name="rule-52">
            <a:extLst xmlns:a="http://schemas.openxmlformats.org/drawingml/2006/main">
              <a:ext uri="{FF2B5EF4-FFF2-40B4-BE49-F238E27FC236}">
                <a16:creationId xmlns:a16="http://schemas.microsoft.com/office/drawing/2014/main" id="{E6F81198-1C9F-4319-8236-58C393A14F59}"/>
              </a:ext>
            </a:extLst>
          </p:cNvPr>
          <p:cNvSpPr>
            <a:spLocks xmlns:a="http://schemas.openxmlformats.org/drawingml/2006/main" noGrp="1"/>
          </p:cNvSpPr>
          <p:nvPr/>
        </p:nvSpPr>
        <p:spPr>
          <a:xfrm xmlns:a="http://schemas.openxmlformats.org/drawingml/2006/main">
            <a:off x="609600" y="495300"/>
            <a:ext cx="10972800" cy="19050"/>
          </a:xfrm>
          <a:prstGeom xmlns:a="http://schemas.openxmlformats.org/drawingml/2006/main" prst="rect">
            <a:avLst/>
          </a:prstGeom>
          <a:solidFill xmlns:a="http://schemas.openxmlformats.org/drawingml/2006/main">
            <a:srgbClr val="A8BFB0"/>
          </a:solidFill>
          <a:ln xmlns:a="http://schemas.openxmlformats.org/drawingml/2006/main" w="0">
            <a:solidFill>
              <a:srgbClr val="A8BFB0"/>
            </a:solidFill>
            <a:prstDash val="solid"/>
          </a:ln>
        </p:spPr>
      </p:sp>
      <p:sp>
        <p:nvSpPr>
          <p:cNvPr id="4" name="title">
            <a:extLst xmlns:a="http://schemas.openxmlformats.org/drawingml/2006/main">
              <a:ext uri="{FF2B5EF4-FFF2-40B4-BE49-F238E27FC236}">
                <a16:creationId xmlns:a16="http://schemas.microsoft.com/office/drawing/2014/main" id="{80796488-3D11-4E91-9459-DA734BD869CB}"/>
              </a:ext>
            </a:extLst>
          </p:cNvPr>
          <p:cNvSpPr>
            <a:spLocks xmlns:a="http://schemas.openxmlformats.org/drawingml/2006/main" noGrp="1"/>
          </p:cNvSpPr>
          <p:nvPr/>
        </p:nvSpPr>
        <p:spPr>
          <a:xfrm xmlns:a="http://schemas.openxmlformats.org/drawingml/2006/main">
            <a:off x="609600" y="800100"/>
            <a:ext cx="7524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75" b="1">
                <a:solidFill>
                  <a:srgbClr val="131A15"/>
                </a:solidFill>
              </a:defRPr>
            </a:pPr>
            <a:r>
              <a:rPr sz="3375" b="1">
                <a:solidFill>
                  <a:srgbClr val="131A15"/>
                </a:solidFill>
              </a:rPr>
              <a:t>The model cannot move money.</a:t>
            </a:r>
          </a:p>
        </p:txBody>
      </p:sp>
      <p:sp>
        <p:nvSpPr>
          <p:cNvPr id="5" name="audit-frame">
            <a:extLst xmlns:a="http://schemas.openxmlformats.org/drawingml/2006/main">
              <a:ext uri="{FF2B5EF4-FFF2-40B4-BE49-F238E27FC236}">
                <a16:creationId xmlns:a16="http://schemas.microsoft.com/office/drawing/2014/main" id="{815F9C77-70B0-45EF-951D-21A3B78700BB}"/>
              </a:ext>
            </a:extLst>
          </p:cNvPr>
          <p:cNvSpPr>
            <a:spLocks xmlns:a="http://schemas.openxmlformats.org/drawingml/2006/main" noGrp="1"/>
          </p:cNvSpPr>
          <p:nvPr/>
        </p:nvSpPr>
        <p:spPr>
          <a:xfrm xmlns:a="http://schemas.openxmlformats.org/drawingml/2006/main">
            <a:off x="590550" y="1695450"/>
            <a:ext cx="7429500" cy="4171950"/>
          </a:xfrm>
          <a:prstGeom xmlns:a="http://schemas.openxmlformats.org/drawingml/2006/main" prst="rect">
            <a:avLst/>
          </a:prstGeom>
          <a:solidFill xmlns:a="http://schemas.openxmlformats.org/drawingml/2006/main">
            <a:srgbClr val="0B0F0C"/>
          </a:solidFill>
          <a:ln xmlns:a="http://schemas.openxmlformats.org/drawingml/2006/main" w="9525">
            <a:solidFill>
              <a:srgbClr val="0B0F0C"/>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60fa84cb7914350"/>
          <a:stretch xmlns:a="http://schemas.openxmlformats.org/drawingml/2006/main"/>
        </p:blipFill>
        <p:spPr>
          <a:xfrm xmlns:a="http://schemas.openxmlformats.org/drawingml/2006/main">
            <a:off x="732367" y="1771650"/>
            <a:ext cx="7145867" cy="4019550"/>
          </a:xfrm>
          <a:prstGeom xmlns:a="http://schemas.openxmlformats.org/drawingml/2006/main" prst="rect">
            <a:avLst/>
          </a:prstGeom>
        </p:spPr>
      </p:pic>
      <p:sp>
        <p:nvSpPr>
          <p:cNvPr id="7" name="n-01">
            <a:extLst xmlns:a="http://schemas.openxmlformats.org/drawingml/2006/main">
              <a:ext uri="{FF2B5EF4-FFF2-40B4-BE49-F238E27FC236}">
                <a16:creationId xmlns:a16="http://schemas.microsoft.com/office/drawing/2014/main" id="{6B459D0C-6D12-482F-97B3-A0BE57C800EC}"/>
              </a:ext>
            </a:extLst>
          </p:cNvPr>
          <p:cNvSpPr>
            <a:spLocks xmlns:a="http://schemas.openxmlformats.org/drawingml/2006/main" noGrp="1"/>
          </p:cNvSpPr>
          <p:nvPr/>
        </p:nvSpPr>
        <p:spPr>
          <a:xfrm xmlns:a="http://schemas.openxmlformats.org/drawingml/2006/main">
            <a:off x="8439150" y="18669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365F48"/>
                </a:solidFill>
              </a:defRPr>
            </a:pPr>
            <a:r>
              <a:rPr sz="975" b="1">
                <a:solidFill>
                  <a:srgbClr val="365F48"/>
                </a:solidFill>
              </a:rPr>
              <a:t>01</a:t>
            </a:r>
          </a:p>
        </p:txBody>
      </p:sp>
      <p:sp>
        <p:nvSpPr>
          <p:cNvPr id="8" name="c-01">
            <a:extLst xmlns:a="http://schemas.openxmlformats.org/drawingml/2006/main">
              <a:ext uri="{FF2B5EF4-FFF2-40B4-BE49-F238E27FC236}">
                <a16:creationId xmlns:a16="http://schemas.microsoft.com/office/drawing/2014/main" id="{8755100B-7716-48FA-8B0F-01DA3D0B5448}"/>
              </a:ext>
            </a:extLst>
          </p:cNvPr>
          <p:cNvSpPr>
            <a:spLocks xmlns:a="http://schemas.openxmlformats.org/drawingml/2006/main" noGrp="1"/>
          </p:cNvSpPr>
          <p:nvPr/>
        </p:nvSpPr>
        <p:spPr>
          <a:xfrm xmlns:a="http://schemas.openxmlformats.org/drawingml/2006/main">
            <a:off x="8934450" y="184785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31A15"/>
                </a:solidFill>
              </a:defRPr>
            </a:pPr>
            <a:r>
              <a:rPr sz="1425" b="1">
                <a:solidFill>
                  <a:srgbClr val="131A15"/>
                </a:solidFill>
              </a:rPr>
              <a:t>MCP evidence must return PASS</a:t>
            </a:r>
          </a:p>
        </p:txBody>
      </p:sp>
      <p:sp>
        <p:nvSpPr>
          <p:cNvPr id="9" name="r-01">
            <a:extLst xmlns:a="http://schemas.openxmlformats.org/drawingml/2006/main">
              <a:ext uri="{FF2B5EF4-FFF2-40B4-BE49-F238E27FC236}">
                <a16:creationId xmlns:a16="http://schemas.microsoft.com/office/drawing/2014/main" id="{1680F741-6378-4B08-9690-FD3BE5261690}"/>
              </a:ext>
            </a:extLst>
          </p:cNvPr>
          <p:cNvSpPr>
            <a:spLocks xmlns:a="http://schemas.openxmlformats.org/drawingml/2006/main" noGrp="1"/>
          </p:cNvSpPr>
          <p:nvPr/>
        </p:nvSpPr>
        <p:spPr>
          <a:xfrm xmlns:a="http://schemas.openxmlformats.org/drawingml/2006/main">
            <a:off x="8439150" y="2495550"/>
            <a:ext cx="2971800" cy="9525"/>
          </a:xfrm>
          <a:prstGeom xmlns:a="http://schemas.openxmlformats.org/drawingml/2006/main" prst="rect">
            <a:avLst/>
          </a:prstGeom>
          <a:solidFill xmlns:a="http://schemas.openxmlformats.org/drawingml/2006/main">
            <a:srgbClr val="A8BFB0"/>
          </a:solidFill>
          <a:ln xmlns:a="http://schemas.openxmlformats.org/drawingml/2006/main" w="0">
            <a:solidFill>
              <a:srgbClr val="A8BFB0"/>
            </a:solidFill>
            <a:prstDash val="solid"/>
          </a:ln>
        </p:spPr>
      </p:sp>
      <p:sp>
        <p:nvSpPr>
          <p:cNvPr id="10" name="n-02">
            <a:extLst xmlns:a="http://schemas.openxmlformats.org/drawingml/2006/main">
              <a:ext uri="{FF2B5EF4-FFF2-40B4-BE49-F238E27FC236}">
                <a16:creationId xmlns:a16="http://schemas.microsoft.com/office/drawing/2014/main" id="{56F83B71-0376-4514-8DD0-D2CB4A9AD84C}"/>
              </a:ext>
            </a:extLst>
          </p:cNvPr>
          <p:cNvSpPr>
            <a:spLocks xmlns:a="http://schemas.openxmlformats.org/drawingml/2006/main" noGrp="1"/>
          </p:cNvSpPr>
          <p:nvPr/>
        </p:nvSpPr>
        <p:spPr>
          <a:xfrm xmlns:a="http://schemas.openxmlformats.org/drawingml/2006/main">
            <a:off x="8439150" y="28194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365F48"/>
                </a:solidFill>
              </a:defRPr>
            </a:pPr>
            <a:r>
              <a:rPr sz="975" b="1">
                <a:solidFill>
                  <a:srgbClr val="365F48"/>
                </a:solidFill>
              </a:rPr>
              <a:t>02</a:t>
            </a:r>
          </a:p>
        </p:txBody>
      </p:sp>
      <p:sp>
        <p:nvSpPr>
          <p:cNvPr id="11" name="c-02">
            <a:extLst xmlns:a="http://schemas.openxmlformats.org/drawingml/2006/main">
              <a:ext uri="{FF2B5EF4-FFF2-40B4-BE49-F238E27FC236}">
                <a16:creationId xmlns:a16="http://schemas.microsoft.com/office/drawing/2014/main" id="{4807ED7F-48CC-4E93-9732-0C767F051666}"/>
              </a:ext>
            </a:extLst>
          </p:cNvPr>
          <p:cNvSpPr>
            <a:spLocks xmlns:a="http://schemas.openxmlformats.org/drawingml/2006/main" noGrp="1"/>
          </p:cNvSpPr>
          <p:nvPr/>
        </p:nvSpPr>
        <p:spPr>
          <a:xfrm xmlns:a="http://schemas.openxmlformats.org/drawingml/2006/main">
            <a:off x="8934450" y="280035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31A15"/>
                </a:solidFill>
              </a:defRPr>
            </a:pPr>
            <a:r>
              <a:rPr sz="1425" b="1">
                <a:solidFill>
                  <a:srgbClr val="131A15"/>
                </a:solidFill>
              </a:rPr>
              <a:t>Ticket binds case, amount and expiry</a:t>
            </a:r>
          </a:p>
        </p:txBody>
      </p:sp>
      <p:sp>
        <p:nvSpPr>
          <p:cNvPr id="12" name="r-02">
            <a:extLst xmlns:a="http://schemas.openxmlformats.org/drawingml/2006/main">
              <a:ext uri="{FF2B5EF4-FFF2-40B4-BE49-F238E27FC236}">
                <a16:creationId xmlns:a16="http://schemas.microsoft.com/office/drawing/2014/main" id="{BC4C5177-7832-4AFC-92B3-C81EC2624FAA}"/>
              </a:ext>
            </a:extLst>
          </p:cNvPr>
          <p:cNvSpPr>
            <a:spLocks xmlns:a="http://schemas.openxmlformats.org/drawingml/2006/main" noGrp="1"/>
          </p:cNvSpPr>
          <p:nvPr/>
        </p:nvSpPr>
        <p:spPr>
          <a:xfrm xmlns:a="http://schemas.openxmlformats.org/drawingml/2006/main">
            <a:off x="8439150" y="3448050"/>
            <a:ext cx="2971800" cy="9525"/>
          </a:xfrm>
          <a:prstGeom xmlns:a="http://schemas.openxmlformats.org/drawingml/2006/main" prst="rect">
            <a:avLst/>
          </a:prstGeom>
          <a:solidFill xmlns:a="http://schemas.openxmlformats.org/drawingml/2006/main">
            <a:srgbClr val="A8BFB0"/>
          </a:solidFill>
          <a:ln xmlns:a="http://schemas.openxmlformats.org/drawingml/2006/main" w="0">
            <a:solidFill>
              <a:srgbClr val="A8BFB0"/>
            </a:solidFill>
            <a:prstDash val="solid"/>
          </a:ln>
        </p:spPr>
      </p:sp>
      <p:sp>
        <p:nvSpPr>
          <p:cNvPr id="13" name="n-03">
            <a:extLst xmlns:a="http://schemas.openxmlformats.org/drawingml/2006/main">
              <a:ext uri="{FF2B5EF4-FFF2-40B4-BE49-F238E27FC236}">
                <a16:creationId xmlns:a16="http://schemas.microsoft.com/office/drawing/2014/main" id="{A84B8500-00E6-4159-ADF5-A0FAA9E20158}"/>
              </a:ext>
            </a:extLst>
          </p:cNvPr>
          <p:cNvSpPr>
            <a:spLocks xmlns:a="http://schemas.openxmlformats.org/drawingml/2006/main" noGrp="1"/>
          </p:cNvSpPr>
          <p:nvPr/>
        </p:nvSpPr>
        <p:spPr>
          <a:xfrm xmlns:a="http://schemas.openxmlformats.org/drawingml/2006/main">
            <a:off x="8439150" y="37719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365F48"/>
                </a:solidFill>
              </a:defRPr>
            </a:pPr>
            <a:r>
              <a:rPr sz="975" b="1">
                <a:solidFill>
                  <a:srgbClr val="365F48"/>
                </a:solidFill>
              </a:rPr>
              <a:t>03</a:t>
            </a:r>
          </a:p>
        </p:txBody>
      </p:sp>
      <p:sp>
        <p:nvSpPr>
          <p:cNvPr id="14" name="c-03">
            <a:extLst xmlns:a="http://schemas.openxmlformats.org/drawingml/2006/main">
              <a:ext uri="{FF2B5EF4-FFF2-40B4-BE49-F238E27FC236}">
                <a16:creationId xmlns:a16="http://schemas.microsoft.com/office/drawing/2014/main" id="{9A507719-C79B-4291-BC24-1F1F6E868BA5}"/>
              </a:ext>
            </a:extLst>
          </p:cNvPr>
          <p:cNvSpPr>
            <a:spLocks xmlns:a="http://schemas.openxmlformats.org/drawingml/2006/main" noGrp="1"/>
          </p:cNvSpPr>
          <p:nvPr/>
        </p:nvSpPr>
        <p:spPr>
          <a:xfrm xmlns:a="http://schemas.openxmlformats.org/drawingml/2006/main">
            <a:off x="8934450" y="375285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31A15"/>
                </a:solidFill>
              </a:defRPr>
            </a:pPr>
            <a:r>
              <a:rPr sz="1425" b="1">
                <a:solidFill>
                  <a:srgbClr val="131A15"/>
                </a:solidFill>
              </a:rPr>
              <a:t>Double-entry journal must balance</a:t>
            </a:r>
          </a:p>
        </p:txBody>
      </p:sp>
      <p:sp>
        <p:nvSpPr>
          <p:cNvPr id="15" name="r-03">
            <a:extLst xmlns:a="http://schemas.openxmlformats.org/drawingml/2006/main">
              <a:ext uri="{FF2B5EF4-FFF2-40B4-BE49-F238E27FC236}">
                <a16:creationId xmlns:a16="http://schemas.microsoft.com/office/drawing/2014/main" id="{8DC15EA0-DB41-46DA-90C6-4DAD5664CC71}"/>
              </a:ext>
            </a:extLst>
          </p:cNvPr>
          <p:cNvSpPr>
            <a:spLocks xmlns:a="http://schemas.openxmlformats.org/drawingml/2006/main" noGrp="1"/>
          </p:cNvSpPr>
          <p:nvPr/>
        </p:nvSpPr>
        <p:spPr>
          <a:xfrm xmlns:a="http://schemas.openxmlformats.org/drawingml/2006/main">
            <a:off x="8439150" y="4400550"/>
            <a:ext cx="2971800" cy="9525"/>
          </a:xfrm>
          <a:prstGeom xmlns:a="http://schemas.openxmlformats.org/drawingml/2006/main" prst="rect">
            <a:avLst/>
          </a:prstGeom>
          <a:solidFill xmlns:a="http://schemas.openxmlformats.org/drawingml/2006/main">
            <a:srgbClr val="A8BFB0"/>
          </a:solidFill>
          <a:ln xmlns:a="http://schemas.openxmlformats.org/drawingml/2006/main" w="0">
            <a:solidFill>
              <a:srgbClr val="A8BFB0"/>
            </a:solidFill>
            <a:prstDash val="solid"/>
          </a:ln>
        </p:spPr>
      </p:sp>
      <p:sp>
        <p:nvSpPr>
          <p:cNvPr id="16" name="n-04">
            <a:extLst xmlns:a="http://schemas.openxmlformats.org/drawingml/2006/main">
              <a:ext uri="{FF2B5EF4-FFF2-40B4-BE49-F238E27FC236}">
                <a16:creationId xmlns:a16="http://schemas.microsoft.com/office/drawing/2014/main" id="{C1F4CD75-B7C7-4654-AAFF-4E123ED80080}"/>
              </a:ext>
            </a:extLst>
          </p:cNvPr>
          <p:cNvSpPr>
            <a:spLocks xmlns:a="http://schemas.openxmlformats.org/drawingml/2006/main" noGrp="1"/>
          </p:cNvSpPr>
          <p:nvPr/>
        </p:nvSpPr>
        <p:spPr>
          <a:xfrm xmlns:a="http://schemas.openxmlformats.org/drawingml/2006/main">
            <a:off x="8439150" y="47244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8B2333"/>
                </a:solidFill>
              </a:defRPr>
            </a:pPr>
            <a:r>
              <a:rPr sz="975" b="1">
                <a:solidFill>
                  <a:srgbClr val="8B2333"/>
                </a:solidFill>
              </a:rPr>
              <a:t>04</a:t>
            </a:r>
          </a:p>
        </p:txBody>
      </p:sp>
      <p:sp>
        <p:nvSpPr>
          <p:cNvPr id="17" name="c-04">
            <a:extLst xmlns:a="http://schemas.openxmlformats.org/drawingml/2006/main">
              <a:ext uri="{FF2B5EF4-FFF2-40B4-BE49-F238E27FC236}">
                <a16:creationId xmlns:a16="http://schemas.microsoft.com/office/drawing/2014/main" id="{C781E08C-C594-4F07-8264-88B9B5750BC4}"/>
              </a:ext>
            </a:extLst>
          </p:cNvPr>
          <p:cNvSpPr>
            <a:spLocks xmlns:a="http://schemas.openxmlformats.org/drawingml/2006/main" noGrp="1"/>
          </p:cNvSpPr>
          <p:nvPr/>
        </p:nvSpPr>
        <p:spPr>
          <a:xfrm xmlns:a="http://schemas.openxmlformats.org/drawingml/2006/main">
            <a:off x="8934450" y="470535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31A15"/>
                </a:solidFill>
              </a:defRPr>
            </a:pPr>
            <a:r>
              <a:rPr sz="1425" b="1">
                <a:solidFill>
                  <a:srgbClr val="131A15"/>
                </a:solidFill>
              </a:rPr>
              <a:t>Hash chain names the altered event</a:t>
            </a:r>
          </a:p>
        </p:txBody>
      </p:sp>
      <p:sp>
        <p:nvSpPr>
          <p:cNvPr id="18" name="r-04">
            <a:extLst xmlns:a="http://schemas.openxmlformats.org/drawingml/2006/main">
              <a:ext uri="{FF2B5EF4-FFF2-40B4-BE49-F238E27FC236}">
                <a16:creationId xmlns:a16="http://schemas.microsoft.com/office/drawing/2014/main" id="{5B896206-90A8-4DC0-8A70-F783E711E153}"/>
              </a:ext>
            </a:extLst>
          </p:cNvPr>
          <p:cNvSpPr>
            <a:spLocks xmlns:a="http://schemas.openxmlformats.org/drawingml/2006/main" noGrp="1"/>
          </p:cNvSpPr>
          <p:nvPr/>
        </p:nvSpPr>
        <p:spPr>
          <a:xfrm xmlns:a="http://schemas.openxmlformats.org/drawingml/2006/main">
            <a:off x="8439150" y="5353050"/>
            <a:ext cx="2971800" cy="9525"/>
          </a:xfrm>
          <a:prstGeom xmlns:a="http://schemas.openxmlformats.org/drawingml/2006/main" prst="rect">
            <a:avLst/>
          </a:prstGeom>
          <a:solidFill xmlns:a="http://schemas.openxmlformats.org/drawingml/2006/main">
            <a:srgbClr val="A8BFB0"/>
          </a:solidFill>
          <a:ln xmlns:a="http://schemas.openxmlformats.org/drawingml/2006/main" w="0">
            <a:solidFill>
              <a:srgbClr val="A8BFB0"/>
            </a:solidFill>
            <a:prstDash val="solid"/>
          </a:ln>
        </p:spPr>
      </p:sp>
    </p:spTree>
    <p:extLst>
      <p:ext uri="{BB962C8B-B14F-4D97-AF65-F5344CB8AC3E}">
        <p14:creationId xmlns:p14="http://schemas.microsoft.com/office/powerpoint/2010/main" val="1937298079"/>
      </p:ext>
    </p:extLst>
  </p:cSld>
</p:sld>
</file>

<file path=ppt/slides/slide6.xml><?xml version="1.0" encoding="utf-8"?>
<p:sld xmlns:p="http://schemas.openxmlformats.org/presentationml/2006/main">
  <p:cSld>
    <p:bg>
      <p:bgPr>
        <a:solidFill xmlns:a="http://schemas.openxmlformats.org/drawingml/2006/main">
          <a:srgbClr val="0B0F0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15e8d2bbe14423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op-band">
            <a:extLst xmlns:a="http://schemas.openxmlformats.org/drawingml/2006/main">
              <a:ext uri="{FF2B5EF4-FFF2-40B4-BE49-F238E27FC236}">
                <a16:creationId xmlns:a16="http://schemas.microsoft.com/office/drawing/2014/main" id="{A7A05B46-D3E0-4D9C-BB10-AE9520444B94}"/>
              </a:ext>
            </a:extLst>
          </p:cNvPr>
          <p:cNvSpPr>
            <a:spLocks xmlns:a="http://schemas.openxmlformats.org/drawingml/2006/main" noGrp="1"/>
          </p:cNvSpPr>
          <p:nvPr/>
        </p:nvSpPr>
        <p:spPr>
          <a:xfrm xmlns:a="http://schemas.openxmlformats.org/drawingml/2006/main">
            <a:off x="0" y="0"/>
            <a:ext cx="12192000" cy="1676400"/>
          </a:xfrm>
          <a:prstGeom xmlns:a="http://schemas.openxmlformats.org/drawingml/2006/main" prst="rect">
            <a:avLst/>
          </a:prstGeom>
          <a:solidFill xmlns:a="http://schemas.openxmlformats.org/drawingml/2006/main">
            <a:srgbClr val="0B0F0C"/>
          </a:solidFill>
          <a:ln xmlns:a="http://schemas.openxmlformats.org/drawingml/2006/main" w="0">
            <a:solidFill>
              <a:srgbClr val="0B0F0C"/>
            </a:solidFill>
            <a:prstDash val="solid"/>
          </a:ln>
        </p:spPr>
      </p:sp>
      <p:sp>
        <p:nvSpPr>
          <p:cNvPr id="3" name="eyebrow">
            <a:extLst xmlns:a="http://schemas.openxmlformats.org/drawingml/2006/main">
              <a:ext uri="{FF2B5EF4-FFF2-40B4-BE49-F238E27FC236}">
                <a16:creationId xmlns:a16="http://schemas.microsoft.com/office/drawing/2014/main" id="{C47157CF-1085-4B6A-A645-00AEE86EEDCD}"/>
              </a:ext>
            </a:extLst>
          </p:cNvPr>
          <p:cNvSpPr>
            <a:spLocks xmlns:a="http://schemas.openxmlformats.org/drawingml/2006/main" noGrp="1"/>
          </p:cNvSpPr>
          <p:nvPr/>
        </p:nvSpPr>
        <p:spPr>
          <a:xfrm xmlns:a="http://schemas.openxmlformats.org/drawingml/2006/main">
            <a:off x="609600" y="266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8BFB0"/>
                </a:solidFill>
              </a:defRPr>
            </a:pPr>
            <a:r>
              <a:rPr sz="825" b="1">
                <a:solidFill>
                  <a:srgbClr val="A8BFB0"/>
                </a:solidFill>
              </a:rPr>
              <a:t>USER EXPERIENCE + DEMO / 25 POINTS</a:t>
            </a:r>
          </a:p>
        </p:txBody>
      </p:sp>
      <p:sp>
        <p:nvSpPr>
          <p:cNvPr id="4" name="title">
            <a:extLst xmlns:a="http://schemas.openxmlformats.org/drawingml/2006/main">
              <a:ext uri="{FF2B5EF4-FFF2-40B4-BE49-F238E27FC236}">
                <a16:creationId xmlns:a16="http://schemas.microsoft.com/office/drawing/2014/main" id="{47209A59-B576-4090-87EB-0E3204FA47AE}"/>
              </a:ext>
            </a:extLst>
          </p:cNvPr>
          <p:cNvSpPr>
            <a:spLocks xmlns:a="http://schemas.openxmlformats.org/drawingml/2006/main" noGrp="1"/>
          </p:cNvSpPr>
          <p:nvPr/>
        </p:nvSpPr>
        <p:spPr>
          <a:xfrm xmlns:a="http://schemas.openxmlformats.org/drawingml/2006/main">
            <a:off x="590550" y="533400"/>
            <a:ext cx="723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7FAF7"/>
                </a:solidFill>
              </a:defRPr>
            </a:pPr>
            <a:r>
              <a:rPr sz="3150" b="1">
                <a:solidFill>
                  <a:srgbClr val="F7FAF7"/>
                </a:solidFill>
              </a:rPr>
              <a:t>Ask. Inspect authority. Then act.</a:t>
            </a:r>
          </a:p>
        </p:txBody>
      </p:sp>
      <p:sp>
        <p:nvSpPr>
          <p:cNvPr id="5" name="caption">
            <a:extLst xmlns:a="http://schemas.openxmlformats.org/drawingml/2006/main">
              <a:ext uri="{FF2B5EF4-FFF2-40B4-BE49-F238E27FC236}">
                <a16:creationId xmlns:a16="http://schemas.microsoft.com/office/drawing/2014/main" id="{65B6968A-3B54-4B60-ADD2-A7BA10ECF44A}"/>
              </a:ext>
            </a:extLst>
          </p:cNvPr>
          <p:cNvSpPr>
            <a:spLocks xmlns:a="http://schemas.openxmlformats.org/drawingml/2006/main" noGrp="1"/>
          </p:cNvSpPr>
          <p:nvPr/>
        </p:nvSpPr>
        <p:spPr>
          <a:xfrm xmlns:a="http://schemas.openxmlformats.org/drawingml/2006/main">
            <a:off x="609600" y="6134100"/>
            <a:ext cx="7905750" cy="457200"/>
          </a:xfrm>
          <a:prstGeom xmlns:a="http://schemas.openxmlformats.org/drawingml/2006/main" prst="rect">
            <a:avLst/>
          </a:prstGeom>
          <a:solidFill xmlns:a="http://schemas.openxmlformats.org/drawingml/2006/main">
            <a:srgbClr val="E4EAE5"/>
          </a:solidFill>
          <a:ln xmlns:a="http://schemas.openxmlformats.org/drawingml/2006/main" w="0">
            <a:solidFill>
              <a:srgbClr val="E4EAE5"/>
            </a:solidFill>
            <a:prstDash val="solid"/>
          </a:ln>
        </p:spPr>
      </p:sp>
      <p:sp>
        <p:nvSpPr>
          <p:cNvPr id="6" name="caption-text">
            <a:extLst xmlns:a="http://schemas.openxmlformats.org/drawingml/2006/main">
              <a:ext uri="{FF2B5EF4-FFF2-40B4-BE49-F238E27FC236}">
                <a16:creationId xmlns:a16="http://schemas.microsoft.com/office/drawing/2014/main" id="{172D8038-C253-4F4B-90D5-D153116BBC11}"/>
              </a:ext>
            </a:extLst>
          </p:cNvPr>
          <p:cNvSpPr>
            <a:spLocks xmlns:a="http://schemas.openxmlformats.org/drawingml/2006/main" noGrp="1"/>
          </p:cNvSpPr>
          <p:nvPr/>
        </p:nvSpPr>
        <p:spPr>
          <a:xfrm xmlns:a="http://schemas.openxmlformats.org/drawingml/2006/main">
            <a:off x="781050" y="6257925"/>
            <a:ext cx="752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31A15"/>
                </a:solidFill>
              </a:defRPr>
            </a:pPr>
            <a:r>
              <a:rPr sz="1275" b="1">
                <a:solidFill>
                  <a:srgbClr val="131A15"/>
                </a:solidFill>
              </a:rPr>
              <a:t>Axiom is an action docket - not a chatbot that hides side effects.</a:t>
            </a:r>
          </a:p>
        </p:txBody>
      </p:sp>
    </p:spTree>
    <p:extLst>
      <p:ext uri="{BB962C8B-B14F-4D97-AF65-F5344CB8AC3E}">
        <p14:creationId xmlns:p14="http://schemas.microsoft.com/office/powerpoint/2010/main" val="537040789"/>
      </p:ext>
    </p:extLst>
  </p:cSld>
</p:sld>
</file>

<file path=ppt/slides/slide7.xml><?xml version="1.0" encoding="utf-8"?>
<p:sld xmlns:p="http://schemas.openxmlformats.org/presentationml/2006/main">
  <p:cSld>
    <p:bg>
      <p:bgPr>
        <a:solidFill xmlns:a="http://schemas.openxmlformats.org/drawingml/2006/main">
          <a:srgbClr val="E4EAE5"/>
        </a:solidFill>
      </p:bgPr>
    </p:bg>
    <p:spTree>
      <p:nvGrpSpPr>
        <p:cNvPr id="1" name=""/>
        <p:cNvGrpSpPr/>
        <p:nvPr/>
      </p:nvGrpSpPr>
      <p:grpSpPr>
        <a:xfrm xmlns:a="http://schemas.openxmlformats.org/drawingml/2006/main"/>
      </p:grpSpPr>
      <p:sp>
        <p:nvSpPr>
          <p:cNvPr id="9" name="section-7">
            <a:extLst xmlns:a="http://schemas.openxmlformats.org/drawingml/2006/main">
              <a:ext uri="{FF2B5EF4-FFF2-40B4-BE49-F238E27FC236}">
                <a16:creationId xmlns:a16="http://schemas.microsoft.com/office/drawing/2014/main" id="{1141FE64-E793-4ECE-A2E3-248C784FB673}"/>
              </a:ext>
            </a:extLst>
          </p:cNvPr>
          <p:cNvSpPr>
            <a:spLocks xmlns:a="http://schemas.openxmlformats.org/drawingml/2006/main" noGrp="1"/>
          </p:cNvSpPr>
          <p:nvPr/>
        </p:nvSpPr>
        <p:spPr>
          <a:xfrm xmlns:a="http://schemas.openxmlformats.org/drawingml/2006/main">
            <a:off x="609600" y="2286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5A665D"/>
                </a:solidFill>
              </a:defRPr>
            </a:pPr>
            <a:r>
              <a:rPr sz="825" b="1">
                <a:solidFill>
                  <a:srgbClr val="5A665D"/>
                </a:solidFill>
              </a:rPr>
              <a:t>CASEZERO / CUSTOMER OUTCOME</a:t>
            </a:r>
          </a:p>
        </p:txBody>
      </p:sp>
      <p:sp>
        <p:nvSpPr>
          <p:cNvPr id="2" name="page-7">
            <a:extLst xmlns:a="http://schemas.openxmlformats.org/drawingml/2006/main">
              <a:ext uri="{FF2B5EF4-FFF2-40B4-BE49-F238E27FC236}">
                <a16:creationId xmlns:a16="http://schemas.microsoft.com/office/drawing/2014/main" id="{5E904D73-E66E-49C2-92E6-783D18607ED6}"/>
              </a:ext>
            </a:extLst>
          </p:cNvPr>
          <p:cNvSpPr>
            <a:spLocks xmlns:a="http://schemas.openxmlformats.org/drawingml/2006/main" noGrp="1"/>
          </p:cNvSpPr>
          <p:nvPr/>
        </p:nvSpPr>
        <p:spPr>
          <a:xfrm xmlns:a="http://schemas.openxmlformats.org/drawingml/2006/main">
            <a:off x="10953750" y="2286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5A665D"/>
                </a:solidFill>
              </a:defRPr>
            </a:pPr>
            <a:r>
              <a:rPr sz="825" b="1">
                <a:solidFill>
                  <a:srgbClr val="5A665D"/>
                </a:solidFill>
              </a:rPr>
              <a:t>07</a:t>
            </a:r>
          </a:p>
        </p:txBody>
      </p:sp>
      <p:sp>
        <p:nvSpPr>
          <p:cNvPr id="3" name="rule-52">
            <a:extLst xmlns:a="http://schemas.openxmlformats.org/drawingml/2006/main">
              <a:ext uri="{FF2B5EF4-FFF2-40B4-BE49-F238E27FC236}">
                <a16:creationId xmlns:a16="http://schemas.microsoft.com/office/drawing/2014/main" id="{83465650-C1E1-4953-81F8-A5A7293333E9}"/>
              </a:ext>
            </a:extLst>
          </p:cNvPr>
          <p:cNvSpPr>
            <a:spLocks xmlns:a="http://schemas.openxmlformats.org/drawingml/2006/main" noGrp="1"/>
          </p:cNvSpPr>
          <p:nvPr/>
        </p:nvSpPr>
        <p:spPr>
          <a:xfrm xmlns:a="http://schemas.openxmlformats.org/drawingml/2006/main">
            <a:off x="609600" y="495300"/>
            <a:ext cx="10972800" cy="19050"/>
          </a:xfrm>
          <a:prstGeom xmlns:a="http://schemas.openxmlformats.org/drawingml/2006/main" prst="rect">
            <a:avLst/>
          </a:prstGeom>
          <a:solidFill xmlns:a="http://schemas.openxmlformats.org/drawingml/2006/main">
            <a:srgbClr val="A8BFB0"/>
          </a:solidFill>
          <a:ln xmlns:a="http://schemas.openxmlformats.org/drawingml/2006/main" w="0">
            <a:solidFill>
              <a:srgbClr val="A8BFB0"/>
            </a:solidFill>
            <a:prstDash val="solid"/>
          </a:ln>
        </p:spPr>
      </p:sp>
      <p:sp>
        <p:nvSpPr>
          <p:cNvPr id="4" name="title">
            <a:extLst xmlns:a="http://schemas.openxmlformats.org/drawingml/2006/main">
              <a:ext uri="{FF2B5EF4-FFF2-40B4-BE49-F238E27FC236}">
                <a16:creationId xmlns:a16="http://schemas.microsoft.com/office/drawing/2014/main" id="{E392C0DD-3F6E-4593-ACBE-F69CE3CF1D16}"/>
              </a:ext>
            </a:extLst>
          </p:cNvPr>
          <p:cNvSpPr>
            <a:spLocks xmlns:a="http://schemas.openxmlformats.org/drawingml/2006/main" noGrp="1"/>
          </p:cNvSpPr>
          <p:nvPr/>
        </p:nvSpPr>
        <p:spPr>
          <a:xfrm xmlns:a="http://schemas.openxmlformats.org/drawingml/2006/main">
            <a:off x="609600" y="876300"/>
            <a:ext cx="619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75" b="1">
                <a:solidFill>
                  <a:srgbClr val="131A15"/>
                </a:solidFill>
              </a:defRPr>
            </a:pPr>
            <a:r>
              <a:rPr sz="3675" b="1">
                <a:solidFill>
                  <a:srgbClr val="131A15"/>
                </a:solidFill>
              </a:rPr>
              <a:t>The customer sees the outcome, not the machinery.</a:t>
            </a:r>
          </a:p>
        </p:txBody>
      </p:sp>
      <p:sp>
        <p:nvSpPr>
          <p:cNvPr id="5" name="amount">
            <a:extLst xmlns:a="http://schemas.openxmlformats.org/drawingml/2006/main">
              <a:ext uri="{FF2B5EF4-FFF2-40B4-BE49-F238E27FC236}">
                <a16:creationId xmlns:a16="http://schemas.microsoft.com/office/drawing/2014/main" id="{12DA323C-6E36-4A03-A26B-C82D072B916D}"/>
              </a:ext>
            </a:extLst>
          </p:cNvPr>
          <p:cNvSpPr>
            <a:spLocks xmlns:a="http://schemas.openxmlformats.org/drawingml/2006/main" noGrp="1"/>
          </p:cNvSpPr>
          <p:nvPr/>
        </p:nvSpPr>
        <p:spPr>
          <a:xfrm xmlns:a="http://schemas.openxmlformats.org/drawingml/2006/main">
            <a:off x="666750" y="2762250"/>
            <a:ext cx="400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365F48"/>
                </a:solidFill>
              </a:defRPr>
            </a:pPr>
            <a:r>
              <a:rPr sz="3600" b="1">
                <a:solidFill>
                  <a:srgbClr val="365F48"/>
                </a:solidFill>
              </a:rPr>
              <a:t>RM 2,450</a:t>
            </a:r>
          </a:p>
        </p:txBody>
      </p:sp>
      <p:sp>
        <p:nvSpPr>
          <p:cNvPr id="6" name="labels">
            <a:extLst xmlns:a="http://schemas.openxmlformats.org/drawingml/2006/main">
              <a:ext uri="{FF2B5EF4-FFF2-40B4-BE49-F238E27FC236}">
                <a16:creationId xmlns:a16="http://schemas.microsoft.com/office/drawing/2014/main" id="{CE6EFA4F-E957-43B5-9938-3E3D26D17F90}"/>
              </a:ext>
            </a:extLst>
          </p:cNvPr>
          <p:cNvSpPr>
            <a:spLocks xmlns:a="http://schemas.openxmlformats.org/drawingml/2006/main" noGrp="1"/>
          </p:cNvSpPr>
          <p:nvPr/>
        </p:nvSpPr>
        <p:spPr>
          <a:xfrm xmlns:a="http://schemas.openxmlformats.org/drawingml/2006/main">
            <a:off x="685800" y="3714750"/>
            <a:ext cx="4476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5A665D"/>
                </a:solidFill>
              </a:defRPr>
            </a:pPr>
            <a:r>
              <a:rPr sz="1650" b="1">
                <a:solidFill>
                  <a:srgbClr val="5A665D"/>
                </a:solidFill>
              </a:rPr>
              <a:t>returned after PASS verification</a:t>
            </a:r>
          </a:p>
          <a:p xmlns:a="http://schemas.openxmlformats.org/drawingml/2006/main">
            <a:pPr>
              <a:defRPr sz="1650" b="1">
                <a:solidFill>
                  <a:srgbClr val="5A665D"/>
                </a:solidFill>
              </a:defRPr>
            </a:pPr>
            <a:r>
              <a:rPr sz="1650" b="1">
                <a:solidFill>
                  <a:srgbClr val="5A665D"/>
                </a:solidFill>
              </a:rPr>
              <a:t>plain-language case tracker</a:t>
            </a:r>
          </a:p>
          <a:p xmlns:a="http://schemas.openxmlformats.org/drawingml/2006/main">
            <a:pPr>
              <a:defRPr sz="1650" b="1">
                <a:solidFill>
                  <a:srgbClr val="5A665D"/>
                </a:solidFill>
              </a:defRPr>
            </a:pPr>
            <a:r>
              <a:rPr sz="1650" b="1">
                <a:solidFill>
                  <a:srgbClr val="5A665D"/>
                </a:solidFill>
              </a:rPr>
              <a:t>FMOS referral rights preserved</a:t>
            </a:r>
          </a:p>
        </p:txBody>
      </p:sp>
      <p:sp>
        <p:nvSpPr>
          <p:cNvPr id="7" name="phone-ground">
            <a:extLst xmlns:a="http://schemas.openxmlformats.org/drawingml/2006/main">
              <a:ext uri="{FF2B5EF4-FFF2-40B4-BE49-F238E27FC236}">
                <a16:creationId xmlns:a16="http://schemas.microsoft.com/office/drawing/2014/main" id="{30F8FAB9-DE22-4E0B-8C4C-FFEDBA8B6ED5}"/>
              </a:ext>
            </a:extLst>
          </p:cNvPr>
          <p:cNvSpPr>
            <a:spLocks xmlns:a="http://schemas.openxmlformats.org/drawingml/2006/main" noGrp="1"/>
          </p:cNvSpPr>
          <p:nvPr/>
        </p:nvSpPr>
        <p:spPr>
          <a:xfrm xmlns:a="http://schemas.openxmlformats.org/drawingml/2006/main">
            <a:off x="7200900" y="762000"/>
            <a:ext cx="4095750" cy="5467350"/>
          </a:xfrm>
          <a:prstGeom xmlns:a="http://schemas.openxmlformats.org/drawingml/2006/main" prst="rect">
            <a:avLst/>
          </a:prstGeom>
          <a:solidFill xmlns:a="http://schemas.openxmlformats.org/drawingml/2006/main">
            <a:srgbClr val="F2F5F2"/>
          </a:solidFill>
          <a:ln xmlns:a="http://schemas.openxmlformats.org/drawingml/2006/main" w="9525">
            <a:solidFill>
              <a:srgbClr val="131A15"/>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fc5855fe16c4bbe"/>
          <a:stretch xmlns:a="http://schemas.openxmlformats.org/drawingml/2006/main"/>
        </p:blipFill>
        <p:spPr>
          <a:xfrm xmlns:a="http://schemas.openxmlformats.org/drawingml/2006/main">
            <a:off x="7543800" y="938213"/>
            <a:ext cx="3409950" cy="5114925"/>
          </a:xfrm>
          <a:prstGeom xmlns:a="http://schemas.openxmlformats.org/drawingml/2006/main" prst="rect">
            <a:avLst/>
          </a:prstGeom>
        </p:spPr>
      </p:pic>
    </p:spTree>
    <p:extLst>
      <p:ext uri="{BB962C8B-B14F-4D97-AF65-F5344CB8AC3E}">
        <p14:creationId xmlns:p14="http://schemas.microsoft.com/office/powerpoint/2010/main" val="217944766"/>
      </p:ext>
    </p:extLst>
  </p:cSld>
</p:sld>
</file>

<file path=ppt/slides/slide8.xml><?xml version="1.0" encoding="utf-8"?>
<p:sld xmlns:p="http://schemas.openxmlformats.org/presentationml/2006/main">
  <p:cSld>
    <p:bg>
      <p:bgPr>
        <a:solidFill xmlns:a="http://schemas.openxmlformats.org/drawingml/2006/main">
          <a:srgbClr val="0B0F0C"/>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BC340D0A-58A1-4C9A-B7B9-99CB505F8F72}"/>
              </a:ext>
            </a:extLst>
          </p:cNvPr>
          <p:cNvSpPr>
            <a:spLocks xmlns:a="http://schemas.openxmlformats.org/drawingml/2006/main" noGrp="1"/>
          </p:cNvSpPr>
          <p:nvPr/>
        </p:nvSpPr>
        <p:spPr>
          <a:xfrm xmlns:a="http://schemas.openxmlformats.org/drawingml/2006/main">
            <a:off x="609600" y="476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A8BFB0"/>
                </a:solidFill>
              </a:defRPr>
            </a:pPr>
            <a:r>
              <a:rPr sz="900" b="1">
                <a:solidFill>
                  <a:srgbClr val="A8BFB0"/>
                </a:solidFill>
              </a:rPr>
              <a:t>RELEASE EVIDENCE</a:t>
            </a:r>
          </a:p>
        </p:txBody>
      </p:sp>
      <p:sp>
        <p:nvSpPr>
          <p:cNvPr id="2" name="title">
            <a:extLst xmlns:a="http://schemas.openxmlformats.org/drawingml/2006/main">
              <a:ext uri="{FF2B5EF4-FFF2-40B4-BE49-F238E27FC236}">
                <a16:creationId xmlns:a16="http://schemas.microsoft.com/office/drawing/2014/main" id="{FB416C4A-58E7-4EBD-A66D-993B5190789F}"/>
              </a:ext>
            </a:extLst>
          </p:cNvPr>
          <p:cNvSpPr>
            <a:spLocks xmlns:a="http://schemas.openxmlformats.org/drawingml/2006/main" noGrp="1"/>
          </p:cNvSpPr>
          <p:nvPr/>
        </p:nvSpPr>
        <p:spPr>
          <a:xfrm xmlns:a="http://schemas.openxmlformats.org/drawingml/2006/main">
            <a:off x="590550" y="914400"/>
            <a:ext cx="7620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750" b="1">
                <a:solidFill>
                  <a:srgbClr val="F7FAF7"/>
                </a:solidFill>
              </a:defRPr>
            </a:pPr>
            <a:r>
              <a:rPr sz="3750" b="1">
                <a:solidFill>
                  <a:srgbClr val="F7FAF7"/>
                </a:solidFill>
              </a:rPr>
              <a:t>Measured, not merely demonstrated.</a:t>
            </a:r>
          </a:p>
        </p:txBody>
      </p:sp>
      <p:sp>
        <p:nvSpPr>
          <p:cNvPr id="3" name="metric-0">
            <a:extLst xmlns:a="http://schemas.openxmlformats.org/drawingml/2006/main">
              <a:ext uri="{FF2B5EF4-FFF2-40B4-BE49-F238E27FC236}">
                <a16:creationId xmlns:a16="http://schemas.microsoft.com/office/drawing/2014/main" id="{EAE5605B-47CA-4341-9764-39194C42D4D7}"/>
              </a:ext>
            </a:extLst>
          </p:cNvPr>
          <p:cNvSpPr>
            <a:spLocks xmlns:a="http://schemas.openxmlformats.org/drawingml/2006/main" noGrp="1"/>
          </p:cNvSpPr>
          <p:nvPr/>
        </p:nvSpPr>
        <p:spPr>
          <a:xfrm xmlns:a="http://schemas.openxmlformats.org/drawingml/2006/main">
            <a:off x="609600" y="2514600"/>
            <a:ext cx="2400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7FAF7"/>
                </a:solidFill>
              </a:defRPr>
            </a:pPr>
            <a:r>
              <a:rPr sz="3900" b="1">
                <a:solidFill>
                  <a:srgbClr val="F7FAF7"/>
                </a:solidFill>
              </a:rPr>
              <a:t>95.90%</a:t>
            </a:r>
          </a:p>
        </p:txBody>
      </p:sp>
      <p:sp>
        <p:nvSpPr>
          <p:cNvPr id="4" name="metric-label-0">
            <a:extLst xmlns:a="http://schemas.openxmlformats.org/drawingml/2006/main">
              <a:ext uri="{FF2B5EF4-FFF2-40B4-BE49-F238E27FC236}">
                <a16:creationId xmlns:a16="http://schemas.microsoft.com/office/drawing/2014/main" id="{3C378A21-9B68-4DAA-B591-DE39133A8991}"/>
              </a:ext>
            </a:extLst>
          </p:cNvPr>
          <p:cNvSpPr>
            <a:spLocks xmlns:a="http://schemas.openxmlformats.org/drawingml/2006/main" noGrp="1"/>
          </p:cNvSpPr>
          <p:nvPr/>
        </p:nvSpPr>
        <p:spPr>
          <a:xfrm xmlns:a="http://schemas.openxmlformats.org/drawingml/2006/main">
            <a:off x="628650" y="35242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A8BFB0"/>
                </a:solidFill>
              </a:defRPr>
            </a:pPr>
            <a:r>
              <a:rPr sz="1350" b="1">
                <a:solidFill>
                  <a:srgbClr val="A8BFB0"/>
                </a:solidFill>
              </a:rPr>
              <a:t>category accuracy</a:t>
            </a:r>
          </a:p>
        </p:txBody>
      </p:sp>
      <p:sp>
        <p:nvSpPr>
          <p:cNvPr id="5" name="metric-rule-0">
            <a:extLst xmlns:a="http://schemas.openxmlformats.org/drawingml/2006/main">
              <a:ext uri="{FF2B5EF4-FFF2-40B4-BE49-F238E27FC236}">
                <a16:creationId xmlns:a16="http://schemas.microsoft.com/office/drawing/2014/main" id="{2B3A2C78-8F44-489A-9280-F11566B0D22E}"/>
              </a:ext>
            </a:extLst>
          </p:cNvPr>
          <p:cNvSpPr>
            <a:spLocks xmlns:a="http://schemas.openxmlformats.org/drawingml/2006/main" noGrp="1"/>
          </p:cNvSpPr>
          <p:nvPr/>
        </p:nvSpPr>
        <p:spPr>
          <a:xfrm xmlns:a="http://schemas.openxmlformats.org/drawingml/2006/main">
            <a:off x="609600" y="4152900"/>
            <a:ext cx="2247900" cy="28575"/>
          </a:xfrm>
          <a:prstGeom xmlns:a="http://schemas.openxmlformats.org/drawingml/2006/main" prst="rect">
            <a:avLst/>
          </a:prstGeom>
          <a:solidFill xmlns:a="http://schemas.openxmlformats.org/drawingml/2006/main">
            <a:srgbClr val="365F48"/>
          </a:solidFill>
          <a:ln xmlns:a="http://schemas.openxmlformats.org/drawingml/2006/main" w="0">
            <a:solidFill>
              <a:srgbClr val="365F48"/>
            </a:solidFill>
            <a:prstDash val="solid"/>
          </a:ln>
        </p:spPr>
      </p:sp>
      <p:sp>
        <p:nvSpPr>
          <p:cNvPr id="6" name="metric-1">
            <a:extLst xmlns:a="http://schemas.openxmlformats.org/drawingml/2006/main">
              <a:ext uri="{FF2B5EF4-FFF2-40B4-BE49-F238E27FC236}">
                <a16:creationId xmlns:a16="http://schemas.microsoft.com/office/drawing/2014/main" id="{46C33799-0FC8-422A-97B5-575A430401AB}"/>
              </a:ext>
            </a:extLst>
          </p:cNvPr>
          <p:cNvSpPr>
            <a:spLocks xmlns:a="http://schemas.openxmlformats.org/drawingml/2006/main" noGrp="1"/>
          </p:cNvSpPr>
          <p:nvPr/>
        </p:nvSpPr>
        <p:spPr>
          <a:xfrm xmlns:a="http://schemas.openxmlformats.org/drawingml/2006/main">
            <a:off x="3467100" y="2514600"/>
            <a:ext cx="2400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7FAF7"/>
                </a:solidFill>
              </a:defRPr>
            </a:pPr>
            <a:r>
              <a:rPr sz="3900" b="1">
                <a:solidFill>
                  <a:srgbClr val="F7FAF7"/>
                </a:solidFill>
              </a:rPr>
              <a:t>98.97%</a:t>
            </a:r>
          </a:p>
        </p:txBody>
      </p:sp>
      <p:sp>
        <p:nvSpPr>
          <p:cNvPr id="7" name="metric-label-1">
            <a:extLst xmlns:a="http://schemas.openxmlformats.org/drawingml/2006/main">
              <a:ext uri="{FF2B5EF4-FFF2-40B4-BE49-F238E27FC236}">
                <a16:creationId xmlns:a16="http://schemas.microsoft.com/office/drawing/2014/main" id="{30DAF01E-CB7F-4D66-A34A-2A3D43823E47}"/>
              </a:ext>
            </a:extLst>
          </p:cNvPr>
          <p:cNvSpPr>
            <a:spLocks xmlns:a="http://schemas.openxmlformats.org/drawingml/2006/main" noGrp="1"/>
          </p:cNvSpPr>
          <p:nvPr/>
        </p:nvSpPr>
        <p:spPr>
          <a:xfrm xmlns:a="http://schemas.openxmlformats.org/drawingml/2006/main">
            <a:off x="3486150" y="35242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A8BFB0"/>
                </a:solidFill>
              </a:defRPr>
            </a:pPr>
            <a:r>
              <a:rPr sz="1350" b="1">
                <a:solidFill>
                  <a:srgbClr val="A8BFB0"/>
                </a:solidFill>
              </a:rPr>
              <a:t>urgency accuracy</a:t>
            </a:r>
          </a:p>
        </p:txBody>
      </p:sp>
      <p:sp>
        <p:nvSpPr>
          <p:cNvPr id="8" name="metric-rule-1">
            <a:extLst xmlns:a="http://schemas.openxmlformats.org/drawingml/2006/main">
              <a:ext uri="{FF2B5EF4-FFF2-40B4-BE49-F238E27FC236}">
                <a16:creationId xmlns:a16="http://schemas.microsoft.com/office/drawing/2014/main" id="{61F05C3C-8890-41CD-A0BA-D8A4CD135E84}"/>
              </a:ext>
            </a:extLst>
          </p:cNvPr>
          <p:cNvSpPr>
            <a:spLocks xmlns:a="http://schemas.openxmlformats.org/drawingml/2006/main" noGrp="1"/>
          </p:cNvSpPr>
          <p:nvPr/>
        </p:nvSpPr>
        <p:spPr>
          <a:xfrm xmlns:a="http://schemas.openxmlformats.org/drawingml/2006/main">
            <a:off x="3467100" y="4152900"/>
            <a:ext cx="2247900" cy="28575"/>
          </a:xfrm>
          <a:prstGeom xmlns:a="http://schemas.openxmlformats.org/drawingml/2006/main" prst="rect">
            <a:avLst/>
          </a:prstGeom>
          <a:solidFill xmlns:a="http://schemas.openxmlformats.org/drawingml/2006/main">
            <a:srgbClr val="365F48"/>
          </a:solidFill>
          <a:ln xmlns:a="http://schemas.openxmlformats.org/drawingml/2006/main" w="0">
            <a:solidFill>
              <a:srgbClr val="365F48"/>
            </a:solidFill>
            <a:prstDash val="solid"/>
          </a:ln>
        </p:spPr>
      </p:sp>
      <p:sp>
        <p:nvSpPr>
          <p:cNvPr id="9" name="metric-2">
            <a:extLst xmlns:a="http://schemas.openxmlformats.org/drawingml/2006/main">
              <a:ext uri="{FF2B5EF4-FFF2-40B4-BE49-F238E27FC236}">
                <a16:creationId xmlns:a16="http://schemas.microsoft.com/office/drawing/2014/main" id="{C88743C4-5097-40C1-AC12-A6AFF5F98E97}"/>
              </a:ext>
            </a:extLst>
          </p:cNvPr>
          <p:cNvSpPr>
            <a:spLocks xmlns:a="http://schemas.openxmlformats.org/drawingml/2006/main" noGrp="1"/>
          </p:cNvSpPr>
          <p:nvPr/>
        </p:nvSpPr>
        <p:spPr>
          <a:xfrm xmlns:a="http://schemas.openxmlformats.org/drawingml/2006/main">
            <a:off x="6324600" y="2514600"/>
            <a:ext cx="2400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E4EAE5"/>
                </a:solidFill>
              </a:defRPr>
            </a:pPr>
            <a:r>
              <a:rPr sz="3900" b="1">
                <a:solidFill>
                  <a:srgbClr val="E4EAE5"/>
                </a:solidFill>
              </a:rPr>
              <a:t>5 / 5</a:t>
            </a:r>
          </a:p>
        </p:txBody>
      </p:sp>
      <p:sp>
        <p:nvSpPr>
          <p:cNvPr id="10" name="metric-label-2">
            <a:extLst xmlns:a="http://schemas.openxmlformats.org/drawingml/2006/main">
              <a:ext uri="{FF2B5EF4-FFF2-40B4-BE49-F238E27FC236}">
                <a16:creationId xmlns:a16="http://schemas.microsoft.com/office/drawing/2014/main" id="{9B26782D-69E1-4BDB-BA54-60522FBCD743}"/>
              </a:ext>
            </a:extLst>
          </p:cNvPr>
          <p:cNvSpPr>
            <a:spLocks xmlns:a="http://schemas.openxmlformats.org/drawingml/2006/main" noGrp="1"/>
          </p:cNvSpPr>
          <p:nvPr/>
        </p:nvSpPr>
        <p:spPr>
          <a:xfrm xmlns:a="http://schemas.openxmlformats.org/drawingml/2006/main">
            <a:off x="6343650" y="35242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A8BFB0"/>
                </a:solidFill>
              </a:defRPr>
            </a:pPr>
            <a:r>
              <a:rPr sz="1350" b="1">
                <a:solidFill>
                  <a:srgbClr val="A8BFB0"/>
                </a:solidFill>
              </a:rPr>
              <a:t>attacks blocked</a:t>
            </a:r>
          </a:p>
        </p:txBody>
      </p:sp>
      <p:sp>
        <p:nvSpPr>
          <p:cNvPr id="11" name="metric-rule-2">
            <a:extLst xmlns:a="http://schemas.openxmlformats.org/drawingml/2006/main">
              <a:ext uri="{FF2B5EF4-FFF2-40B4-BE49-F238E27FC236}">
                <a16:creationId xmlns:a16="http://schemas.microsoft.com/office/drawing/2014/main" id="{EBC1989F-59CF-408F-A011-0AD40F6CF2FA}"/>
              </a:ext>
            </a:extLst>
          </p:cNvPr>
          <p:cNvSpPr>
            <a:spLocks xmlns:a="http://schemas.openxmlformats.org/drawingml/2006/main" noGrp="1"/>
          </p:cNvSpPr>
          <p:nvPr/>
        </p:nvSpPr>
        <p:spPr>
          <a:xfrm xmlns:a="http://schemas.openxmlformats.org/drawingml/2006/main">
            <a:off x="6324600" y="4152900"/>
            <a:ext cx="2247900" cy="28575"/>
          </a:xfrm>
          <a:prstGeom xmlns:a="http://schemas.openxmlformats.org/drawingml/2006/main" prst="rect">
            <a:avLst/>
          </a:prstGeom>
          <a:solidFill xmlns:a="http://schemas.openxmlformats.org/drawingml/2006/main">
            <a:srgbClr val="8B2333"/>
          </a:solidFill>
          <a:ln xmlns:a="http://schemas.openxmlformats.org/drawingml/2006/main" w="0">
            <a:solidFill>
              <a:srgbClr val="8B2333"/>
            </a:solidFill>
            <a:prstDash val="solid"/>
          </a:ln>
        </p:spPr>
      </p:sp>
      <p:sp>
        <p:nvSpPr>
          <p:cNvPr id="12" name="metric-3">
            <a:extLst xmlns:a="http://schemas.openxmlformats.org/drawingml/2006/main">
              <a:ext uri="{FF2B5EF4-FFF2-40B4-BE49-F238E27FC236}">
                <a16:creationId xmlns:a16="http://schemas.microsoft.com/office/drawing/2014/main" id="{C77F4ECB-8EB7-4FF1-B5E8-DB22D7A0B645}"/>
              </a:ext>
            </a:extLst>
          </p:cNvPr>
          <p:cNvSpPr>
            <a:spLocks xmlns:a="http://schemas.openxmlformats.org/drawingml/2006/main" noGrp="1"/>
          </p:cNvSpPr>
          <p:nvPr/>
        </p:nvSpPr>
        <p:spPr>
          <a:xfrm xmlns:a="http://schemas.openxmlformats.org/drawingml/2006/main">
            <a:off x="9182100" y="2514600"/>
            <a:ext cx="2400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7FAF7"/>
                </a:solidFill>
              </a:defRPr>
            </a:pPr>
            <a:r>
              <a:rPr sz="3900" b="1">
                <a:solidFill>
                  <a:srgbClr val="F7FAF7"/>
                </a:solidFill>
              </a:rPr>
              <a:t>465</a:t>
            </a:r>
          </a:p>
        </p:txBody>
      </p:sp>
      <p:sp>
        <p:nvSpPr>
          <p:cNvPr id="13" name="metric-label-3">
            <a:extLst xmlns:a="http://schemas.openxmlformats.org/drawingml/2006/main">
              <a:ext uri="{FF2B5EF4-FFF2-40B4-BE49-F238E27FC236}">
                <a16:creationId xmlns:a16="http://schemas.microsoft.com/office/drawing/2014/main" id="{87080E5C-B5EC-4226-A2A5-67F4997AD6E6}"/>
              </a:ext>
            </a:extLst>
          </p:cNvPr>
          <p:cNvSpPr>
            <a:spLocks xmlns:a="http://schemas.openxmlformats.org/drawingml/2006/main" noGrp="1"/>
          </p:cNvSpPr>
          <p:nvPr/>
        </p:nvSpPr>
        <p:spPr>
          <a:xfrm xmlns:a="http://schemas.openxmlformats.org/drawingml/2006/main">
            <a:off x="9201150" y="35242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A8BFB0"/>
                </a:solidFill>
              </a:defRPr>
            </a:pPr>
            <a:r>
              <a:rPr sz="1350" b="1">
                <a:solidFill>
                  <a:srgbClr val="A8BFB0"/>
                </a:solidFill>
              </a:rPr>
              <a:t>backend tests</a:t>
            </a:r>
          </a:p>
        </p:txBody>
      </p:sp>
      <p:sp>
        <p:nvSpPr>
          <p:cNvPr id="14" name="metric-rule-3">
            <a:extLst xmlns:a="http://schemas.openxmlformats.org/drawingml/2006/main">
              <a:ext uri="{FF2B5EF4-FFF2-40B4-BE49-F238E27FC236}">
                <a16:creationId xmlns:a16="http://schemas.microsoft.com/office/drawing/2014/main" id="{51DE82E6-0ED8-4202-A8F2-031946C2A8AC}"/>
              </a:ext>
            </a:extLst>
          </p:cNvPr>
          <p:cNvSpPr>
            <a:spLocks xmlns:a="http://schemas.openxmlformats.org/drawingml/2006/main" noGrp="1"/>
          </p:cNvSpPr>
          <p:nvPr/>
        </p:nvSpPr>
        <p:spPr>
          <a:xfrm xmlns:a="http://schemas.openxmlformats.org/drawingml/2006/main">
            <a:off x="9182100" y="4152900"/>
            <a:ext cx="2247900" cy="28575"/>
          </a:xfrm>
          <a:prstGeom xmlns:a="http://schemas.openxmlformats.org/drawingml/2006/main" prst="rect">
            <a:avLst/>
          </a:prstGeom>
          <a:solidFill xmlns:a="http://schemas.openxmlformats.org/drawingml/2006/main">
            <a:srgbClr val="365F48"/>
          </a:solidFill>
          <a:ln xmlns:a="http://schemas.openxmlformats.org/drawingml/2006/main" w="0">
            <a:solidFill>
              <a:srgbClr val="365F48"/>
            </a:solidFill>
            <a:prstDash val="solid"/>
          </a:ln>
        </p:spPr>
      </p:sp>
      <p:sp>
        <p:nvSpPr>
          <p:cNvPr id="15" name="latency">
            <a:extLst xmlns:a="http://schemas.openxmlformats.org/drawingml/2006/main">
              <a:ext uri="{FF2B5EF4-FFF2-40B4-BE49-F238E27FC236}">
                <a16:creationId xmlns:a16="http://schemas.microsoft.com/office/drawing/2014/main" id="{66C47376-2205-4195-AFB8-8F5FBFF6AA04}"/>
              </a:ext>
            </a:extLst>
          </p:cNvPr>
          <p:cNvSpPr>
            <a:spLocks xmlns:a="http://schemas.openxmlformats.org/drawingml/2006/main" noGrp="1"/>
          </p:cNvSpPr>
          <p:nvPr/>
        </p:nvSpPr>
        <p:spPr>
          <a:xfrm xmlns:a="http://schemas.openxmlformats.org/drawingml/2006/main">
            <a:off x="609600" y="51244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E4EAE5"/>
                </a:solidFill>
              </a:defRPr>
            </a:pPr>
            <a:r>
              <a:rPr sz="1050" b="1">
                <a:solidFill>
                  <a:srgbClr val="E4EAE5"/>
                </a:solidFill>
              </a:rPr>
              <a:t>p50 2.616s   /   p95 4.626s   /   RM0.001025 per case   /   0 npm vulnerabilities</a:t>
            </a:r>
          </a:p>
        </p:txBody>
      </p:sp>
      <p:sp>
        <p:nvSpPr>
          <p:cNvPr id="16" name="qualifier">
            <a:extLst xmlns:a="http://schemas.openxmlformats.org/drawingml/2006/main">
              <a:ext uri="{FF2B5EF4-FFF2-40B4-BE49-F238E27FC236}">
                <a16:creationId xmlns:a16="http://schemas.microsoft.com/office/drawing/2014/main" id="{88896892-5E8C-43E1-92D9-25C08ADDAA6C}"/>
              </a:ext>
            </a:extLst>
          </p:cNvPr>
          <p:cNvSpPr>
            <a:spLocks xmlns:a="http://schemas.openxmlformats.org/drawingml/2006/main" noGrp="1"/>
          </p:cNvSpPr>
          <p:nvPr/>
        </p:nvSpPr>
        <p:spPr>
          <a:xfrm xmlns:a="http://schemas.openxmlformats.org/drawingml/2006/main">
            <a:off x="609600" y="5600700"/>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A8BFB0"/>
                </a:solidFill>
              </a:defRPr>
            </a:pPr>
            <a:r>
              <a:rPr sz="1200">
                <a:solidFill>
                  <a:srgbClr val="A8BFB0"/>
                </a:solidFill>
              </a:rPr>
              <a:t>195 clean cases + 5 injection attacks / persisted live-model evaluation</a:t>
            </a:r>
          </a:p>
        </p:txBody>
      </p:sp>
    </p:spTree>
    <p:extLst>
      <p:ext uri="{BB962C8B-B14F-4D97-AF65-F5344CB8AC3E}">
        <p14:creationId xmlns:p14="http://schemas.microsoft.com/office/powerpoint/2010/main" val="374808181"/>
      </p:ext>
    </p:extLst>
  </p:cSld>
</p:sld>
</file>

<file path=ppt/slides/slide9.xml><?xml version="1.0" encoding="utf-8"?>
<p:sld xmlns:p="http://schemas.openxmlformats.org/presentationml/2006/main">
  <p:cSld>
    <p:bg>
      <p:bgPr>
        <a:solidFill xmlns:a="http://schemas.openxmlformats.org/drawingml/2006/main">
          <a:srgbClr val="F2F5F2"/>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a52b17ae6bf4f3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alue-paper">
            <a:extLst xmlns:a="http://schemas.openxmlformats.org/drawingml/2006/main">
              <a:ext uri="{FF2B5EF4-FFF2-40B4-BE49-F238E27FC236}">
                <a16:creationId xmlns:a16="http://schemas.microsoft.com/office/drawing/2014/main" id="{58E2295B-FD69-422B-BA99-F0B4572B2127}"/>
              </a:ext>
            </a:extLst>
          </p:cNvPr>
          <p:cNvSpPr>
            <a:spLocks xmlns:a="http://schemas.openxmlformats.org/drawingml/2006/main" noGrp="1"/>
          </p:cNvSpPr>
          <p:nvPr/>
        </p:nvSpPr>
        <p:spPr>
          <a:xfrm xmlns:a="http://schemas.openxmlformats.org/drawingml/2006/main">
            <a:off x="6762750" y="438150"/>
            <a:ext cx="4953000" cy="5924550"/>
          </a:xfrm>
          <a:prstGeom xmlns:a="http://schemas.openxmlformats.org/drawingml/2006/main" prst="rect">
            <a:avLst/>
          </a:prstGeom>
          <a:solidFill xmlns:a="http://schemas.openxmlformats.org/drawingml/2006/main">
            <a:srgbClr val="F2F5F2"/>
          </a:solidFill>
          <a:ln xmlns:a="http://schemas.openxmlformats.org/drawingml/2006/main" w="0">
            <a:solidFill>
              <a:srgbClr val="F2F5F2"/>
            </a:solidFill>
            <a:prstDash val="solid"/>
          </a:ln>
        </p:spPr>
      </p:sp>
      <p:sp>
        <p:nvSpPr>
          <p:cNvPr id="3" name="eyebrow">
            <a:extLst xmlns:a="http://schemas.openxmlformats.org/drawingml/2006/main">
              <a:ext uri="{FF2B5EF4-FFF2-40B4-BE49-F238E27FC236}">
                <a16:creationId xmlns:a16="http://schemas.microsoft.com/office/drawing/2014/main" id="{E956488B-96CD-4BD3-A3E0-0717302D6986}"/>
              </a:ext>
            </a:extLst>
          </p:cNvPr>
          <p:cNvSpPr>
            <a:spLocks xmlns:a="http://schemas.openxmlformats.org/drawingml/2006/main" noGrp="1"/>
          </p:cNvSpPr>
          <p:nvPr/>
        </p:nvSpPr>
        <p:spPr>
          <a:xfrm xmlns:a="http://schemas.openxmlformats.org/drawingml/2006/main">
            <a:off x="7143750" y="7429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365F48"/>
                </a:solidFill>
              </a:defRPr>
            </a:pPr>
            <a:r>
              <a:rPr sz="825" b="1">
                <a:solidFill>
                  <a:srgbClr val="365F48"/>
                </a:solidFill>
              </a:rPr>
              <a:t>BUSINESS VALUE + VIABILITY / 25 POINTS</a:t>
            </a:r>
          </a:p>
        </p:txBody>
      </p:sp>
      <p:sp>
        <p:nvSpPr>
          <p:cNvPr id="4" name="title">
            <a:extLst xmlns:a="http://schemas.openxmlformats.org/drawingml/2006/main">
              <a:ext uri="{FF2B5EF4-FFF2-40B4-BE49-F238E27FC236}">
                <a16:creationId xmlns:a16="http://schemas.microsoft.com/office/drawing/2014/main" id="{0C1C8799-2D10-42A9-AD0B-3BF09555EC4A}"/>
              </a:ext>
            </a:extLst>
          </p:cNvPr>
          <p:cNvSpPr>
            <a:spLocks xmlns:a="http://schemas.openxmlformats.org/drawingml/2006/main" noGrp="1"/>
          </p:cNvSpPr>
          <p:nvPr/>
        </p:nvSpPr>
        <p:spPr>
          <a:xfrm xmlns:a="http://schemas.openxmlformats.org/drawingml/2006/main">
            <a:off x="7124700" y="1181100"/>
            <a:ext cx="4095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131A15"/>
                </a:solidFill>
              </a:defRPr>
            </a:pPr>
            <a:r>
              <a:rPr sz="2850" b="1">
                <a:solidFill>
                  <a:srgbClr val="131A15"/>
                </a:solidFill>
              </a:rPr>
              <a:t>The first</a:t>
            </a:r>
          </a:p>
          <a:p xmlns:a="http://schemas.openxmlformats.org/drawingml/2006/main">
            <a:pPr>
              <a:defRPr sz="2850" b="1">
                <a:solidFill>
                  <a:srgbClr val="131A15"/>
                </a:solidFill>
              </a:defRPr>
            </a:pPr>
            <a:r>
              <a:rPr sz="2850" b="1">
                <a:solidFill>
                  <a:srgbClr val="131A15"/>
                </a:solidFill>
              </a:rPr>
              <a:t>controlled rollout</a:t>
            </a:r>
          </a:p>
          <a:p xmlns:a="http://schemas.openxmlformats.org/drawingml/2006/main">
            <a:pPr>
              <a:defRPr sz="2850" b="1">
                <a:solidFill>
                  <a:srgbClr val="131A15"/>
                </a:solidFill>
              </a:defRPr>
            </a:pPr>
            <a:r>
              <a:rPr sz="2850" b="1">
                <a:solidFill>
                  <a:srgbClr val="131A15"/>
                </a:solidFill>
              </a:rPr>
              <a:t>covers 57% of</a:t>
            </a:r>
          </a:p>
          <a:p xmlns:a="http://schemas.openxmlformats.org/drawingml/2006/main">
            <a:pPr>
              <a:defRPr sz="2850" b="1">
                <a:solidFill>
                  <a:srgbClr val="131A15"/>
                </a:solidFill>
              </a:defRPr>
            </a:pPr>
            <a:r>
              <a:rPr sz="2850" b="1">
                <a:solidFill>
                  <a:srgbClr val="131A15"/>
                </a:solidFill>
              </a:rPr>
              <a:t>dispute volume.</a:t>
            </a:r>
          </a:p>
        </p:txBody>
      </p:sp>
      <p:sp>
        <p:nvSpPr>
          <p:cNvPr id="5" name="mix">
            <a:extLst xmlns:a="http://schemas.openxmlformats.org/drawingml/2006/main">
              <a:ext uri="{FF2B5EF4-FFF2-40B4-BE49-F238E27FC236}">
                <a16:creationId xmlns:a16="http://schemas.microsoft.com/office/drawing/2014/main" id="{EFB88010-16D1-4D87-AF0B-9A69CCF370BD}"/>
              </a:ext>
            </a:extLst>
          </p:cNvPr>
          <p:cNvSpPr>
            <a:spLocks xmlns:a="http://schemas.openxmlformats.org/drawingml/2006/main" noGrp="1"/>
          </p:cNvSpPr>
          <p:nvPr/>
        </p:nvSpPr>
        <p:spPr>
          <a:xfrm xmlns:a="http://schemas.openxmlformats.org/drawingml/2006/main">
            <a:off x="7162800" y="318135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5A665D"/>
                </a:solidFill>
              </a:defRPr>
            </a:pPr>
            <a:r>
              <a:rPr sz="1350" b="1">
                <a:solidFill>
                  <a:srgbClr val="5A665D"/>
                </a:solidFill>
              </a:rPr>
              <a:t>35% unauthorised transactions</a:t>
            </a:r>
          </a:p>
          <a:p xmlns:a="http://schemas.openxmlformats.org/drawingml/2006/main">
            <a:pPr>
              <a:defRPr sz="1350" b="1">
                <a:solidFill>
                  <a:srgbClr val="5A665D"/>
                </a:solidFill>
              </a:defRPr>
            </a:pPr>
            <a:r>
              <a:rPr sz="1350" b="1">
                <a:solidFill>
                  <a:srgbClr val="5A665D"/>
                </a:solidFill>
              </a:rPr>
              <a:t>+ 22% billing errors</a:t>
            </a:r>
          </a:p>
        </p:txBody>
      </p:sp>
      <p:sp>
        <p:nvSpPr>
          <p:cNvPr id="6" name="target">
            <a:extLst xmlns:a="http://schemas.openxmlformats.org/drawingml/2006/main">
              <a:ext uri="{FF2B5EF4-FFF2-40B4-BE49-F238E27FC236}">
                <a16:creationId xmlns:a16="http://schemas.microsoft.com/office/drawing/2014/main" id="{6766CA51-EF38-405A-A098-D98B28535640}"/>
              </a:ext>
            </a:extLst>
          </p:cNvPr>
          <p:cNvSpPr>
            <a:spLocks xmlns:a="http://schemas.openxmlformats.org/drawingml/2006/main" noGrp="1"/>
          </p:cNvSpPr>
          <p:nvPr/>
        </p:nvSpPr>
        <p:spPr>
          <a:xfrm xmlns:a="http://schemas.openxmlformats.org/drawingml/2006/main">
            <a:off x="7162800" y="4305300"/>
            <a:ext cx="381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365F48"/>
                </a:solidFill>
              </a:defRPr>
            </a:pPr>
            <a:r>
              <a:rPr sz="1950" b="1">
                <a:solidFill>
                  <a:srgbClr val="365F48"/>
                </a:solidFill>
              </a:rPr>
              <a:t>90 min  -&gt;  under 5 min</a:t>
            </a:r>
          </a:p>
        </p:txBody>
      </p:sp>
      <p:sp>
        <p:nvSpPr>
          <p:cNvPr id="7" name="rollout">
            <a:extLst xmlns:a="http://schemas.openxmlformats.org/drawingml/2006/main">
              <a:ext uri="{FF2B5EF4-FFF2-40B4-BE49-F238E27FC236}">
                <a16:creationId xmlns:a16="http://schemas.microsoft.com/office/drawing/2014/main" id="{D7B90C4D-EEAD-4DFE-BC90-AACCF0B92FB3}"/>
              </a:ext>
            </a:extLst>
          </p:cNvPr>
          <p:cNvSpPr>
            <a:spLocks xmlns:a="http://schemas.openxmlformats.org/drawingml/2006/main" noGrp="1"/>
          </p:cNvSpPr>
          <p:nvPr/>
        </p:nvSpPr>
        <p:spPr>
          <a:xfrm xmlns:a="http://schemas.openxmlformats.org/drawingml/2006/main">
            <a:off x="7162800" y="5219700"/>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5A665D"/>
                </a:solidFill>
              </a:defRPr>
            </a:pPr>
            <a:r>
              <a:rPr sz="825" b="1">
                <a:solidFill>
                  <a:srgbClr val="5A665D"/>
                </a:solidFill>
              </a:rPr>
              <a:t>SHADOW MODE  -&gt;  COMPLIANCE SIGN-OFF  -&gt;  THRESHOLDED AUTOMATION</a:t>
            </a:r>
          </a:p>
        </p:txBody>
      </p:sp>
    </p:spTree>
    <p:extLst>
      <p:ext uri="{BB962C8B-B14F-4D97-AF65-F5344CB8AC3E}">
        <p14:creationId xmlns:p14="http://schemas.microsoft.com/office/powerpoint/2010/main" val="1874008041"/>
      </p:ext>
    </p:extLst>
  </p:cSld>
</p:sld>
</file>

<file path=ppt/slides/slide10.xml><?xml version="1.0" encoding="utf-8"?>
<p:sld xmlns:p="http://schemas.openxmlformats.org/presentationml/2006/main">
  <p:cSld>
    <p:bg>
      <p:bgPr>
        <a:solidFill xmlns:a="http://schemas.openxmlformats.org/drawingml/2006/main">
          <a:srgbClr val="0B0F0C"/>
        </a:solidFill>
      </p:bgPr>
    </p:bg>
    <p:spTree>
      <p:nvGrpSpPr>
        <p:cNvPr id="1" name=""/>
        <p:cNvGrpSpPr/>
        <p:nvPr/>
      </p:nvGrpSpPr>
      <p:grpSpPr>
        <a:xfrm xmlns:a="http://schemas.openxmlformats.org/drawingml/2006/main"/>
      </p:grpSpPr>
      <p:sp>
        <p:nvSpPr>
          <p:cNvPr id="11" name="left-panel">
            <a:extLst xmlns:a="http://schemas.openxmlformats.org/drawingml/2006/main">
              <a:ext uri="{FF2B5EF4-FFF2-40B4-BE49-F238E27FC236}">
                <a16:creationId xmlns:a16="http://schemas.microsoft.com/office/drawing/2014/main" id="{60F12690-F1B7-46BE-98D2-4BF4F3CA9ED4}"/>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B0F0C"/>
          </a:solidFill>
          <a:ln xmlns:a="http://schemas.openxmlformats.org/drawingml/2006/main" w="0">
            <a:solidFill>
              <a:srgbClr val="0B0F0C"/>
            </a:solidFill>
            <a:prstDash val="solid"/>
          </a:ln>
        </p:spPr>
      </p:sp>
      <p:sp>
        <p:nvSpPr>
          <p:cNvPr id="2" name="settings-ground">
            <a:extLst xmlns:a="http://schemas.openxmlformats.org/drawingml/2006/main">
              <a:ext uri="{FF2B5EF4-FFF2-40B4-BE49-F238E27FC236}">
                <a16:creationId xmlns:a16="http://schemas.microsoft.com/office/drawing/2014/main" id="{B862052B-997D-4AC5-9D09-B8A41A22C999}"/>
              </a:ext>
            </a:extLst>
          </p:cNvPr>
          <p:cNvSpPr>
            <a:spLocks xmlns:a="http://schemas.openxmlformats.org/drawingml/2006/main" noGrp="1"/>
          </p:cNvSpPr>
          <p:nvPr/>
        </p:nvSpPr>
        <p:spPr>
          <a:xfrm xmlns:a="http://schemas.openxmlformats.org/drawingml/2006/main">
            <a:off x="5810250" y="0"/>
            <a:ext cx="6381750" cy="6858000"/>
          </a:xfrm>
          <a:prstGeom xmlns:a="http://schemas.openxmlformats.org/drawingml/2006/main" prst="rect">
            <a:avLst/>
          </a:prstGeom>
          <a:solidFill xmlns:a="http://schemas.openxmlformats.org/drawingml/2006/main">
            <a:srgbClr val="E4EAE5"/>
          </a:solidFill>
          <a:ln xmlns:a="http://schemas.openxmlformats.org/drawingml/2006/main" w="0">
            <a:solidFill>
              <a:srgbClr val="E4EAE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c2a4747f47747ea"/>
          <a:stretch xmlns:a="http://schemas.openxmlformats.org/drawingml/2006/main"/>
        </p:blipFill>
        <p:spPr>
          <a:xfrm xmlns:a="http://schemas.openxmlformats.org/drawingml/2006/main">
            <a:off x="5810250" y="1149804"/>
            <a:ext cx="6381750" cy="4558393"/>
          </a:xfrm>
          <a:prstGeom xmlns:a="http://schemas.openxmlformats.org/drawingml/2006/main" prst="rect">
            <a:avLst/>
          </a:prstGeom>
        </p:spPr>
      </p:pic>
      <p:sp>
        <p:nvSpPr>
          <p:cNvPr id="4" name="eyebrow">
            <a:extLst xmlns:a="http://schemas.openxmlformats.org/drawingml/2006/main">
              <a:ext uri="{FF2B5EF4-FFF2-40B4-BE49-F238E27FC236}">
                <a16:creationId xmlns:a16="http://schemas.microsoft.com/office/drawing/2014/main" id="{2F11728B-3BA6-4989-878B-009A35762204}"/>
              </a:ext>
            </a:extLst>
          </p:cNvPr>
          <p:cNvSpPr>
            <a:spLocks xmlns:a="http://schemas.openxmlformats.org/drawingml/2006/main" noGrp="1"/>
          </p:cNvSpPr>
          <p:nvPr/>
        </p:nvSpPr>
        <p:spPr>
          <a:xfrm xmlns:a="http://schemas.openxmlformats.org/drawingml/2006/main">
            <a:off x="609600" y="5524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8BFB0"/>
                </a:solidFill>
              </a:defRPr>
            </a:pPr>
            <a:r>
              <a:rPr sz="825" b="1">
                <a:solidFill>
                  <a:srgbClr val="A8BFB0"/>
                </a:solidFill>
              </a:rPr>
              <a:t>CONTROLLED ROLLOUT</a:t>
            </a:r>
          </a:p>
        </p:txBody>
      </p:sp>
      <p:sp>
        <p:nvSpPr>
          <p:cNvPr id="5" name="title">
            <a:extLst xmlns:a="http://schemas.openxmlformats.org/drawingml/2006/main">
              <a:ext uri="{FF2B5EF4-FFF2-40B4-BE49-F238E27FC236}">
                <a16:creationId xmlns:a16="http://schemas.microsoft.com/office/drawing/2014/main" id="{38D6AEB6-AA8B-440B-96CF-EB055FC205DB}"/>
              </a:ext>
            </a:extLst>
          </p:cNvPr>
          <p:cNvSpPr>
            <a:spLocks xmlns:a="http://schemas.openxmlformats.org/drawingml/2006/main" noGrp="1"/>
          </p:cNvSpPr>
          <p:nvPr/>
        </p:nvSpPr>
        <p:spPr>
          <a:xfrm xmlns:a="http://schemas.openxmlformats.org/drawingml/2006/main">
            <a:off x="590550" y="1104900"/>
            <a:ext cx="4572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a:solidFill>
                  <a:srgbClr val="F7FAF7"/>
                </a:solidFill>
              </a:defRPr>
            </a:pPr>
            <a:r>
              <a:rPr sz="4050" b="1">
                <a:solidFill>
                  <a:srgbClr val="F7FAF7"/>
                </a:solidFill>
              </a:rPr>
              <a:t>Ready for a synthetic pilot today.</a:t>
            </a:r>
          </a:p>
        </p:txBody>
      </p:sp>
      <p:sp>
        <p:nvSpPr>
          <p:cNvPr id="6" name="sub">
            <a:extLst xmlns:a="http://schemas.openxmlformats.org/drawingml/2006/main">
              <a:ext uri="{FF2B5EF4-FFF2-40B4-BE49-F238E27FC236}">
                <a16:creationId xmlns:a16="http://schemas.microsoft.com/office/drawing/2014/main" id="{56C9EAF2-4CCF-4F72-8D66-37C6567A97B8}"/>
              </a:ext>
            </a:extLst>
          </p:cNvPr>
          <p:cNvSpPr>
            <a:spLocks xmlns:a="http://schemas.openxmlformats.org/drawingml/2006/main" noGrp="1"/>
          </p:cNvSpPr>
          <p:nvPr/>
        </p:nvSpPr>
        <p:spPr>
          <a:xfrm xmlns:a="http://schemas.openxmlformats.org/drawingml/2006/main">
            <a:off x="628650" y="28575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E4EAE5"/>
                </a:solidFill>
              </a:defRPr>
            </a:pPr>
            <a:r>
              <a:rPr sz="1650" b="1">
                <a:solidFill>
                  <a:srgbClr val="E4EAE5"/>
                </a:solidFill>
              </a:rPr>
              <a:t>Four bank handoffs unlock live rollout:</a:t>
            </a:r>
          </a:p>
        </p:txBody>
      </p:sp>
      <p:sp>
        <p:nvSpPr>
          <p:cNvPr id="7" name="needs">
            <a:extLst xmlns:a="http://schemas.openxmlformats.org/drawingml/2006/main">
              <a:ext uri="{FF2B5EF4-FFF2-40B4-BE49-F238E27FC236}">
                <a16:creationId xmlns:a16="http://schemas.microsoft.com/office/drawing/2014/main" id="{597916C8-FD6C-4843-9628-69FB639C0124}"/>
              </a:ext>
            </a:extLst>
          </p:cNvPr>
          <p:cNvSpPr>
            <a:spLocks xmlns:a="http://schemas.openxmlformats.org/drawingml/2006/main" noGrp="1"/>
          </p:cNvSpPr>
          <p:nvPr/>
        </p:nvSpPr>
        <p:spPr>
          <a:xfrm xmlns:a="http://schemas.openxmlformats.org/drawingml/2006/main">
            <a:off x="647700" y="3486150"/>
            <a:ext cx="4000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A8BFB0"/>
                </a:solidFill>
              </a:defRPr>
            </a:pPr>
            <a:r>
              <a:rPr sz="1200" b="1">
                <a:solidFill>
                  <a:srgbClr val="A8BFB0"/>
                </a:solidFill>
              </a:rPr>
              <a:t>CORE + CRM CREDENTIALS</a:t>
            </a:r>
          </a:p>
          <a:p xmlns:a="http://schemas.openxmlformats.org/drawingml/2006/main">
            <a:pPr>
              <a:defRPr sz="1200" b="1">
                <a:solidFill>
                  <a:srgbClr val="A8BFB0"/>
                </a:solidFill>
              </a:defRPr>
            </a:pPr>
            <a:r>
              <a:rPr sz="1200" b="1">
                <a:solidFill>
                  <a:srgbClr val="A8BFB0"/>
                </a:solidFill>
              </a:rPr>
              <a:t>COMPLAINT MAILBOX</a:t>
            </a:r>
          </a:p>
          <a:p xmlns:a="http://schemas.openxmlformats.org/drawingml/2006/main">
            <a:pPr>
              <a:defRPr sz="1200" b="1">
                <a:solidFill>
                  <a:srgbClr val="A8BFB0"/>
                </a:solidFill>
              </a:defRPr>
            </a:pPr>
            <a:r>
              <a:rPr sz="1200" b="1">
                <a:solidFill>
                  <a:srgbClr val="A8BFB0"/>
                </a:solidFill>
              </a:rPr>
              <a:t>COMPLIANCE SIGN-OFF</a:t>
            </a:r>
          </a:p>
          <a:p xmlns:a="http://schemas.openxmlformats.org/drawingml/2006/main">
            <a:pPr>
              <a:defRPr sz="1200" b="1">
                <a:solidFill>
                  <a:srgbClr val="A8BFB0"/>
                </a:solidFill>
              </a:defRPr>
            </a:pPr>
            <a:r>
              <a:rPr sz="1200" b="1">
                <a:solidFill>
                  <a:srgbClr val="A8BFB0"/>
                </a:solidFill>
              </a:rPr>
              <a:t>FIRST ADMIN IDENTITY</a:t>
            </a:r>
          </a:p>
        </p:txBody>
      </p:sp>
      <p:sp>
        <p:nvSpPr>
          <p:cNvPr id="8" name="close-rule">
            <a:extLst xmlns:a="http://schemas.openxmlformats.org/drawingml/2006/main">
              <a:ext uri="{FF2B5EF4-FFF2-40B4-BE49-F238E27FC236}">
                <a16:creationId xmlns:a16="http://schemas.microsoft.com/office/drawing/2014/main" id="{5BBFD7B1-2746-4D75-A7BB-BEF0E7E48044}"/>
              </a:ext>
            </a:extLst>
          </p:cNvPr>
          <p:cNvSpPr>
            <a:spLocks xmlns:a="http://schemas.openxmlformats.org/drawingml/2006/main" noGrp="1"/>
          </p:cNvSpPr>
          <p:nvPr/>
        </p:nvSpPr>
        <p:spPr>
          <a:xfrm xmlns:a="http://schemas.openxmlformats.org/drawingml/2006/main">
            <a:off x="647700" y="5391150"/>
            <a:ext cx="1047750" cy="38100"/>
          </a:xfrm>
          <a:prstGeom xmlns:a="http://schemas.openxmlformats.org/drawingml/2006/main" prst="rect">
            <a:avLst/>
          </a:prstGeom>
          <a:solidFill xmlns:a="http://schemas.openxmlformats.org/drawingml/2006/main">
            <a:srgbClr val="8B2333"/>
          </a:solidFill>
          <a:ln xmlns:a="http://schemas.openxmlformats.org/drawingml/2006/main" w="0">
            <a:solidFill>
              <a:srgbClr val="8B2333"/>
            </a:solidFill>
            <a:prstDash val="solid"/>
          </a:ln>
        </p:spPr>
      </p:sp>
      <p:sp>
        <p:nvSpPr>
          <p:cNvPr id="9" name="url">
            <a:extLst xmlns:a="http://schemas.openxmlformats.org/drawingml/2006/main">
              <a:ext uri="{FF2B5EF4-FFF2-40B4-BE49-F238E27FC236}">
                <a16:creationId xmlns:a16="http://schemas.microsoft.com/office/drawing/2014/main" id="{3B70FE6D-B4CD-4EA9-8F66-90DB1C56D90B}"/>
              </a:ext>
            </a:extLst>
          </p:cNvPr>
          <p:cNvSpPr>
            <a:spLocks xmlns:a="http://schemas.openxmlformats.org/drawingml/2006/main" noGrp="1"/>
          </p:cNvSpPr>
          <p:nvPr/>
        </p:nvSpPr>
        <p:spPr>
          <a:xfrm xmlns:a="http://schemas.openxmlformats.org/drawingml/2006/main">
            <a:off x="647700" y="57150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E4EAE5"/>
                </a:solidFill>
              </a:defRPr>
            </a:pPr>
            <a:r>
              <a:rPr sz="1200" b="1">
                <a:solidFill>
                  <a:srgbClr val="E4EAE5"/>
                </a:solidFill>
              </a:rPr>
              <a:t>casezero-alpha.vercel.app</a:t>
            </a:r>
          </a:p>
        </p:txBody>
      </p:sp>
      <p:sp>
        <p:nvSpPr>
          <p:cNvPr id="10" name="close">
            <a:extLst xmlns:a="http://schemas.openxmlformats.org/drawingml/2006/main">
              <a:ext uri="{FF2B5EF4-FFF2-40B4-BE49-F238E27FC236}">
                <a16:creationId xmlns:a16="http://schemas.microsoft.com/office/drawing/2014/main" id="{4258DD78-B684-47A8-8122-B3A7377CF34D}"/>
              </a:ext>
            </a:extLst>
          </p:cNvPr>
          <p:cNvSpPr>
            <a:spLocks xmlns:a="http://schemas.openxmlformats.org/drawingml/2006/main" noGrp="1"/>
          </p:cNvSpPr>
          <p:nvPr/>
        </p:nvSpPr>
        <p:spPr>
          <a:xfrm xmlns:a="http://schemas.openxmlformats.org/drawingml/2006/main">
            <a:off x="647700" y="6229350"/>
            <a:ext cx="3714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A8BFB0"/>
                </a:solidFill>
              </a:defRPr>
            </a:pPr>
            <a:r>
              <a:rPr sz="750" b="1">
                <a:solidFill>
                  <a:srgbClr val="A8BFB0"/>
                </a:solidFill>
              </a:rPr>
              <a:t>CASEZERO / AXIOM / CASE STUDY 1</a:t>
            </a:r>
          </a:p>
        </p:txBody>
      </p:sp>
    </p:spTree>
    <p:extLst>
      <p:ext uri="{BB962C8B-B14F-4D97-AF65-F5344CB8AC3E}">
        <p14:creationId xmlns:p14="http://schemas.microsoft.com/office/powerpoint/2010/main" val="11973881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2026-08-03T19:40:26.3630000Z</dcterms:created>
  <dcterms:modified xsi:type="dcterms:W3CDTF">2026-08-03T19:40:26.3630000Z</dcterms:modified>
</coreProperties>
</file>