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7-1.mp4"/><Relationship Id="rId2" Type="http://schemas.microsoft.com/office/2007/relationships/media" Target="../media/media-7-1.mp4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4EA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087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5146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0175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5204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5321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5379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0408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5438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5496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5613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671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0700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TENCENT CLOUD × UTM HACKATHON / CASE STUDY 1 / DEMO DAY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960120"/>
            <a:ext cx="11057839" cy="20117"/>
          </a:xfrm>
          <a:prstGeom prst="rect">
            <a:avLst/>
          </a:prstGeom>
          <a:solidFill>
            <a:srgbClr val="131A15"/>
          </a:solidFill>
          <a:ln/>
        </p:spPr>
      </p:sp>
      <p:sp>
        <p:nvSpPr>
          <p:cNvPr id="28" name="Shape 26"/>
          <p:cNvSpPr/>
          <p:nvPr/>
        </p:nvSpPr>
        <p:spPr>
          <a:xfrm>
            <a:off x="566928" y="1010412"/>
            <a:ext cx="11057839" cy="7315"/>
          </a:xfrm>
          <a:prstGeom prst="rect">
            <a:avLst/>
          </a:prstGeom>
          <a:solidFill>
            <a:srgbClr val="131A15">
              <a:alpha val="8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566928" y="123444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Axiom</a:t>
            </a:r>
            <a:endParaRPr lang="en-US" sz="9600" dirty="0"/>
          </a:p>
        </p:txBody>
      </p:sp>
      <p:sp>
        <p:nvSpPr>
          <p:cNvPr id="30" name="Text 28"/>
          <p:cNvSpPr/>
          <p:nvPr/>
        </p:nvSpPr>
        <p:spPr>
          <a:xfrm>
            <a:off x="566928" y="2487168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34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by CaseZero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66928" y="3310128"/>
            <a:ext cx="11057839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876"/>
              </a:lnSpc>
              <a:buNone/>
            </a:pPr>
            <a:r>
              <a:rPr lang="en-US" sz="38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dispute team that can be</a:t>
            </a:r>
            <a:endParaRPr lang="en-US" sz="3800" dirty="0"/>
          </a:p>
          <a:p>
            <a:pPr indent="0" marL="0">
              <a:lnSpc>
                <a:spcPts val="3876"/>
              </a:lnSpc>
              <a:buNone/>
            </a:pPr>
            <a:r>
              <a:rPr lang="en-US" sz="38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put on the record.</a:t>
            </a:r>
            <a:endParaRPr lang="en-US" sz="3800" dirty="0"/>
          </a:p>
        </p:txBody>
      </p:sp>
      <p:sp>
        <p:nvSpPr>
          <p:cNvPr id="32" name="Shape 30"/>
          <p:cNvSpPr/>
          <p:nvPr/>
        </p:nvSpPr>
        <p:spPr>
          <a:xfrm>
            <a:off x="566928" y="5074920"/>
            <a:ext cx="11057839" cy="20117"/>
          </a:xfrm>
          <a:prstGeom prst="rect">
            <a:avLst/>
          </a:prstGeom>
          <a:solidFill>
            <a:srgbClr val="131A15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5125212"/>
            <a:ext cx="11057839" cy="7315"/>
          </a:xfrm>
          <a:prstGeom prst="rect">
            <a:avLst/>
          </a:prstGeom>
          <a:solidFill>
            <a:srgbClr val="131A15">
              <a:alpha val="8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52852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 agents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66928" y="565099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with its own brain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252874" y="52852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 kernel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252874" y="565099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deterministic, cannot be argued with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38821" y="52852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4.2 seconds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938821" y="565099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against a 90-minute manual baseline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66928" y="6400800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SYNTHETIC CUSTOMERS · REAL PIPELINE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418527" y="640080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1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CASEZERO-ALPHA.VERCEL.APP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EA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087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5146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0175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5204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5321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5379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0408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5438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5496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5613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671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0700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914400"/>
            <a:ext cx="11057839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080"/>
              </a:lnSpc>
              <a:buNone/>
            </a:pPr>
            <a:r>
              <a:rPr lang="en-US" sz="40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Ninety minutes a case.</a:t>
            </a:r>
            <a:endParaRPr lang="en-US" sz="4000" dirty="0"/>
          </a:p>
          <a:p>
            <a:pPr indent="0" marL="0">
              <a:lnSpc>
                <a:spcPts val="4080"/>
              </a:lnSpc>
              <a:buNone/>
            </a:pPr>
            <a:r>
              <a:rPr lang="en-US" sz="40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one deadline in nine is missed.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566928" y="2487168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Malaysian regional bank resolves disputes by hand, across departments, under a regulator that counts the days.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66928" y="3401568"/>
            <a:ext cx="11057839" cy="20117"/>
          </a:xfrm>
          <a:prstGeom prst="rect">
            <a:avLst/>
          </a:prstGeom>
          <a:solidFill>
            <a:srgbClr val="131A15"/>
          </a:solidFill>
          <a:ln/>
        </p:spPr>
      </p:sp>
      <p:sp>
        <p:nvSpPr>
          <p:cNvPr id="30" name="Shape 28"/>
          <p:cNvSpPr/>
          <p:nvPr/>
        </p:nvSpPr>
        <p:spPr>
          <a:xfrm>
            <a:off x="566928" y="3451860"/>
            <a:ext cx="11057839" cy="7315"/>
          </a:xfrm>
          <a:prstGeom prst="rect">
            <a:avLst/>
          </a:prstGeom>
          <a:solidFill>
            <a:srgbClr val="131A15">
              <a:alpha val="8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703320"/>
            <a:ext cx="260604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200" kern="0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1.8M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566928" y="466344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retail and SME customers filing complaints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401568" y="3703320"/>
            <a:ext cx="260604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200" kern="0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90 min</a:t>
            </a:r>
            <a:endParaRPr lang="en-US" sz="4000" dirty="0"/>
          </a:p>
        </p:txBody>
      </p:sp>
      <p:sp>
        <p:nvSpPr>
          <p:cNvPr id="34" name="Text 32"/>
          <p:cNvSpPr/>
          <p:nvPr/>
        </p:nvSpPr>
        <p:spPr>
          <a:xfrm>
            <a:off x="3401568" y="466344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average handling time, spread over several desks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236208" y="3703320"/>
            <a:ext cx="260604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200" kern="0" dirty="0">
                <a:solidFill>
                  <a:srgbClr val="8B2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11%</a:t>
            </a:r>
            <a:endParaRPr lang="en-US" sz="4000" dirty="0"/>
          </a:p>
        </p:txBody>
      </p:sp>
      <p:sp>
        <p:nvSpPr>
          <p:cNvPr id="36" name="Text 34"/>
          <p:cNvSpPr/>
          <p:nvPr/>
        </p:nvSpPr>
        <p:spPr>
          <a:xfrm>
            <a:off x="6236208" y="466344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 BNM regulatory deadlines missed today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070848" y="3703320"/>
            <a:ext cx="260604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200" kern="0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5–20</a:t>
            </a:r>
            <a:endParaRPr lang="en-US" sz="4000" dirty="0"/>
          </a:p>
        </p:txBody>
      </p:sp>
      <p:sp>
        <p:nvSpPr>
          <p:cNvPr id="38" name="Text 36"/>
          <p:cNvSpPr/>
          <p:nvPr/>
        </p:nvSpPr>
        <p:spPr>
          <a:xfrm>
            <a:off x="9070848" y="466344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working days allowed, by complexity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66928" y="5687568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Delay is not one queue problem. It is a handoff problem — evidence, authority and ownership drift apart between desks.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66928" y="6400800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SOURCE: CASE STUDY 1 BRIEF · BNM COMPLAINTS HANDLING · FMOS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4EA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087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5146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0175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5204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5321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5379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0408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5438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5496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5613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671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0700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WHO BENEFITS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914400"/>
            <a:ext cx="11057839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876"/>
              </a:lnSpc>
              <a:buNone/>
            </a:pPr>
            <a:r>
              <a:rPr lang="en-US" sz="38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Written for the person holding</a:t>
            </a:r>
            <a:endParaRPr lang="en-US" sz="3800" dirty="0"/>
          </a:p>
          <a:p>
            <a:pPr indent="0" marL="0">
              <a:lnSpc>
                <a:spcPts val="3876"/>
              </a:lnSpc>
              <a:buNone/>
            </a:pPr>
            <a:r>
              <a:rPr lang="en-US" sz="38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complaint, not the engineer.</a:t>
            </a:r>
            <a:endParaRPr lang="en-US" sz="3800" dirty="0"/>
          </a:p>
        </p:txBody>
      </p:sp>
      <p:sp>
        <p:nvSpPr>
          <p:cNvPr id="28" name="Shape 26"/>
          <p:cNvSpPr/>
          <p:nvPr/>
        </p:nvSpPr>
        <p:spPr>
          <a:xfrm>
            <a:off x="566928" y="2633472"/>
            <a:ext cx="11057839" cy="20117"/>
          </a:xfrm>
          <a:prstGeom prst="rect">
            <a:avLst/>
          </a:prstGeom>
          <a:solidFill>
            <a:srgbClr val="131A15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" y="2683764"/>
            <a:ext cx="11057839" cy="7315"/>
          </a:xfrm>
          <a:prstGeom prst="rect">
            <a:avLst/>
          </a:prstGeom>
          <a:solidFill>
            <a:srgbClr val="131A15">
              <a:alpha val="8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66928" y="2907792"/>
            <a:ext cx="3456432" cy="3063240"/>
          </a:xfrm>
          <a:prstGeom prst="rect">
            <a:avLst/>
          </a:prstGeom>
          <a:solidFill>
            <a:srgbClr val="F2F5F2"/>
          </a:solidFill>
          <a:ln w="9525">
            <a:solidFill>
              <a:srgbClr val="131A1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4672" y="3127248"/>
            <a:ext cx="29809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complaints lead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804672" y="3511296"/>
            <a:ext cx="2980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4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NON-TECHNICAL. OWNS THE DEADLINE.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804672" y="3858768"/>
            <a:ext cx="298094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Reads plain English — “checked against bank records”, never VERIFICATION_COMPLETED. Sees which cases need a human and which are already done.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288536" y="2907792"/>
            <a:ext cx="3456432" cy="3063240"/>
          </a:xfrm>
          <a:prstGeom prst="rect">
            <a:avLst/>
          </a:prstGeom>
          <a:solidFill>
            <a:srgbClr val="F2F5F2"/>
          </a:solidFill>
          <a:ln w="9525">
            <a:solidFill>
              <a:srgbClr val="131A1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26280" y="3127248"/>
            <a:ext cx="29809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customer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4526280" y="3511296"/>
            <a:ext cx="2980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4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WANTS THEIR MONEY BACK.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526280" y="3858768"/>
            <a:ext cx="298094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Answered in minutes instead of weeks, in English or Malay, with the FMOS six-month referral right included by the kernel rather than remembered by a person.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010144" y="2907792"/>
            <a:ext cx="3456432" cy="3063240"/>
          </a:xfrm>
          <a:prstGeom prst="rect">
            <a:avLst/>
          </a:prstGeom>
          <a:solidFill>
            <a:srgbClr val="F2F5F2"/>
          </a:solidFill>
          <a:ln w="9525">
            <a:solidFill>
              <a:srgbClr val="131A1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47888" y="3127248"/>
            <a:ext cx="29809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regulator and auditor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8247888" y="3511296"/>
            <a:ext cx="2980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4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WANTS TO KNOW WHO DECIDED.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8247888" y="3858768"/>
            <a:ext cx="298094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stage is one hashed, sequenced event. Any line in the interface opens into the receipt behind it, including the refusals.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66928" y="6400800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HUMAN-CENTRED DESIGN · PLAIN LANGUAGE OVER ENUM NAMES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4EA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087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5146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0175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5204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5321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5379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0408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5438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5496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5613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671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0700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896112"/>
            <a:ext cx="5760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060"/>
              </a:lnSpc>
              <a:buNone/>
            </a:pPr>
            <a:r>
              <a:rPr lang="en-US" sz="30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Six agents pass one real case.</a:t>
            </a:r>
            <a:endParaRPr lang="en-US" sz="3000" dirty="0"/>
          </a:p>
          <a:p>
            <a:pPr indent="0" marL="0">
              <a:lnSpc>
                <a:spcPts val="3060"/>
              </a:lnSpc>
              <a:buNone/>
            </a:pPr>
            <a:r>
              <a:rPr lang="en-US" sz="30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kernel stamps every handoff.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566928" y="2743200"/>
            <a:ext cx="5394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a chat window and not a black box. A boardroom you can watch, where the case file only moves once its evidence is written.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66928" y="3703320"/>
            <a:ext cx="5394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This is a screenshot of the running product.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 rot="-90000">
            <a:off x="566928" y="4160520"/>
            <a:ext cx="2240280" cy="868680"/>
          </a:xfrm>
          <a:prstGeom prst="rect">
            <a:avLst/>
          </a:prstGeom>
          <a:solidFill>
            <a:srgbClr val="E4EAE5"/>
          </a:solidFill>
          <a:ln w="41275">
            <a:solidFill>
              <a:srgbClr val="131A1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 rot="-90000">
            <a:off x="566928" y="4270248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AUTHORISED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 rot="-90000">
            <a:off x="566928" y="4672584"/>
            <a:ext cx="2240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spc="160" kern="0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FINANCIAL GATE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081528" y="4315968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kernel never has a thinking state. It snaps.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323076" y="534924"/>
            <a:ext cx="5349240" cy="5788152"/>
          </a:xfrm>
          <a:prstGeom prst="rect">
            <a:avLst/>
          </a:prstGeom>
          <a:solidFill>
            <a:srgbClr val="F2F5F2"/>
          </a:solidFill>
          <a:ln w="12700">
            <a:solidFill>
              <a:srgbClr val="131A15"/>
            </a:solidFill>
            <a:prstDash val="solid"/>
          </a:ln>
        </p:spPr>
      </p:sp>
      <p:pic>
        <p:nvPicPr>
          <p:cNvPr id="35" name="Image 0" descr="/Users/saminsmac/Projects/tencent copy 2/casezero/submission/assets/deck/boardroom-comple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55080" y="566928"/>
            <a:ext cx="5285232" cy="5724144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566928" y="6400800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/LIVE · THE BOARDROOM IS THE DEFAULT VIEW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EA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087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5146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0175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5204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5321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5379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0408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5438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5496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5613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671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0700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896112"/>
            <a:ext cx="11057839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72"/>
              </a:lnSpc>
              <a:buNone/>
            </a:pPr>
            <a:r>
              <a:rPr lang="en-US" sz="36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Seven stages. Every one of them</a:t>
            </a:r>
            <a:endParaRPr lang="en-US" sz="3600" dirty="0"/>
          </a:p>
          <a:p>
            <a:pPr indent="0" marL="0">
              <a:lnSpc>
                <a:spcPts val="3672"/>
              </a:lnSpc>
              <a:buNone/>
            </a:pPr>
            <a:r>
              <a:rPr lang="en-US" sz="36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leaves a receipt.</a:t>
            </a:r>
            <a:endParaRPr lang="en-US" sz="3600" dirty="0"/>
          </a:p>
        </p:txBody>
      </p:sp>
      <p:sp>
        <p:nvSpPr>
          <p:cNvPr id="28" name="Shape 26"/>
          <p:cNvSpPr/>
          <p:nvPr/>
        </p:nvSpPr>
        <p:spPr>
          <a:xfrm>
            <a:off x="566928" y="2542032"/>
            <a:ext cx="11057839" cy="20117"/>
          </a:xfrm>
          <a:prstGeom prst="rect">
            <a:avLst/>
          </a:prstGeom>
          <a:solidFill>
            <a:srgbClr val="131A15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" y="2592324"/>
            <a:ext cx="11057839" cy="7315"/>
          </a:xfrm>
          <a:prstGeom prst="rect">
            <a:avLst/>
          </a:prstGeom>
          <a:solidFill>
            <a:srgbClr val="131A15">
              <a:alpha val="8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66928" y="2834640"/>
            <a:ext cx="1485639" cy="2286000"/>
          </a:xfrm>
          <a:prstGeom prst="rect">
            <a:avLst/>
          </a:prstGeom>
          <a:solidFill>
            <a:srgbClr val="F2F5F2"/>
          </a:solidFill>
          <a:ln w="9525">
            <a:solidFill>
              <a:srgbClr val="131A1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2971800"/>
            <a:ext cx="12113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13232" y="3273552"/>
            <a:ext cx="121131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Check for</a:t>
            </a:r>
            <a:endParaRPr lang="en-US" sz="11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harmful content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13232" y="4224528"/>
            <a:ext cx="121131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spc="11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INTAKE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713232" y="4718304"/>
            <a:ext cx="12113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80" kern="0" dirty="0">
                <a:solidFill>
                  <a:srgbClr val="365F4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MODEL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713232" y="4956048"/>
            <a:ext cx="121131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 min manual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2162295" y="2834640"/>
            <a:ext cx="1485639" cy="2286000"/>
          </a:xfrm>
          <a:prstGeom prst="rect">
            <a:avLst/>
          </a:prstGeom>
          <a:solidFill>
            <a:srgbClr val="F2F5F2"/>
          </a:solidFill>
          <a:ln w="9525">
            <a:solidFill>
              <a:srgbClr val="131A1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308599" y="2971800"/>
            <a:ext cx="12113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308599" y="3273552"/>
            <a:ext cx="121131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Identify the</a:t>
            </a:r>
            <a:endParaRPr lang="en-US" sz="11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complaint type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2308599" y="4224528"/>
            <a:ext cx="121131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spc="11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CLASSIFIER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308599" y="4718304"/>
            <a:ext cx="12113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80" kern="0" dirty="0">
                <a:solidFill>
                  <a:srgbClr val="365F4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MODEL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2308599" y="4956048"/>
            <a:ext cx="121131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 min manual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3757661" y="2834640"/>
            <a:ext cx="1485639" cy="2286000"/>
          </a:xfrm>
          <a:prstGeom prst="rect">
            <a:avLst/>
          </a:prstGeom>
          <a:solidFill>
            <a:srgbClr val="F2F5F2"/>
          </a:solidFill>
          <a:ln w="19050">
            <a:solidFill>
              <a:srgbClr val="131A1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03965" y="2971800"/>
            <a:ext cx="12113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903965" y="3273552"/>
            <a:ext cx="121131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Set priority</a:t>
            </a:r>
            <a:endParaRPr lang="en-US" sz="11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deadline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3903965" y="4224528"/>
            <a:ext cx="121131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spc="110" kern="0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KERNEL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3903965" y="4718304"/>
            <a:ext cx="12113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NO MODEL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3903965" y="4956048"/>
            <a:ext cx="121131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 min manual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5353028" y="2834640"/>
            <a:ext cx="1485639" cy="2286000"/>
          </a:xfrm>
          <a:prstGeom prst="rect">
            <a:avLst/>
          </a:prstGeom>
          <a:solidFill>
            <a:srgbClr val="F2F5F2"/>
          </a:solidFill>
          <a:ln w="9525">
            <a:solidFill>
              <a:srgbClr val="131A1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99332" y="2971800"/>
            <a:ext cx="12113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499332" y="3273552"/>
            <a:ext cx="121131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Check against</a:t>
            </a:r>
            <a:endParaRPr lang="en-US" sz="11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 records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5499332" y="4224528"/>
            <a:ext cx="121131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spc="11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VERIFIER · MCP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499332" y="4718304"/>
            <a:ext cx="12113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NO MODEL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5499332" y="4956048"/>
            <a:ext cx="121131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25 min manual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6948395" y="2834640"/>
            <a:ext cx="1485639" cy="2286000"/>
          </a:xfrm>
          <a:prstGeom prst="rect">
            <a:avLst/>
          </a:prstGeom>
          <a:solidFill>
            <a:srgbClr val="F2F5F2"/>
          </a:solidFill>
          <a:ln w="19050">
            <a:solidFill>
              <a:srgbClr val="131A1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94699" y="2971800"/>
            <a:ext cx="12113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094699" y="3273552"/>
            <a:ext cx="121131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Auto-resolve or</a:t>
            </a:r>
            <a:endParaRPr lang="en-US" sz="11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 review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7094699" y="4224528"/>
            <a:ext cx="121131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spc="110" kern="0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KERNEL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7094699" y="4718304"/>
            <a:ext cx="12113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NO MODEL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7094699" y="4956048"/>
            <a:ext cx="121131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 min manual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8543762" y="2834640"/>
            <a:ext cx="1485639" cy="2286000"/>
          </a:xfrm>
          <a:prstGeom prst="rect">
            <a:avLst/>
          </a:prstGeom>
          <a:solidFill>
            <a:srgbClr val="F2F5F2"/>
          </a:solidFill>
          <a:ln w="9525">
            <a:solidFill>
              <a:srgbClr val="131A1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690066" y="2971800"/>
            <a:ext cx="12113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690066" y="3273552"/>
            <a:ext cx="121131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Move</a:t>
            </a:r>
            <a:endParaRPr lang="en-US" sz="11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money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8690066" y="4224528"/>
            <a:ext cx="121131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spc="11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RESOLVER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8690066" y="4718304"/>
            <a:ext cx="12113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NO MODEL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8690066" y="4956048"/>
            <a:ext cx="121131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 min manual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10139128" y="2834640"/>
            <a:ext cx="1485639" cy="2286000"/>
          </a:xfrm>
          <a:prstGeom prst="rect">
            <a:avLst/>
          </a:prstGeom>
          <a:solidFill>
            <a:srgbClr val="F2F5F2"/>
          </a:solidFill>
          <a:ln w="9525">
            <a:solidFill>
              <a:srgbClr val="131A1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0285432" y="2971800"/>
            <a:ext cx="12113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07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0285432" y="3273552"/>
            <a:ext cx="121131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Send response</a:t>
            </a:r>
            <a:endParaRPr lang="en-US" sz="11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 customer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10285432" y="4224528"/>
            <a:ext cx="121131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spc="11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COMMUNICATOR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10285432" y="4718304"/>
            <a:ext cx="12113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80" kern="0" dirty="0">
                <a:solidFill>
                  <a:srgbClr val="365F4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MODEL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10285432" y="4956048"/>
            <a:ext cx="121131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 min manual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566928" y="5413248"/>
            <a:ext cx="11057839" cy="20117"/>
          </a:xfrm>
          <a:prstGeom prst="rect">
            <a:avLst/>
          </a:prstGeom>
          <a:solidFill>
            <a:srgbClr val="131A15"/>
          </a:solidFill>
          <a:ln/>
        </p:spPr>
      </p:sp>
      <p:sp>
        <p:nvSpPr>
          <p:cNvPr id="73" name="Shape 71"/>
          <p:cNvSpPr/>
          <p:nvPr/>
        </p:nvSpPr>
        <p:spPr>
          <a:xfrm>
            <a:off x="566928" y="5463540"/>
            <a:ext cx="11057839" cy="7315"/>
          </a:xfrm>
          <a:prstGeom prst="rect">
            <a:avLst/>
          </a:prstGeom>
          <a:solidFill>
            <a:srgbClr val="131A15">
              <a:alpha val="80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566928" y="5596128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spc="-7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Models propose. The kernel disposes.</a:t>
            </a:r>
            <a:endParaRPr lang="en-US" sz="2100" dirty="0"/>
          </a:p>
        </p:txBody>
      </p:sp>
      <p:sp>
        <p:nvSpPr>
          <p:cNvPr id="75" name="Text 73"/>
          <p:cNvSpPr/>
          <p:nvPr/>
        </p:nvSpPr>
        <p:spPr>
          <a:xfrm>
            <a:off x="6687007" y="57058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 + 12 + 8 + 25 + 10 + 12 + 8 = 90 manual minutes, decomposed per desk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66928" y="6400800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API/AGENTS/ROSTER.PY · ONE STAGE LIST SHARED BY THE FEED, THE PROOF AND THE TESTS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4EA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087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5146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0175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5204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5321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5379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0408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5438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5496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5613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671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0700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HOW AI IS MEANINGFULLY USED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896112"/>
            <a:ext cx="11057839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68"/>
              </a:lnSpc>
              <a:buNone/>
            </a:pPr>
            <a:r>
              <a:rPr lang="en-US" sz="34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two seats closest to the money</a:t>
            </a:r>
            <a:endParaRPr lang="en-US" sz="3400" dirty="0"/>
          </a:p>
          <a:p>
            <a:pPr indent="0" marL="0">
              <a:lnSpc>
                <a:spcPts val="3468"/>
              </a:lnSpc>
              <a:buNone/>
            </a:pPr>
            <a:r>
              <a:rPr lang="en-US" sz="34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have no brain to be talked out of.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566928" y="2505456"/>
            <a:ext cx="8595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 diversity is easy to fake. We removed the models from the seats where a persuasive sentence could move funds, and we say so in the interface.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66928" y="3364992"/>
            <a:ext cx="11057839" cy="20117"/>
          </a:xfrm>
          <a:prstGeom prst="rect">
            <a:avLst/>
          </a:prstGeom>
          <a:solidFill>
            <a:srgbClr val="131A15"/>
          </a:solidFill>
          <a:ln/>
        </p:spPr>
      </p:sp>
      <p:sp>
        <p:nvSpPr>
          <p:cNvPr id="30" name="Shape 28"/>
          <p:cNvSpPr/>
          <p:nvPr/>
        </p:nvSpPr>
        <p:spPr>
          <a:xfrm>
            <a:off x="566928" y="3415284"/>
            <a:ext cx="11057839" cy="7315"/>
          </a:xfrm>
          <a:prstGeom prst="rect">
            <a:avLst/>
          </a:prstGeom>
          <a:solidFill>
            <a:srgbClr val="131A15">
              <a:alpha val="8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66928" y="3639312"/>
            <a:ext cx="3456432" cy="2395728"/>
          </a:xfrm>
          <a:prstGeom prst="rect">
            <a:avLst/>
          </a:prstGeom>
          <a:solidFill>
            <a:srgbClr val="F2F5F2"/>
          </a:solidFill>
          <a:ln w="19050">
            <a:solidFill>
              <a:srgbClr val="365F4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3822192"/>
            <a:ext cx="2980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365F4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GEMINI · GROQ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04672" y="4114800"/>
            <a:ext cx="29809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a model helps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804672" y="4517136"/>
            <a:ext cx="298094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Reading a messy email, transcribing a scanned PDF, choosing among seven categories, drafting a letter. Judgement under ambiguity — with a confidence floor.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288536" y="3639312"/>
            <a:ext cx="3456432" cy="2395728"/>
          </a:xfrm>
          <a:prstGeom prst="rect">
            <a:avLst/>
          </a:prstGeom>
          <a:solidFill>
            <a:srgbClr val="F2F5F2"/>
          </a:solidFill>
          <a:ln w="19050">
            <a:solidFill>
              <a:srgbClr val="131A1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26280" y="3822192"/>
            <a:ext cx="2980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 CALLS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526280" y="4114800"/>
            <a:ext cx="29809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no model runs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4526280" y="4517136"/>
            <a:ext cx="298094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Verifying the claim against core banking over MCP, and posting the journal. These seats compare records and check a signed ticket. They do not reason.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010144" y="3639312"/>
            <a:ext cx="3456432" cy="2395728"/>
          </a:xfrm>
          <a:prstGeom prst="rect">
            <a:avLst/>
          </a:prstGeom>
          <a:solidFill>
            <a:srgbClr val="F2F5F2"/>
          </a:solidFill>
          <a:ln w="19050">
            <a:solidFill>
              <a:srgbClr val="8B2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47888" y="3822192"/>
            <a:ext cx="2980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8B2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KERNEL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247888" y="4114800"/>
            <a:ext cx="29809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Who actually decides</a:t>
            </a:r>
            <a:endParaRPr lang="en-US" sz="1550" dirty="0"/>
          </a:p>
        </p:txBody>
      </p:sp>
      <p:sp>
        <p:nvSpPr>
          <p:cNvPr id="42" name="Text 40"/>
          <p:cNvSpPr/>
          <p:nvPr/>
        </p:nvSpPr>
        <p:spPr>
          <a:xfrm>
            <a:off x="8247888" y="4517136"/>
            <a:ext cx="298094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Urgency, the BNM working-day deadline, whether money may move, the FMOS wording and every status transition. Rule pack, not prompt.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66928" y="6400800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RESPONSIBLE AI · A MODEL NEVER HOLDS AUTHORITY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418527" y="640080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1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VERIFIER AND RESOLVER ARE ABSENT FROM THE MODEL ROUTER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0876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51460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01752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52044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53212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53796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04088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54380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54964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56132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6716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07008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A8BFB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LIVE DEMO / 33 SECONDS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914400"/>
            <a:ext cx="5029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spc="-100" kern="0" dirty="0">
                <a:solidFill>
                  <a:srgbClr val="F2F5F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complaint you write yourself.</a:t>
            </a:r>
            <a:endParaRPr lang="en-US" sz="3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3000" b="1" spc="-100" kern="0" dirty="0">
                <a:solidFill>
                  <a:srgbClr val="F2F5F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Seven stages. One refusal.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566928" y="288036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8BF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Press play, or run it live at casezero-alpha.vercel.app/live. Nothing in this film is a mockup: the network is stubbed from the same fixtures the 29 browser tests assert against, and the page is the deployed one.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66928" y="46177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A8BFB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moment to watch for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66928" y="4919472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2F5F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injected instruction arrives. Six brains stay silent and a red REFUSED stamp lands, with zero model calls made.</a:t>
            </a:r>
            <a:endParaRPr lang="en-US" sz="13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806440" y="1143000"/>
            <a:ext cx="5833872" cy="3648456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5806440" y="4919472"/>
            <a:ext cx="58338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spc="10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Axiom-Boardroom-Demo.mp4 · 1440×900 · submission/04-demo/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566928" y="6400800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 THE EMBED WILL NOT PLAY, OPEN SUBMISSION/04-DEMO/AXIOM-BOARDROOM-DEMO.MP4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EA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087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5146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0175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5204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5321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5379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0408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5438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5496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5613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671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0700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WHY YOU CAN BELIEVE THE ANIMATION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896112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68"/>
              </a:lnSpc>
              <a:buNone/>
            </a:pPr>
            <a:r>
              <a:rPr lang="en-US" sz="34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Click any line. It opens</a:t>
            </a:r>
            <a:endParaRPr lang="en-US" sz="3400" dirty="0"/>
          </a:p>
          <a:p>
            <a:pPr indent="0" marL="0">
              <a:lnSpc>
                <a:spcPts val="3468"/>
              </a:lnSpc>
              <a:buNone/>
            </a:pPr>
            <a:r>
              <a:rPr lang="en-US" sz="34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into its own receipt.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566928" y="245059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sentence on the table is assembled in code from an event already on the hash chain. A stage with no event says nothing at all — the seat simply stays quiet.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66928" y="367588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SEQUENCE NUMBER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350008" y="3648456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Its position in the append-only chain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059936"/>
            <a:ext cx="5074920" cy="5486"/>
          </a:xfrm>
          <a:prstGeom prst="rect">
            <a:avLst/>
          </a:prstGeom>
          <a:solidFill>
            <a:srgbClr val="131A15">
              <a:alpha val="18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66928" y="4242816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HASH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350008" y="4215384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link that makes tampering detectable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626864"/>
            <a:ext cx="5074920" cy="5486"/>
          </a:xfrm>
          <a:prstGeom prst="rect">
            <a:avLst/>
          </a:prstGeom>
          <a:solidFill>
            <a:srgbClr val="131A15">
              <a:alpha val="18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566928" y="4809744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EVENT TYPE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350008" y="478231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row the sentence was built from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66928" y="5193792"/>
            <a:ext cx="5074920" cy="5486"/>
          </a:xfrm>
          <a:prstGeom prst="rect">
            <a:avLst/>
          </a:prstGeom>
          <a:solidFill>
            <a:srgbClr val="131A15">
              <a:alpha val="18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5376672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MODEL CALLS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350008" y="534924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Stated per seat, including “none”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66928" y="5760720"/>
            <a:ext cx="5074920" cy="5486"/>
          </a:xfrm>
          <a:prstGeom prst="rect">
            <a:avLst/>
          </a:prstGeom>
          <a:solidFill>
            <a:srgbClr val="131A15">
              <a:alpha val="1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003036" y="864108"/>
            <a:ext cx="5669280" cy="5093208"/>
          </a:xfrm>
          <a:prstGeom prst="rect">
            <a:avLst/>
          </a:prstGeom>
          <a:solidFill>
            <a:srgbClr val="F2F5F2"/>
          </a:solidFill>
          <a:ln w="12700">
            <a:solidFill>
              <a:srgbClr val="131A15"/>
            </a:solidFill>
            <a:prstDash val="solid"/>
          </a:ln>
        </p:spPr>
      </p:sp>
      <p:pic>
        <p:nvPicPr>
          <p:cNvPr id="42" name="Image 0" descr="/Users/saminsmac/Projects/tencent copy 2/casezero/submission/assets/deck/receipt-op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896112"/>
            <a:ext cx="5605272" cy="5029200"/>
          </a:xfrm>
          <a:prstGeom prst="rect">
            <a:avLst/>
          </a:prstGeom>
        </p:spPr>
      </p:pic>
      <p:sp>
        <p:nvSpPr>
          <p:cNvPr id="43" name="Text 40"/>
          <p:cNvSpPr/>
          <p:nvPr/>
        </p:nvSpPr>
        <p:spPr>
          <a:xfrm>
            <a:off x="566928" y="6400800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NO BUBBLE MAY RENDER TEXT THAT DOES NOT DERIVE FROM A CHAINED EVENT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4EA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087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5146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0175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5204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5321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5379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0408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5438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5496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5613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671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0700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RESPONSIBLE AI / THE BEST MOMENT IN THE DEMO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877824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488"/>
              </a:lnSpc>
              <a:buNone/>
            </a:pPr>
            <a:r>
              <a:rPr lang="en-US" sz="4400" b="1" spc="-140" kern="0" dirty="0">
                <a:solidFill>
                  <a:srgbClr val="8B2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being told no.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566928" y="2212848"/>
            <a:ext cx="5303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complaint arrives carrying an instruction aimed at the assistant instead of a description of a dispute. The firewall runs before the first model call, so there is nothing to jailbreak.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 rot="84000">
            <a:off x="566928" y="3520440"/>
            <a:ext cx="2286000" cy="868680"/>
          </a:xfrm>
          <a:prstGeom prst="rect">
            <a:avLst/>
          </a:prstGeom>
          <a:solidFill>
            <a:srgbClr val="E4EAE5"/>
          </a:solidFill>
          <a:ln w="41275">
            <a:solidFill>
              <a:srgbClr val="8B2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 rot="84000">
            <a:off x="566928" y="36301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8B2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REFUSED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 rot="84000">
            <a:off x="566928" y="4032504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spc="160" kern="0" dirty="0">
                <a:solidFill>
                  <a:srgbClr val="8B2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INJECTION FIREWALL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566928" y="4526280"/>
            <a:ext cx="91440" cy="91440"/>
          </a:xfrm>
          <a:prstGeom prst="rect">
            <a:avLst/>
          </a:prstGeom>
          <a:solidFill>
            <a:srgbClr val="8B2333"/>
          </a:solidFill>
          <a:ln/>
        </p:spPr>
      </p:sp>
      <p:sp>
        <p:nvSpPr>
          <p:cNvPr id="33" name="Text 31"/>
          <p:cNvSpPr/>
          <p:nvPr/>
        </p:nvSpPr>
        <p:spPr>
          <a:xfrm>
            <a:off x="804672" y="4398264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 model calls made — the block is upstream of them all.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5093208"/>
            <a:ext cx="91440" cy="91440"/>
          </a:xfrm>
          <a:prstGeom prst="rect">
            <a:avLst/>
          </a:prstGeom>
          <a:solidFill>
            <a:srgbClr val="8B2333"/>
          </a:solidFill>
          <a:ln/>
        </p:spPr>
      </p:sp>
      <p:sp>
        <p:nvSpPr>
          <p:cNvPr id="35" name="Text 33"/>
          <p:cNvSpPr/>
          <p:nvPr/>
        </p:nvSpPr>
        <p:spPr>
          <a:xfrm>
            <a:off x="804672" y="4965192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downstream seat reads “Never saw it”, not “skipped”.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5660136"/>
            <a:ext cx="91440" cy="91440"/>
          </a:xfrm>
          <a:prstGeom prst="rect">
            <a:avLst/>
          </a:prstGeom>
          <a:solidFill>
            <a:srgbClr val="8B2333"/>
          </a:solidFill>
          <a:ln/>
        </p:spPr>
      </p:sp>
      <p:sp>
        <p:nvSpPr>
          <p:cNvPr id="37" name="Text 35"/>
          <p:cNvSpPr/>
          <p:nvPr/>
        </p:nvSpPr>
        <p:spPr>
          <a:xfrm>
            <a:off x="804672" y="5532120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savings are claimed for a refused case. The value of a refusal is the loss that never happened, and we do not put a number on that.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003036" y="534924"/>
            <a:ext cx="5669280" cy="5788152"/>
          </a:xfrm>
          <a:prstGeom prst="rect">
            <a:avLst/>
          </a:prstGeom>
          <a:solidFill>
            <a:srgbClr val="F2F5F2"/>
          </a:solidFill>
          <a:ln w="12700">
            <a:solidFill>
              <a:srgbClr val="131A15"/>
            </a:solidFill>
            <a:prstDash val="solid"/>
          </a:ln>
        </p:spPr>
      </p:sp>
      <p:pic>
        <p:nvPicPr>
          <p:cNvPr id="39" name="Image 0" descr="/Users/saminsmac/Projects/tencent copy 2/casezero/submission/assets/deck/boardroom-refus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566928"/>
            <a:ext cx="5605272" cy="5724144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566928" y="6400800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FOREIGN IDENTIFIERS ARE REFUSED, NEVER SILENTLY SCRUBBED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4EA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087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5146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0175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5204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5321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5379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0408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5438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5496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5613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671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0700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BUSINESS VALUE / INVESTIGATOR TIME FREED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877824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162"/>
              </a:lnSpc>
              <a:buNone/>
            </a:pPr>
            <a:r>
              <a:rPr lang="en-US" sz="31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show which numbers we measured</a:t>
            </a:r>
            <a:endParaRPr lang="en-US" sz="3100" dirty="0"/>
          </a:p>
          <a:p>
            <a:pPr indent="0" marL="0">
              <a:lnSpc>
                <a:spcPts val="3162"/>
              </a:lnSpc>
              <a:buNone/>
            </a:pPr>
            <a:r>
              <a:rPr lang="en-US" sz="31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which we assumed.</a:t>
            </a:r>
            <a:endParaRPr lang="en-US" sz="3100" dirty="0"/>
          </a:p>
        </p:txBody>
      </p:sp>
      <p:sp>
        <p:nvSpPr>
          <p:cNvPr id="28" name="Text 26"/>
          <p:cNvSpPr/>
          <p:nvPr/>
        </p:nvSpPr>
        <p:spPr>
          <a:xfrm>
            <a:off x="566928" y="2286000"/>
            <a:ext cx="7680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bigger number is easy. A number a compliance officer can take apart is worth more, so the three kinds are labelled and never mixed.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4924" y="3040380"/>
            <a:ext cx="7424928" cy="3172968"/>
          </a:xfrm>
          <a:prstGeom prst="rect">
            <a:avLst/>
          </a:prstGeom>
          <a:solidFill>
            <a:srgbClr val="F2F5F2"/>
          </a:solidFill>
          <a:ln w="12700">
            <a:solidFill>
              <a:srgbClr val="131A15"/>
            </a:solidFill>
            <a:prstDash val="solid"/>
          </a:ln>
        </p:spPr>
      </p:sp>
      <p:pic>
        <p:nvPicPr>
          <p:cNvPr id="30" name="Image 0" descr="/Users/saminsmac/Projects/tencent copy 2/casezero/submission/assets/deck/value-ledg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3072384"/>
            <a:ext cx="7360920" cy="3108960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8275320" y="3127248"/>
            <a:ext cx="1371600" cy="256032"/>
          </a:xfrm>
          <a:prstGeom prst="rect">
            <a:avLst/>
          </a:prstGeom>
          <a:solidFill>
            <a:srgbClr val="131A15"/>
          </a:solidFill>
          <a:ln w="12700">
            <a:solidFill>
              <a:srgbClr val="131A1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275320" y="314553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2F5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MEASURED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8275320" y="3438144"/>
            <a:ext cx="336499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Timestamps on this run's chain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8275320" y="4023360"/>
            <a:ext cx="1371600" cy="256032"/>
          </a:xfrm>
          <a:prstGeom prst="rect">
            <a:avLst/>
          </a:prstGeom>
          <a:ln w="12700">
            <a:solidFill>
              <a:srgbClr val="5A665D"/>
            </a:solidFill>
            <a:prstDash val="dash"/>
          </a:ln>
        </p:spPr>
      </p:sp>
      <p:sp>
        <p:nvSpPr>
          <p:cNvPr id="35" name="Text 32"/>
          <p:cNvSpPr/>
          <p:nvPr/>
        </p:nvSpPr>
        <p:spPr>
          <a:xfrm>
            <a:off x="8275320" y="4041648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BASELINE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8275320" y="4334256"/>
            <a:ext cx="336499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brief's 90 minutes, split per desk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75320" y="4919472"/>
            <a:ext cx="1371600" cy="256032"/>
          </a:xfrm>
          <a:prstGeom prst="rect">
            <a:avLst/>
          </a:prstGeom>
          <a:ln w="12700">
            <a:solidFill>
              <a:srgbClr val="5A665D"/>
            </a:solidFill>
            <a:prstDash val="sysDot"/>
          </a:ln>
        </p:spPr>
      </p:sp>
      <p:sp>
        <p:nvSpPr>
          <p:cNvPr id="38" name="Text 35"/>
          <p:cNvSpPr/>
          <p:nvPr/>
        </p:nvSpPr>
        <p:spPr>
          <a:xfrm>
            <a:off x="8275320" y="4937760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ASSUMPTION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8275320" y="5230368"/>
            <a:ext cx="336499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Rate and volume — editable on screen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275320" y="5815584"/>
            <a:ext cx="3364992" cy="365760"/>
          </a:xfrm>
          <a:prstGeom prst="rect">
            <a:avLst/>
          </a:prstGeom>
          <a:solidFill>
            <a:srgbClr val="F2F5F2"/>
          </a:solidFill>
          <a:ln w="9525">
            <a:solidFill>
              <a:srgbClr val="131A1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8275320" y="5852160"/>
            <a:ext cx="3364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89.9 analyst minutes handed back, this case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566928" y="6400800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“INVESTIGATOR TIME FREED” IS A METRIC THE BRIEF ASKS FOR BY NAME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0876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51460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01752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52044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53212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53796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04088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54380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54964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56132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6716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070080" y="0"/>
            <a:ext cx="7315" cy="68580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A8BFB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TECHNICAL EXECUTION / MEASURED, NOT ASSERTED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914400"/>
            <a:ext cx="11057839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876"/>
              </a:lnSpc>
              <a:buNone/>
            </a:pPr>
            <a:r>
              <a:rPr lang="en-US" sz="3800" b="1" spc="-140" kern="0" dirty="0">
                <a:solidFill>
                  <a:srgbClr val="F2F5F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Everything above is checked in.</a:t>
            </a:r>
            <a:endParaRPr lang="en-US" sz="3800" dirty="0"/>
          </a:p>
        </p:txBody>
      </p:sp>
      <p:sp>
        <p:nvSpPr>
          <p:cNvPr id="28" name="Shape 26"/>
          <p:cNvSpPr/>
          <p:nvPr/>
        </p:nvSpPr>
        <p:spPr>
          <a:xfrm>
            <a:off x="566928" y="2139696"/>
            <a:ext cx="11057839" cy="20117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" y="2189988"/>
            <a:ext cx="11057839" cy="731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2487168"/>
            <a:ext cx="338328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200" kern="0" dirty="0">
                <a:solidFill>
                  <a:srgbClr val="F2F5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95.90%</a:t>
            </a:r>
            <a:endParaRPr lang="en-US" sz="4000" dirty="0"/>
          </a:p>
        </p:txBody>
      </p:sp>
      <p:sp>
        <p:nvSpPr>
          <p:cNvPr id="31" name="Text 29"/>
          <p:cNvSpPr/>
          <p:nvPr/>
        </p:nvSpPr>
        <p:spPr>
          <a:xfrm>
            <a:off x="566928" y="3447288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8BF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category accuracy across 195 clean cases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288536" y="2487168"/>
            <a:ext cx="338328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200" kern="0" dirty="0">
                <a:solidFill>
                  <a:srgbClr val="F2F5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98.97%</a:t>
            </a:r>
            <a:endParaRPr lang="en-US" sz="4000" dirty="0"/>
          </a:p>
        </p:txBody>
      </p:sp>
      <p:sp>
        <p:nvSpPr>
          <p:cNvPr id="33" name="Text 31"/>
          <p:cNvSpPr/>
          <p:nvPr/>
        </p:nvSpPr>
        <p:spPr>
          <a:xfrm>
            <a:off x="4288536" y="3447288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8BF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urgency accuracy on the same run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010144" y="2487168"/>
            <a:ext cx="338328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200" kern="0" dirty="0">
                <a:solidFill>
                  <a:srgbClr val="F2F5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5 / 5</a:t>
            </a:r>
            <a:endParaRPr lang="en-US" sz="4000" dirty="0"/>
          </a:p>
        </p:txBody>
      </p:sp>
      <p:sp>
        <p:nvSpPr>
          <p:cNvPr id="35" name="Text 33"/>
          <p:cNvSpPr/>
          <p:nvPr/>
        </p:nvSpPr>
        <p:spPr>
          <a:xfrm>
            <a:off x="8010144" y="3447288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8BF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injection attacks blocked, zero false positives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66928" y="4114800"/>
            <a:ext cx="11057839" cy="20117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66928" y="4165092"/>
            <a:ext cx="11057839" cy="731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443984"/>
            <a:ext cx="338328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200" kern="0" dirty="0">
                <a:solidFill>
                  <a:srgbClr val="F2F5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501</a:t>
            </a:r>
            <a:endParaRPr lang="en-US" sz="4000" dirty="0"/>
          </a:p>
        </p:txBody>
      </p:sp>
      <p:sp>
        <p:nvSpPr>
          <p:cNvPr id="39" name="Text 37"/>
          <p:cNvSpPr/>
          <p:nvPr/>
        </p:nvSpPr>
        <p:spPr>
          <a:xfrm>
            <a:off x="566928" y="5404104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8BF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backend tests passing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4288536" y="4443984"/>
            <a:ext cx="338328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200" kern="0" dirty="0">
                <a:solidFill>
                  <a:srgbClr val="F2F5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29</a:t>
            </a:r>
            <a:endParaRPr lang="en-US" sz="4000" dirty="0"/>
          </a:p>
        </p:txBody>
      </p:sp>
      <p:sp>
        <p:nvSpPr>
          <p:cNvPr id="41" name="Text 39"/>
          <p:cNvSpPr/>
          <p:nvPr/>
        </p:nvSpPr>
        <p:spPr>
          <a:xfrm>
            <a:off x="4288536" y="5404104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8BF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browser journeys, 12 on the boardroom alone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8010144" y="4443984"/>
            <a:ext cx="338328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200" kern="0" dirty="0">
                <a:solidFill>
                  <a:srgbClr val="F2F5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</a:t>
            </a:r>
            <a:endParaRPr lang="en-US" sz="4000" dirty="0"/>
          </a:p>
        </p:txBody>
      </p:sp>
      <p:sp>
        <p:nvSpPr>
          <p:cNvPr id="43" name="Text 41"/>
          <p:cNvSpPr/>
          <p:nvPr/>
        </p:nvSpPr>
        <p:spPr>
          <a:xfrm>
            <a:off x="8010144" y="5404104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8BF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npm vulnerabilities at high or above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566928" y="6400800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RM0.001025 PER CASE · 2.616S P50 / 4.626S P95 MODEL LATENCY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418527" y="640080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1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CONTINUOUS HASH CHAIN · 13 VALID LINKS PER CASE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4EA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087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5146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0175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5204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5321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5379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0408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5438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5496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5613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671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0700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USER EXPERIENCE AND ACCESSIBILITY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896112"/>
            <a:ext cx="5852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68"/>
              </a:lnSpc>
              <a:buNone/>
            </a:pPr>
            <a:r>
              <a:rPr lang="en-US" sz="34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scariest states get</a:t>
            </a:r>
            <a:endParaRPr lang="en-US" sz="3400" dirty="0"/>
          </a:p>
          <a:p>
            <a:pPr indent="0" marL="0">
              <a:lnSpc>
                <a:spcPts val="3468"/>
              </a:lnSpc>
              <a:buNone/>
            </a:pPr>
            <a:r>
              <a:rPr lang="en-US" sz="34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best typography.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566928" y="2395728"/>
            <a:ext cx="56692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Refused, degraded and held-for-human are designed states, not red toasts. Every path carries the whole story.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66928" y="3310128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390PX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258568" y="327355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oval becomes a vertical relay. No horizontal overflow, asserted in a test.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3730752"/>
            <a:ext cx="5806440" cy="5486"/>
          </a:xfrm>
          <a:prstGeom prst="rect">
            <a:avLst/>
          </a:prstGeom>
          <a:solidFill>
            <a:srgbClr val="131A15">
              <a:alpha val="16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66928" y="391363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REDUCED MOTION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258568" y="3877056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Falls back to the checklist rail — the animation goes, the evidence stays.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334256"/>
            <a:ext cx="5806440" cy="5486"/>
          </a:xfrm>
          <a:prstGeom prst="rect">
            <a:avLst/>
          </a:prstGeom>
          <a:solidFill>
            <a:srgbClr val="131A15">
              <a:alpha val="16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566928" y="451713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SCREEN READER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258568" y="448056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live region announces each handoff as “Verifier to Kernel: …”.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4937760"/>
            <a:ext cx="5806440" cy="5486"/>
          </a:xfrm>
          <a:prstGeom prst="rect">
            <a:avLst/>
          </a:prstGeom>
          <a:solidFill>
            <a:srgbClr val="131A15">
              <a:alpha val="16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512064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KEYBOARD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258568" y="5084064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receipt is a real button. Skip link, visible focus ring, AA contrast.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66928" y="5541264"/>
            <a:ext cx="5806440" cy="5486"/>
          </a:xfrm>
          <a:prstGeom prst="rect">
            <a:avLst/>
          </a:prstGeom>
          <a:solidFill>
            <a:srgbClr val="131A15">
              <a:alpha val="16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5724144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DEGRADED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258568" y="5687568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If a model key is missing, the seat says so instead of claiming diversity.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566928" y="6144768"/>
            <a:ext cx="5806440" cy="5486"/>
          </a:xfrm>
          <a:prstGeom prst="rect">
            <a:avLst/>
          </a:prstGeom>
          <a:solidFill>
            <a:srgbClr val="131A15">
              <a:alpha val="16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334756" y="608076"/>
            <a:ext cx="2642616" cy="5641848"/>
          </a:xfrm>
          <a:prstGeom prst="rect">
            <a:avLst/>
          </a:prstGeom>
          <a:solidFill>
            <a:srgbClr val="F2F5F2"/>
          </a:solidFill>
          <a:ln w="12700">
            <a:solidFill>
              <a:srgbClr val="131A15"/>
            </a:solidFill>
            <a:prstDash val="solid"/>
          </a:ln>
        </p:spPr>
      </p:sp>
      <p:pic>
        <p:nvPicPr>
          <p:cNvPr id="45" name="Image 0" descr="/Users/saminsmac/Projects/tencent copy 2/casezero/submission/assets/deck/boardroom-mobile-fol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366760" y="640080"/>
            <a:ext cx="2578608" cy="5577840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6400800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PREFERS-REDUCED-MOTION AND THE SCREEN-READER PATH CARRY THE FULL STORY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4EA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087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5146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0175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5204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5321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5379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0408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5438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5496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5613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671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0700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FEASIBILITY / WHAT IS REAL TODAY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896112"/>
            <a:ext cx="11057839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68"/>
              </a:lnSpc>
              <a:buNone/>
            </a:pPr>
            <a:r>
              <a:rPr lang="en-US" sz="34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Deployed and running. What is</a:t>
            </a:r>
            <a:endParaRPr lang="en-US" sz="3400" dirty="0"/>
          </a:p>
          <a:p>
            <a:pPr indent="0" marL="0">
              <a:lnSpc>
                <a:spcPts val="3468"/>
              </a:lnSpc>
              <a:buNone/>
            </a:pPr>
            <a:r>
              <a:rPr lang="en-US" sz="34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left is the bank's to hand over.</a:t>
            </a:r>
            <a:endParaRPr lang="en-US" sz="3400" dirty="0"/>
          </a:p>
        </p:txBody>
      </p:sp>
      <p:sp>
        <p:nvSpPr>
          <p:cNvPr id="28" name="Shape 26"/>
          <p:cNvSpPr/>
          <p:nvPr/>
        </p:nvSpPr>
        <p:spPr>
          <a:xfrm>
            <a:off x="566928" y="2578608"/>
            <a:ext cx="11057839" cy="20117"/>
          </a:xfrm>
          <a:prstGeom prst="rect">
            <a:avLst/>
          </a:prstGeom>
          <a:solidFill>
            <a:srgbClr val="131A15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" y="2628900"/>
            <a:ext cx="11057839" cy="7315"/>
          </a:xfrm>
          <a:prstGeom prst="rect">
            <a:avLst/>
          </a:prstGeom>
          <a:solidFill>
            <a:srgbClr val="131A15">
              <a:alpha val="8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66928" y="2852928"/>
            <a:ext cx="5394960" cy="3108960"/>
          </a:xfrm>
          <a:prstGeom prst="rect">
            <a:avLst/>
          </a:prstGeom>
          <a:solidFill>
            <a:srgbClr val="F2F5F2"/>
          </a:solidFill>
          <a:ln w="19050">
            <a:solidFill>
              <a:srgbClr val="365F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3054096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365F4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REAL NOW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22960" y="3401568"/>
            <a:ext cx="4846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FastAPI on Vercel · Gemini and Groq routing · MCP core-banking and CRM servers over stdio · Supabase with row-level security · encrypted PII · append-only hashed events · balanced double-entry journals · scheduled SLA worker · public runner with rate limits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236208" y="2852928"/>
            <a:ext cx="5394960" cy="3108960"/>
          </a:xfrm>
          <a:prstGeom prst="rect">
            <a:avLst/>
          </a:prstGeom>
          <a:solidFill>
            <a:srgbClr val="F2F5F2"/>
          </a:solidFill>
          <a:ln w="9525">
            <a:solidFill>
              <a:srgbClr val="131A1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92240" y="3054096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BANK SUPPLIES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492240" y="3401568"/>
            <a:ext cx="4846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65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Core banking and CRM credentials in place of the synthetic adapters · the approved complaints mailbox · an approved sending identity · Compliance sign-off on the rule pack · the first Admin identity · a host for the continuous SLA worker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66928" y="608990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First rollout: unauthorised transactions and billing errors — 57% of stated volume — in shadow mode.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66928" y="6400800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NO REAL CUSTOMER DATA HAS EVER ENTERED THIS SYSTEM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4EA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087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5146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0175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5204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5321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5379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0408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5438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5496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56132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56716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070080" y="0"/>
            <a:ext cx="7315" cy="6858000"/>
          </a:xfrm>
          <a:prstGeom prst="rect">
            <a:avLst/>
          </a:prstGeom>
          <a:solidFill>
            <a:srgbClr val="131A15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TRY IT BEFORE YOU SCORE IT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1051560"/>
            <a:ext cx="1105783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488"/>
              </a:lnSpc>
              <a:buNone/>
            </a:pPr>
            <a:r>
              <a:rPr lang="en-US" sz="44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Write your own complaint</a:t>
            </a:r>
            <a:endParaRPr lang="en-US" sz="4400" dirty="0"/>
          </a:p>
          <a:p>
            <a:pPr indent="0" marL="0">
              <a:lnSpc>
                <a:spcPts val="4488"/>
              </a:lnSpc>
              <a:buNone/>
            </a:pPr>
            <a:r>
              <a:rPr lang="en-US" sz="4400" b="1" spc="-14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watch it become proof.</a:t>
            </a:r>
            <a:endParaRPr lang="en-US" sz="4400" dirty="0"/>
          </a:p>
        </p:txBody>
      </p:sp>
      <p:sp>
        <p:nvSpPr>
          <p:cNvPr id="28" name="Shape 26"/>
          <p:cNvSpPr/>
          <p:nvPr/>
        </p:nvSpPr>
        <p:spPr>
          <a:xfrm>
            <a:off x="566928" y="3200400"/>
            <a:ext cx="11057839" cy="20117"/>
          </a:xfrm>
          <a:prstGeom prst="rect">
            <a:avLst/>
          </a:prstGeom>
          <a:solidFill>
            <a:srgbClr val="131A15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" y="3250692"/>
            <a:ext cx="11057839" cy="7315"/>
          </a:xfrm>
          <a:prstGeom prst="rect">
            <a:avLst/>
          </a:prstGeom>
          <a:solidFill>
            <a:srgbClr val="131A15">
              <a:alpha val="8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3456432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LIVE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664208" y="3401568"/>
            <a:ext cx="768096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casezero-alpha.vercel.app/live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66928" y="4114800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664208" y="4059936"/>
            <a:ext cx="768096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github.com/saminsarwat007/casezero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66928" y="4773168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FILM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664208" y="4718304"/>
            <a:ext cx="768096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A1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submission/04-demo/Axiom-Boardroom-Demo.mp4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7831836" y="3278124"/>
            <a:ext cx="3840480" cy="2578608"/>
          </a:xfrm>
          <a:prstGeom prst="rect">
            <a:avLst/>
          </a:prstGeom>
          <a:solidFill>
            <a:srgbClr val="F2F5F2"/>
          </a:solidFill>
          <a:ln w="12700">
            <a:solidFill>
              <a:srgbClr val="131A15"/>
            </a:solidFill>
            <a:prstDash val="solid"/>
          </a:ln>
        </p:spPr>
      </p:sp>
      <p:pic>
        <p:nvPicPr>
          <p:cNvPr id="37" name="Image 0" descr="/Users/saminsmac/Projects/tencent copy 2/casezero/submission/assets/deck/land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63840" y="3310128"/>
            <a:ext cx="3776472" cy="251460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566928" y="57790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-60" kern="0" dirty="0">
                <a:solidFill>
                  <a:srgbClr val="131A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Models propose. The kernel disposes.</a:t>
            </a:r>
            <a:endParaRPr lang="en-US" sz="1900" dirty="0"/>
          </a:p>
        </p:txBody>
      </p:sp>
      <p:sp>
        <p:nvSpPr>
          <p:cNvPr id="39" name="Text 36"/>
          <p:cNvSpPr/>
          <p:nvPr/>
        </p:nvSpPr>
        <p:spPr>
          <a:xfrm>
            <a:off x="566928" y="6400800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80" kern="0" dirty="0">
                <a:solidFill>
                  <a:srgbClr val="5A665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AXIOM BY CASEZERO · CASE STUDY 1 · SYNTHETIC CUSTOMERS, REAL PIPELINE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CaseZero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Axiom by CaseZero — Demo Day</dc:title>
  <dc:subject>Tencent Cloud x UTM Hackathon, Case Study 1: banking dispute resolution</dc:subject>
  <dc:creator>CaseZero</dc:creator>
  <cp:lastModifiedBy>CaseZero</cp:lastModifiedBy>
  <cp:revision>1</cp:revision>
  <dcterms:created xsi:type="dcterms:W3CDTF">2026-08-11T17:43:01Z</dcterms:created>
  <dcterms:modified xsi:type="dcterms:W3CDTF">2026-08-11T17:43:01Z</dcterms:modified>
</cp:coreProperties>
</file>