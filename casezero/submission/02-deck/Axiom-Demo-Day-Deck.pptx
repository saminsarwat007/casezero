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e0182b0f4e47a9" /><Relationship Type="http://schemas.openxmlformats.org/officeDocument/2006/relationships/extended-properties" Target="/docProps/app.xml" Id="Ra4b6f8fafa6b4191" /><Relationship Type="http://schemas.openxmlformats.org/officeDocument/2006/relationships/officeDocument" Target="/ppt/presentation.xml" Id="R7a6efb3590eb4b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e88f6276a74c4a"/>
  </p:sldMasterIdLst>
  <p:notesMasterIdLst>
    <p:notesMasterId xmlns:r="http://schemas.openxmlformats.org/officeDocument/2006/relationships" r:id="R0fd4a3913c024191"/>
  </p:notesMasterIdLst>
  <p:sldIdLst>
    <p:sldId xmlns:r="http://schemas.openxmlformats.org/officeDocument/2006/relationships" id="256" r:id="Rd5466810e5f846d8"/>
    <p:sldId xmlns:r="http://schemas.openxmlformats.org/officeDocument/2006/relationships" id="257" r:id="Rfde6abc3e3a94077"/>
    <p:sldId xmlns:r="http://schemas.openxmlformats.org/officeDocument/2006/relationships" id="258" r:id="Rc5fbf3390c7e4266"/>
    <p:sldId xmlns:r="http://schemas.openxmlformats.org/officeDocument/2006/relationships" id="259" r:id="Rb81bf8eae7524b11"/>
    <p:sldId xmlns:r="http://schemas.openxmlformats.org/officeDocument/2006/relationships" id="260" r:id="Rbac9b99e2d7d4706"/>
    <p:sldId xmlns:r="http://schemas.openxmlformats.org/officeDocument/2006/relationships" id="261" r:id="R32d3eaa66ec1472e"/>
    <p:sldId xmlns:r="http://schemas.openxmlformats.org/officeDocument/2006/relationships" id="262" r:id="R1e1fce3178244882"/>
    <p:sldId xmlns:r="http://schemas.openxmlformats.org/officeDocument/2006/relationships" id="263" r:id="R7babe576b23346c2"/>
    <p:sldId xmlns:r="http://schemas.openxmlformats.org/officeDocument/2006/relationships" id="264" r:id="Rfd311353f9d34459"/>
    <p:sldId xmlns:r="http://schemas.openxmlformats.org/officeDocument/2006/relationships" id="265" r:id="R18112dea9d614765"/>
    <p:sldId xmlns:r="http://schemas.openxmlformats.org/officeDocument/2006/relationships" id="266" r:id="Rfb64387b4cc143bf"/>
    <p:sldId xmlns:r="http://schemas.openxmlformats.org/officeDocument/2006/relationships" id="267" r:id="Rc274760e691c49dc"/>
    <p:sldId xmlns:r="http://schemas.openxmlformats.org/officeDocument/2006/relationships" id="268" r:id="R033f5cab13074db6"/>
    <p:sldId xmlns:r="http://schemas.openxmlformats.org/officeDocument/2006/relationships" id="269" r:id="Rfba2ce803d404104"/>
    <p:sldId xmlns:r="http://schemas.openxmlformats.org/officeDocument/2006/relationships" id="270" r:id="R2255c3c4776e4a57"/>
    <p:sldId xmlns:r="http://schemas.openxmlformats.org/officeDocument/2006/relationships" id="271" r:id="R2d01798e79f94de2"/>
    <p:sldId xmlns:r="http://schemas.openxmlformats.org/officeDocument/2006/relationships" id="272" r:id="Rae044d2158ab496d"/>
    <p:sldId xmlns:r="http://schemas.openxmlformats.org/officeDocument/2006/relationships" id="273" r:id="R72392290ec924d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923173629c4ab1" /><Relationship Type="http://schemas.openxmlformats.org/officeDocument/2006/relationships/slideMaster" Target="/ppt/slideMasters/slideMaster1.xml" Id="R9fe88f6276a74c4a" /><Relationship Type="http://schemas.openxmlformats.org/officeDocument/2006/relationships/notesMaster" Target="/ppt/notesMasters/notesMaster1.xml" Id="R0fd4a3913c024191" /><Relationship Type="http://schemas.openxmlformats.org/officeDocument/2006/relationships/presProps" Target="/ppt/presProps.xml" Id="Rf32058d675d643fc" /><Relationship Type="http://schemas.openxmlformats.org/officeDocument/2006/relationships/tableStyles" Target="/ppt/tableStyles.xml" Id="R783369958b624156" /><Relationship Type="http://schemas.openxmlformats.org/officeDocument/2006/relationships/slide" Target="/ppt/slides/slide1.xml" Id="Rd5466810e5f846d8" /><Relationship Type="http://schemas.openxmlformats.org/officeDocument/2006/relationships/slide" Target="/ppt/slides/slide2.xml" Id="Rfde6abc3e3a94077" /><Relationship Type="http://schemas.openxmlformats.org/officeDocument/2006/relationships/slide" Target="/ppt/slides/slide3.xml" Id="Rc5fbf3390c7e4266" /><Relationship Type="http://schemas.openxmlformats.org/officeDocument/2006/relationships/slide" Target="/ppt/slides/slide4.xml" Id="Rb81bf8eae7524b11" /><Relationship Type="http://schemas.openxmlformats.org/officeDocument/2006/relationships/slide" Target="/ppt/slides/slide5.xml" Id="Rbac9b99e2d7d4706" /><Relationship Type="http://schemas.openxmlformats.org/officeDocument/2006/relationships/slide" Target="/ppt/slides/slide6.xml" Id="R32d3eaa66ec1472e" /><Relationship Type="http://schemas.openxmlformats.org/officeDocument/2006/relationships/slide" Target="/ppt/slides/slide7.xml" Id="R1e1fce3178244882" /><Relationship Type="http://schemas.openxmlformats.org/officeDocument/2006/relationships/slide" Target="/ppt/slides/slide8.xml" Id="R7babe576b23346c2" /><Relationship Type="http://schemas.openxmlformats.org/officeDocument/2006/relationships/slide" Target="/ppt/slides/slide9.xml" Id="Rfd311353f9d34459" /><Relationship Type="http://schemas.openxmlformats.org/officeDocument/2006/relationships/slide" Target="/ppt/slides/slide10.xml" Id="R18112dea9d614765" /><Relationship Type="http://schemas.openxmlformats.org/officeDocument/2006/relationships/slide" Target="/ppt/slides/slide11.xml" Id="Rfb64387b4cc143bf" /><Relationship Type="http://schemas.openxmlformats.org/officeDocument/2006/relationships/slide" Target="/ppt/slides/slide12.xml" Id="Rc274760e691c49dc" /><Relationship Type="http://schemas.openxmlformats.org/officeDocument/2006/relationships/slide" Target="/ppt/slides/slide13.xml" Id="R033f5cab13074db6" /><Relationship Type="http://schemas.openxmlformats.org/officeDocument/2006/relationships/slide" Target="/ppt/slides/slide14.xml" Id="Rfba2ce803d404104" /><Relationship Type="http://schemas.openxmlformats.org/officeDocument/2006/relationships/slide" Target="/ppt/slides/slide15.xml" Id="R2255c3c4776e4a57" /><Relationship Type="http://schemas.openxmlformats.org/officeDocument/2006/relationships/slide" Target="/ppt/slides/slide16.xml" Id="R2d01798e79f94de2" /><Relationship Type="http://schemas.openxmlformats.org/officeDocument/2006/relationships/slide" Target="/ppt/slides/slide17.xml" Id="Rae044d2158ab496d" /><Relationship Type="http://schemas.openxmlformats.org/officeDocument/2006/relationships/slide" Target="/ppt/slides/slide18.xml" Id="R72392290ec924d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1bdb4099db45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035a02c72a4340" /><Relationship Type="http://schemas.openxmlformats.org/officeDocument/2006/relationships/notesMaster" Target="/ppt/notesMasters/notesMaster1.xml" Id="Rc2959025cd7a49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542bae871740b8" /><Relationship Type="http://schemas.openxmlformats.org/officeDocument/2006/relationships/notesMaster" Target="/ppt/notesMasters/notesMaster1.xml" Id="Rbb53ea1d5f7543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66aaa80ba841d8" /><Relationship Type="http://schemas.openxmlformats.org/officeDocument/2006/relationships/notesMaster" Target="/ppt/notesMasters/notesMaster1.xml" Id="R562e3612ad2d4a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02036c5bf34ed1" /><Relationship Type="http://schemas.openxmlformats.org/officeDocument/2006/relationships/notesMaster" Target="/ppt/notesMasters/notesMaster1.xml" Id="R8be97a43cb484c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0bb48e30ea415e" /><Relationship Type="http://schemas.openxmlformats.org/officeDocument/2006/relationships/notesMaster" Target="/ppt/notesMasters/notesMaster1.xml" Id="Rb8d9e098dba448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2541e02fb74148" /><Relationship Type="http://schemas.openxmlformats.org/officeDocument/2006/relationships/notesMaster" Target="/ppt/notesMasters/notesMaster1.xml" Id="Rae81775cf2a44f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0e52e6b0864fbd" /><Relationship Type="http://schemas.openxmlformats.org/officeDocument/2006/relationships/notesMaster" Target="/ppt/notesMasters/notesMaster1.xml" Id="R1d4c94382bdf4c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f8eb969caa4c4e" /><Relationship Type="http://schemas.openxmlformats.org/officeDocument/2006/relationships/notesMaster" Target="/ppt/notesMasters/notesMaster1.xml" Id="R1cf01b2097f946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be84260a164e39" /><Relationship Type="http://schemas.openxmlformats.org/officeDocument/2006/relationships/notesMaster" Target="/ppt/notesMasters/notesMaster1.xml" Id="R63a5a8d8564848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a7dbc1ee1b1461d" /><Relationship Type="http://schemas.openxmlformats.org/officeDocument/2006/relationships/notesMaster" Target="/ppt/notesMasters/notesMaster1.xml" Id="R38552ef1f9384a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8d00422108461e" /><Relationship Type="http://schemas.openxmlformats.org/officeDocument/2006/relationships/notesMaster" Target="/ppt/notesMasters/notesMaster1.xml" Id="R58da81ca7e9d44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d3f66493a0b4215" /><Relationship Type="http://schemas.openxmlformats.org/officeDocument/2006/relationships/notesMaster" Target="/ppt/notesMasters/notesMaster1.xml" Id="R7dcf8d7939dd48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a06d7ac77047c8" /><Relationship Type="http://schemas.openxmlformats.org/officeDocument/2006/relationships/notesMaster" Target="/ppt/notesMasters/notesMaster1.xml" Id="Re58990870dac43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ed77dda041a46be" /><Relationship Type="http://schemas.openxmlformats.org/officeDocument/2006/relationships/notesMaster" Target="/ppt/notesMasters/notesMaster1.xml" Id="R5818e4d960854f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9bc3c06d438419f" /><Relationship Type="http://schemas.openxmlformats.org/officeDocument/2006/relationships/notesMaster" Target="/ppt/notesMasters/notesMaster1.xml" Id="Raf01b3c352d34b0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148bb4e96c1495a" /><Relationship Type="http://schemas.openxmlformats.org/officeDocument/2006/relationships/notesMaster" Target="/ppt/notesMasters/notesMaster1.xml" Id="Rbb6e8c09447646f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78a4185956b4fcb" /><Relationship Type="http://schemas.openxmlformats.org/officeDocument/2006/relationships/notesMaster" Target="/ppt/notesMasters/notesMaster1.xml" Id="Rb9988d83776241d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e4d81dd1fc142fe" /><Relationship Type="http://schemas.openxmlformats.org/officeDocument/2006/relationships/notesMaster" Target="/ppt/notesMasters/notesMaster1.xml" Id="Rbcbd84a3546545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0:00–0:10 (10 seconds).</a:t>
            </a:r>
          </a:p>
          <a:p xmlns:a="http://schemas.openxmlformats.org/drawingml/2006/main">
            <a:r>
              <a:t>Say: ‘CaseZero resolves bank complaints in minutes, while keeping every decision visible and governed from end to end.’</a:t>
            </a:r>
          </a:p>
          <a:p xmlns:a="http://schemas.openxmlformats.org/drawingml/2006/main">
            <a:r>
              <a:t>This is the company purpose. Do not list features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 Demo Day Guideline supplied by the user, 12 Aug 2026.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Sequoia Capital — company purpose should be one declarative sentence.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0:10–0:30 (20 seconds).</a:t>
            </a:r>
          </a:p>
          <a:p xmlns:a="http://schemas.openxmlformats.org/drawingml/2006/main">
            <a:r>
              <a:t>Say: ‘The case-study baseline is 90 minutes. The customer repeats the same story while evidence and ownership move through six desks.’</a:t>
            </a:r>
          </a:p>
          <a:p xmlns:a="http://schemas.openxmlformats.org/drawingml/2006/main">
            <a:r>
              <a:t>Keep this slide to the problem only. Do not reveal the solution until slide 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90-minute baseline.</a:t>
            </a:r>
          </a:p>
          <a:p xmlns:a="http://schemas.openxmlformats.org/drawingml/2006/main">
            <a:r>
              <a:t>- api/agents/roster.py — human desks represented by the workflow.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0:30–0:50 (20 seconds).</a:t>
            </a:r>
          </a:p>
          <a:p xmlns:a="http://schemas.openxmlformats.org/drawingml/2006/main">
            <a:r>
              <a:t>Say: ‘Eleven percent of deadlines are missed across a 1.8-million-customer bank. The customer experiences silence; the bank carries regulatory exposure.’</a:t>
            </a:r>
          </a:p>
          <a:p xmlns:a="http://schemas.openxmlformats.org/drawingml/2006/main">
            <a:r>
              <a:t>These are case-study inputs, not measured product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case-study bank and deadline miss rate.</a:t>
            </a:r>
          </a:p>
          <a:p xmlns:a="http://schemas.openxmlformats.org/drawingml/2006/main">
            <a:r>
              <a:t>- submission/01-project-copy/RUBRIC_MAP.md — Impact &amp; Relevance.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0:50–1:10 (20 seconds).</a:t>
            </a:r>
          </a:p>
          <a:p xmlns:a="http://schemas.openxmlformats.org/drawingml/2006/main">
            <a:r>
              <a:t>Say: ‘CaseZero keeps the customer’s story, the specialist work, the bank rules and the final proof in one visible journey.’</a:t>
            </a:r>
          </a:p>
          <a:p xmlns:a="http://schemas.openxmlformats.org/drawingml/2006/main">
            <a:r>
              <a:t>This is the thirty-second product explanation required by the judges.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comprehensive solution design.</a:t>
            </a:r>
          </a:p>
          <a:p xmlns:a="http://schemas.openxmlformats.org/drawingml/2006/main">
            <a:r>
              <a:t>- Y Combinator — state clearly what the product does and for whom.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1:10–1:35 (25 seconds).</a:t>
            </a:r>
          </a:p>
          <a:p xmlns:a="http://schemas.openxmlformats.org/drawingml/2006/main">
            <a:r>
              <a:t>Say: ‘We designed the system around a simple belief: AI is excellent at interpretation, but irreversible bank decisions need deterministic authority and a visible human exception lane.’</a:t>
            </a:r>
          </a:p>
          <a:p xmlns:a="http://schemas.openxmlformats.org/drawingml/2006/main">
            <a:r>
              <a:t>This slide answers ‘why this design’ and ‘why now’ without implementation jargon.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api/agents/roster.py — narrow seats and explicit zero-model roles.</a:t>
            </a:r>
          </a:p>
          <a:p xmlns:a="http://schemas.openxmlformats.org/drawingml/2006/main">
            <a:r>
              <a:t>- api/kernel/gates.py and api/agents/resolver.py — deterministic authority and signed tickets.</a:t>
            </a:r>
          </a:p>
          <a:p xmlns:a="http://schemas.openxmlformats.org/drawingml/2006/main">
            <a:r>
              <a:t>- Sequoia Capital — solution, uniqueness and why now.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1:35–2:05 (30 seconds).</a:t>
            </a:r>
          </a:p>
          <a:p xmlns:a="http://schemas.openxmlformats.org/drawingml/2006/main">
            <a:r>
              <a:t>Walk left to right: Intake reads and screens; Classifier identifies; Verifier checks bank records; Resolver posts only with a ticket; Communicator writes; Supervisor watches deadlines.</a:t>
            </a:r>
          </a:p>
          <a:p xmlns:a="http://schemas.openxmlformats.org/drawingml/2006/main">
            <a:r>
              <a:t>Call out the brain labels. Only Intake, Classifier and Communicator use a model. The three roles closest to evidence, money and supervision deliberately use no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api/agents/roster.py — canonical seats, roles and brain routing.</a:t>
            </a:r>
          </a:p>
          <a:p xmlns:a="http://schemas.openxmlformats.org/drawingml/2006/main">
            <a:r>
              <a:t>- Production proof MYB-2026-000057 — Intake/Classifier Gemini 2.5 Flash; Communicator Llama 3.3 70B via Groq.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2:05–2:30 (25 seconds).</a:t>
            </a:r>
          </a:p>
          <a:p xmlns:a="http://schemas.openxmlformats.org/drawingml/2006/main">
            <a:r>
              <a:t>Say: ‘The models produce bounded proposals. The kernel checks policy. A safe, known case can proceed with a signed action; uncertainty becomes a human decision.’</a:t>
            </a:r>
          </a:p>
          <a:p xmlns:a="http://schemas.openxmlformats.org/drawingml/2006/main">
            <a:r>
              <a:t>Point to the human branch and name the four triggers shown at the bottom.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api/agents/classifier.py — confidence floor routes to a human.</a:t>
            </a:r>
          </a:p>
          <a:p xmlns:a="http://schemas.openxmlformats.org/drawingml/2006/main">
            <a:r>
              <a:t>- api/agents/verifier.py — PASS, FAIL or MANUAL_REVIEW.</a:t>
            </a:r>
          </a:p>
          <a:p xmlns:a="http://schemas.openxmlformats.org/drawingml/2006/main">
            <a:r>
              <a:t>- api/kernel/gates.py and api/agents/resolver.py — limits, dual control and signed tickets.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2:30–3:15 (45 seconds).</a:t>
            </a:r>
          </a:p>
          <a:p xmlns:a="http://schemas.openxmlformats.org/drawingml/2006/main">
            <a:r>
              <a:t>Live cue: open https://casezero-alpha.vercel.app/live. Select a fictional identity, type a short complaint, enter the amount and merchant, attach a PDF, then run it.</a:t>
            </a:r>
          </a:p>
          <a:p xmlns:a="http://schemas.openxmlformats.org/drawingml/2006/main">
            <a:r>
              <a:t>Say: ‘The identity is fictional for privacy. Everything that describes the complaint is mine.’</a:t>
            </a:r>
          </a:p>
          <a:p xmlns:a="http://schemas.openxmlformats.org/drawingml/2006/main">
            <a:r>
              <a:t>While processing, transition to the Boardroom: ‘Now watch each specialist earn the next handoff.’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dashboard/app/live/page.tsx — composer and truth boundary.</a:t>
            </a:r>
          </a:p>
          <a:p xmlns:a="http://schemas.openxmlformats.org/drawingml/2006/main">
            <a:r>
              <a:t>- dashboard/e2e/live.spec.ts — visitor subject, body and PDF assertions.</a:t>
            </a:r>
          </a:p>
          <a:p xmlns:a="http://schemas.openxmlformats.org/drawingml/2006/main">
            <a:r>
              <a:t>- submission/assets/deck/pitch-composer.png — current production composer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3:15–3:40 (25 seconds).</a:t>
            </a:r>
          </a:p>
          <a:p xmlns:a="http://schemas.openxmlformats.org/drawingml/2006/main">
            <a:r>
              <a:t>Say: ‘This is not a generated story. The Boardroom renders the event chain as a conversation. If a stage has no event, that agent stays silent.’</a:t>
            </a:r>
          </a:p>
          <a:p xmlns:a="http://schemas.openxmlformats.org/drawingml/2006/main">
            <a:r>
              <a:t>Open one handoff receipt in the live demo and show sequence number, evidence facts and hash.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api/agents/handoff.py — every sentence is assembled from recorded events only.</a:t>
            </a:r>
          </a:p>
          <a:p xmlns:a="http://schemas.openxmlformats.org/drawingml/2006/main">
            <a:r>
              <a:t>- submission/assets/deck/receipt-open.png — product capture.</a:t>
            </a:r>
          </a:p>
          <a:p xmlns:a="http://schemas.openxmlformats.org/drawingml/2006/main">
            <a:r>
              <a:t>- submission/01-project-copy/RUBRIC_MAP.md — Demo &amp; Storytelling and Technical Execution.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3:40–4:10 (30 seconds).</a:t>
            </a:r>
          </a:p>
          <a:p xmlns:a="http://schemas.openxmlformats.org/drawingml/2006/main">
            <a:r>
              <a:t>Say: ‘Here is the person. CaseZero brings them the evidence and a clear choice. They can approve, reject or request information. The person owns the exception; the kernel still enforces the rules.’</a:t>
            </a:r>
          </a:p>
          <a:p xmlns:a="http://schemas.openxmlformats.org/drawingml/2006/main">
            <a:r>
              <a:t>Human triggers: low confidence, bank evidence that cannot settle the claim, high amount, or dual-control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dashboard/app/review/page.tsx — human decision workspace.</a:t>
            </a:r>
          </a:p>
          <a:p xmlns:a="http://schemas.openxmlformats.org/drawingml/2006/main">
            <a:r>
              <a:t>- api/review.py and api/main.py — governed human review decision.</a:t>
            </a:r>
          </a:p>
          <a:p xmlns:a="http://schemas.openxmlformats.org/drawingml/2006/main">
            <a:r>
              <a:t>- submission/assets/deck/human-review.png — current production rehearsal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4:10–4:35 (25 seconds).</a:t>
            </a:r>
          </a:p>
          <a:p xmlns:a="http://schemas.openxmlformats.org/drawingml/2006/main">
            <a:r>
              <a:t>Say: ‘Mission Control measures deadline risk, human load, safe autonomy and time returned. We start with two high-volume dispute types—57% of the stated volume—then move from synthetic pilot to staff-reviewed rollout and only then bank integration.’</a:t>
            </a:r>
          </a:p>
          <a:p xmlns:a="http://schemas.openxmlformats.org/drawingml/2006/main">
            <a:r>
              <a:t>Label 57% as a case-study rollout figure, not production adoption.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57% first-rollout scope and rollout prerequisites.</a:t>
            </a:r>
          </a:p>
          <a:p xmlns:a="http://schemas.openxmlformats.org/drawingml/2006/main">
            <a:r>
              <a:t>- submission/assets/deck/mission-control.png — current production rehearsal capture.</a:t>
            </a:r>
          </a:p>
          <a:p xmlns:a="http://schemas.openxmlformats.org/drawingml/2006/main">
            <a:r>
              <a:t>- dashboard/app/pro/page.tsx — operational metrics and Axiom entry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4:35–4:50 (15 seconds).</a:t>
            </a:r>
          </a:p>
          <a:p xmlns:a="http://schemas.openxmlformats.org/drawingml/2006/main">
            <a:r>
              <a:t>Say: ‘The latest visitor-written production case completed in 20.1 seconds with 14 valid links, three model calls, three bank-tool calls and a balanced RM180.50 posting.’</a:t>
            </a:r>
          </a:p>
          <a:p xmlns:a="http://schemas.openxmlformats.org/drawingml/2006/main">
            <a:r>
              <a:t>This slide proves the run. Do not mix it with the ask; advance to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proof MYB-2026-000057, token eqr5YdEUctbiGPU2rODXyZoTLA1j1_F8C1drO2X018w.</a:t>
            </a:r>
          </a:p>
          <a:p xmlns:a="http://schemas.openxmlformats.org/drawingml/2006/main">
            <a:r>
              <a:t>- Production verification recorded 12 Aug 2026: COMMUNICATED, PASS, 20,108 ms, 14 valid links, balanced posting.</a:t>
            </a:r>
          </a:p>
          <a:p xmlns:a="http://schemas.openxmlformats.org/drawingml/2006/main">
            <a:r>
              <a:t>- Live URL: https://casezero-alpha.vercel.app/live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4:50–5:00 (10 seconds).</a:t>
            </a:r>
          </a:p>
          <a:p xmlns:a="http://schemas.openxmlformats.org/drawingml/2006/main">
            <a:r>
              <a:t>Say: ‘Our ask is simple: approve a staff-reviewed pilot for unauthorised transactions and billing errors. Models propose, rules decide, and humans own exceptions.’</a:t>
            </a:r>
          </a:p>
          <a:p xmlns:a="http://schemas.openxmlformats.org/drawingml/2006/main">
            <a:r>
              <a:t>Stop. Let the single ask land, then invite questions and move only to the appendix slide that matches the judge’s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controlled rollout path and first two dispute types.</a:t>
            </a:r>
          </a:p>
          <a:p xmlns:a="http://schemas.openxmlformats.org/drawingml/2006/main">
            <a:r>
              <a:t>- submission/01-project-copy/RUBRIC_MAP.md — feasibility, responsible AI and overall quality.</a:t>
            </a:r>
          </a:p>
          <a:p xmlns:a="http://schemas.openxmlformats.org/drawingml/2006/main">
            <a:r>
              <a:t>- Live URL: https://casezero-alpha.vercel.app/live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Use when asked how staff interact with CaseZero beyond one complaint.</a:t>
            </a:r>
          </a:p>
          <a:p xmlns:a="http://schemas.openxmlformats.org/drawingml/2006/main">
            <a:r>
              <a:t>Answer: ‘Axiom converts plain-language requests into an allowlisted docket that shows effect, authority, confirmation and gates before execution.’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api/agents/wajar.py — closed capability registry and governed dockets.</a:t>
            </a:r>
          </a:p>
          <a:p xmlns:a="http://schemas.openxmlformats.org/drawingml/2006/main">
            <a:r>
              <a:t>- submission/assets/deck/axiom-risk-docket.png — current production rehearsal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Do not present this slide in the timed five-minute run.</a:t>
            </a:r>
          </a:p>
          <a:p xmlns:a="http://schemas.openxmlformats.org/drawingml/2006/main">
            <a:r>
              <a:t>Start with the one-sentence answer shown. Add technical detail only if the judge asks a follow-up.</a:t>
            </a:r>
          </a:p>
          <a:p xmlns:a="http://schemas.openxmlformats.org/drawingml/2006/main">
            <a:r>
              <a:t>Questions: Why six agents instead of one? | Which agents use AI? | Can you change a model? | What does the Compliance Kernel do?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api/agents/roster.py, api/agents/classifier.py, api/agents/verifier.py and api/agents/resolver.py</a:t>
            </a:r>
          </a:p>
          <a:p xmlns:a="http://schemas.openxmlformats.org/drawingml/2006/main">
            <a:r>
              <a:t>- dashboard/e2e/live.spec.ts and dashboard/e2e/boardroom.spec.ts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Do not present this slide in the timed five-minute run.</a:t>
            </a:r>
          </a:p>
          <a:p xmlns:a="http://schemas.openxmlformats.org/drawingml/2006/main">
            <a:r>
              <a:t>Start with the one-sentence answer shown. Add technical detail only if the judge asks a follow-up.</a:t>
            </a:r>
          </a:p>
          <a:p xmlns:a="http://schemas.openxmlformats.org/drawingml/2006/main">
            <a:r>
              <a:t>Questions: Exactly when does a human enter? | Can a human override everything? | What if the PDF contains an attack? | What if the AI is wrong?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api/agents/roster.py, api/agents/classifier.py, api/agents/verifier.py and api/agents/resolver.py</a:t>
            </a:r>
          </a:p>
          <a:p xmlns:a="http://schemas.openxmlformats.org/drawingml/2006/main">
            <a:r>
              <a:t>- dashboard/e2e/live.spec.ts and dashboard/e2e/boardroom.spec.ts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Do not present this slide in the timed five-minute run.</a:t>
            </a:r>
          </a:p>
          <a:p xmlns:a="http://schemas.openxmlformats.org/drawingml/2006/main">
            <a:r>
              <a:t>Start with the one-sentence answer shown. Add technical detail only if the judge asks a follow-up.</a:t>
            </a:r>
          </a:p>
          <a:p xmlns:a="http://schemas.openxmlformats.org/drawingml/2006/main">
            <a:r>
              <a:t>Questions: Who pays and why? | Is 20 seconds realistic? | How would rollout start? | What still belongs to the bank?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api/agents/roster.py, api/agents/classifier.py, api/agents/verifier.py and api/agents/resolver.py</a:t>
            </a:r>
          </a:p>
          <a:p xmlns:a="http://schemas.openxmlformats.org/drawingml/2006/main">
            <a:r>
              <a:t>- dashboard/e2e/live.spec.ts and dashboard/e2e/boardroom.spec.ts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Do not present this slide in the timed five-minute run.</a:t>
            </a:r>
          </a:p>
          <a:p xmlns:a="http://schemas.openxmlformats.org/drawingml/2006/main">
            <a:r>
              <a:t>Start with the one-sentence answer shown. Add technical detail only if the judge asks a follow-up.</a:t>
            </a:r>
          </a:p>
          <a:p xmlns:a="http://schemas.openxmlformats.org/drawingml/2006/main">
            <a:r>
              <a:t>Questions: Is the complaint prefilled? | How do you prove one result? | How is it tested? | Is the interface accessible?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api/agents/roster.py, api/agents/classifier.py, api/agents/verifier.py and api/agents/resolver.py</a:t>
            </a:r>
          </a:p>
          <a:p xmlns:a="http://schemas.openxmlformats.org/drawingml/2006/main">
            <a:r>
              <a:t>- dashboard/e2e/live.spec.ts and dashboard/e2e/boardroom.spec.ts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df33f6ae4a41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da25b7a7d94f9c" /><Relationship Type="http://schemas.openxmlformats.org/officeDocument/2006/relationships/slideLayout" Target="/ppt/slideLayouts/slideLayout1.xml" Id="Rc8f893962d294c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f893962d294c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87e7bb14314f10" /><Relationship Type="http://schemas.openxmlformats.org/officeDocument/2006/relationships/notesSlide" Target="/ppt/notesSlides/notesSlide1.xml" Id="R6866c5f369ae42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456083a32429d" /><Relationship Type="http://schemas.openxmlformats.org/officeDocument/2006/relationships/notesSlide" Target="/ppt/notesSlides/notesSlide2.xml" Id="Rb9f02ba6ef554b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b3cc148a1e4e75" /><Relationship Type="http://schemas.openxmlformats.org/officeDocument/2006/relationships/notesSlide" Target="/ppt/notesSlides/notesSlide3.xml" Id="Re5ac78a8b8fc45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2a15e20914004" /><Relationship Type="http://schemas.openxmlformats.org/officeDocument/2006/relationships/notesSlide" Target="/ppt/notesSlides/notesSlide4.xml" Id="Raef3b22e233d48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93303845348e9" /><Relationship Type="http://schemas.openxmlformats.org/officeDocument/2006/relationships/notesSlide" Target="/ppt/notesSlides/notesSlide5.xml" Id="R5c3aeee3a95443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b51ffe2894efc" /><Relationship Type="http://schemas.openxmlformats.org/officeDocument/2006/relationships/notesSlide" Target="/ppt/notesSlides/notesSlide6.xml" Id="R6bb6aeb10c114e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9f58ab6a74390" /><Relationship Type="http://schemas.openxmlformats.org/officeDocument/2006/relationships/notesSlide" Target="/ppt/notesSlides/notesSlide7.xml" Id="R417a90f10f2f43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735f420464705" /><Relationship Type="http://schemas.openxmlformats.org/officeDocument/2006/relationships/image" Target="/ppt/media/image.png" Id="R56995176242744fe" /><Relationship Type="http://schemas.openxmlformats.org/officeDocument/2006/relationships/notesSlide" Target="/ppt/notesSlides/notesSlide8.xml" Id="Rb4900b7f4ca3405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3a08693bc4e51" /><Relationship Type="http://schemas.openxmlformats.org/officeDocument/2006/relationships/image" Target="/ppt/media/image2.png" Id="Red669024900c4e34" /><Relationship Type="http://schemas.openxmlformats.org/officeDocument/2006/relationships/notesSlide" Target="/ppt/notesSlides/notesSlide9.xml" Id="R65ee7ac83b7540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193656ba54aaf" /><Relationship Type="http://schemas.openxmlformats.org/officeDocument/2006/relationships/image" Target="/ppt/media/image3.png" Id="Rafc89aed73234027" /><Relationship Type="http://schemas.openxmlformats.org/officeDocument/2006/relationships/notesSlide" Target="/ppt/notesSlides/notesSlide10.xml" Id="Ree574aea40f54f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b70a4a46b42f5" /><Relationship Type="http://schemas.openxmlformats.org/officeDocument/2006/relationships/image" Target="/ppt/media/image4.png" Id="Rbc3efd4b628343df" /><Relationship Type="http://schemas.openxmlformats.org/officeDocument/2006/relationships/notesSlide" Target="/ppt/notesSlides/notesSlide11.xml" Id="R2400ab63ba5f4ac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2b1254f3b478b" /><Relationship Type="http://schemas.openxmlformats.org/officeDocument/2006/relationships/notesSlide" Target="/ppt/notesSlides/notesSlide12.xml" Id="Rc790659545e541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49cd1af63470b" /><Relationship Type="http://schemas.openxmlformats.org/officeDocument/2006/relationships/notesSlide" Target="/ppt/notesSlides/notesSlide13.xml" Id="R7c033296ebf04e4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123a5aace4359" /><Relationship Type="http://schemas.openxmlformats.org/officeDocument/2006/relationships/image" Target="/ppt/media/image5.png" Id="R1401fefee6ef4256" /><Relationship Type="http://schemas.openxmlformats.org/officeDocument/2006/relationships/notesSlide" Target="/ppt/notesSlides/notesSlide14.xml" Id="R550788624f11472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cd247d2114d6a" /><Relationship Type="http://schemas.openxmlformats.org/officeDocument/2006/relationships/notesSlide" Target="/ppt/notesSlides/notesSlide15.xml" Id="Rffbf25859c814ea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72142d1f349f0" /><Relationship Type="http://schemas.openxmlformats.org/officeDocument/2006/relationships/notesSlide" Target="/ppt/notesSlides/notesSlide16.xml" Id="Re7b44fb9fa3147d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ff16a97f54a00" /><Relationship Type="http://schemas.openxmlformats.org/officeDocument/2006/relationships/notesSlide" Target="/ppt/notesSlides/notesSlide17.xml" Id="R7978b32e34d641b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ba6f8a7ba428a" /><Relationship Type="http://schemas.openxmlformats.org/officeDocument/2006/relationships/notesSlide" Target="/ppt/notesSlides/notesSlide18.xml" Id="Rf43954203a64484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B42AA4-06EA-4DA8-8BFA-FC5466E8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CASEZERO / DEMO 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9ACAF-B64B-43B7-8E1A-6FD161B9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78105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425" b="1" i="0">
                <a:solidFill>
                  <a:srgbClr val="121914"/>
                </a:solidFill>
              </a:defRPr>
            </a:pPr>
            <a:r>
              <a:rPr sz="4425" b="1" i="0">
                <a:solidFill>
                  <a:srgbClr val="121914"/>
                </a:solidFill>
              </a:rPr>
              <a:t>Bank complaints resolved in minutes — governed end to 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E8D6F9-570A-4406-8823-62C9FD93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723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66159"/>
                </a:solidFill>
              </a:defRPr>
            </a:pPr>
            <a:r>
              <a:rPr sz="1725" b="0" i="0">
                <a:solidFill>
                  <a:srgbClr val="566159"/>
                </a:solidFill>
              </a:rPr>
              <a:t>One customer complaint becomes one visible decision that the operator, customer and auditor can all understand.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5DABBF-5A50-447B-9F8B-2C997E55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371600"/>
            <a:ext cx="2724150" cy="36004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E72B6C-E407-4EA9-AABF-133D0766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526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98263A"/>
                </a:solidFill>
              </a:defRPr>
            </a:pPr>
            <a:r>
              <a:rPr sz="2850" b="1" i="0">
                <a:solidFill>
                  <a:srgbClr val="98263A"/>
                </a:solidFill>
              </a:rPr>
              <a:t>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6F769-3C95-4405-B17C-BB5BE906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669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1914"/>
                </a:solidFill>
              </a:defRPr>
            </a:pPr>
            <a:r>
              <a:rPr sz="1650" b="1" i="0">
                <a:solidFill>
                  <a:srgbClr val="121914"/>
                </a:solidFill>
              </a:rPr>
              <a:t>COMPLAINT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81AA0-0DA1-4CE2-952F-153ABC78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575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B6F22B-B890-4E1E-8B92-691691A6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242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98263A"/>
                </a:solidFill>
              </a:defRPr>
            </a:pPr>
            <a:r>
              <a:rPr sz="2850" b="1" i="0">
                <a:solidFill>
                  <a:srgbClr val="98263A"/>
                </a:solidFill>
              </a:rPr>
              <a:t>SIX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6D836D-A900-4DC3-B7FA-D26C9DF4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6385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1914"/>
                </a:solidFill>
              </a:defRPr>
            </a:pPr>
            <a:r>
              <a:rPr sz="1650" b="1" i="0">
                <a:solidFill>
                  <a:srgbClr val="121914"/>
                </a:solidFill>
              </a:rPr>
              <a:t>SPECIALISTS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3A3095-4055-47FE-9B1B-C1E11F3B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86250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+ one human-visible gate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69416D-7676-4E3E-956B-7B63CF4F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A8B647-F543-469A-8C81-16E5D482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599129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E3331C-68DE-40C9-B31E-1333A782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PROBLEM STATEMENT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F9DF4-8AC0-4808-A19E-7D7AB904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A complaint takes 90 minutes because the evidence keeps changing hands.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F6D70D-9F11-48AA-A0DE-2F7D662E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1C4D6-4768-4FF8-A068-87EDDF3A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CC53E8-4FD9-4A8E-8866-99CEF2C5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3619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200" b="1" i="0">
                <a:solidFill>
                  <a:srgbClr val="98263A"/>
                </a:solidFill>
              </a:defRPr>
            </a:pPr>
            <a:r>
              <a:rPr sz="10200" b="1" i="0">
                <a:solidFill>
                  <a:srgbClr val="98263A"/>
                </a:solidFill>
              </a:rPr>
              <a:t>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668D3-60A9-4321-83F6-66F74A8D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21914"/>
                </a:solidFill>
              </a:defRPr>
            </a:pPr>
            <a:r>
              <a:rPr sz="2250" b="1" i="0">
                <a:solidFill>
                  <a:srgbClr val="121914"/>
                </a:solidFill>
              </a:rPr>
              <a:t>minutes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82F4C-9F77-4C5D-91AC-0E4F9239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66159"/>
                </a:solidFill>
              </a:defRPr>
            </a:pPr>
            <a:r>
              <a:rPr sz="1425" b="0" i="0">
                <a:solidFill>
                  <a:srgbClr val="566159"/>
                </a:solidFill>
              </a:rPr>
              <a:t>Case-study baseline for one complaint moving across multiple departments.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086C69-96A5-4B00-A575-F6C62228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F1DE6-3436-40D4-B3A5-5ACBA087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478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01  Inbox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B9509-1F24-4A44-A55C-78297FB5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050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FD736-DBA4-44C6-84E4-839AD2CD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43175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7CAA1-B3C3-49E5-A5E1-F9B53803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289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914"/>
                </a:solidFill>
              </a:defRPr>
            </a:pPr>
            <a:r>
              <a:rPr sz="1200" b="1" i="0">
                <a:solidFill>
                  <a:srgbClr val="121914"/>
                </a:solidFill>
              </a:rPr>
              <a:t>02  Complaints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C192C9-E213-48B3-88F9-E61C9F31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8860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04E2A3-3A69-41BD-96C7-D3C98358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24200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DF0A5A-3DAF-4E45-ACE4-E266A0C7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099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914"/>
                </a:solidFill>
              </a:defRPr>
            </a:pPr>
            <a:r>
              <a:rPr sz="1200" b="1" i="0">
                <a:solidFill>
                  <a:srgbClr val="121914"/>
                </a:solidFill>
              </a:rPr>
              <a:t>03  Investigation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D31A14-B7E5-4A75-8DFD-F14F7480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671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9D97EF-2F6B-435E-90C9-5F3C2BD0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05225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5248B1-7D77-4D5C-B418-BE9A5840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90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914"/>
                </a:solidFill>
              </a:defRPr>
            </a:pPr>
            <a:r>
              <a:rPr sz="1200" b="1" i="0">
                <a:solidFill>
                  <a:srgbClr val="121914"/>
                </a:solidFill>
              </a:rPr>
              <a:t>04  Compliance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3E153D-07E3-46F8-B583-55B1F1E8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0481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9DFB5E-EB08-42CD-AC34-AEBE646A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286250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E8A2E1-F5E9-4EBE-A6A8-6DFA741A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719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914"/>
                </a:solidFill>
              </a:defRPr>
            </a:pPr>
            <a:r>
              <a:rPr sz="1200" b="1" i="0">
                <a:solidFill>
                  <a:srgbClr val="121914"/>
                </a:solidFill>
              </a:rPr>
              <a:t>05  Finance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1F3D04-1AB1-4CED-82FC-D3D5E5BF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6291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ECACA2-8E86-48C2-964B-9FB3B7B3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67275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8E3B4F-9B67-4E02-9A7F-43A13BD7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9530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06  Customer reply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F29282-D471-4A78-92E6-4A6B9B2E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676900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The failure is not one slow person. It is ownership drift between desks.</a:t>
            </a:r>
          </a:p>
        </p:txBody>
      </p:sp>
    </p:spTree>
    <p:extLst>
      <p:ext uri="{BB962C8B-B14F-4D97-AF65-F5344CB8AC3E}">
        <p14:creationId xmlns:p14="http://schemas.microsoft.com/office/powerpoint/2010/main" val="9575788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8779FE-7BA6-4D4D-9B72-53F21F57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WHY IT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468CB4-A67F-4C59-85BD-915B373D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096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When ownership drifts, customer delay becomes regulatory risk.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F6C3FB-552D-4FF8-85B4-470BF3B9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8845A-1732-4210-8DD1-87A84CE6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2490DA-14FB-4D7D-B137-2828D8BC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 i="0">
                <a:solidFill>
                  <a:srgbClr val="98263A"/>
                </a:solidFill>
              </a:defRPr>
            </a:pPr>
            <a:r>
              <a:rPr sz="6150" b="1" i="0">
                <a:solidFill>
                  <a:srgbClr val="98263A"/>
                </a:solidFill>
              </a:rPr>
              <a:t>11%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8C6BD-F23F-4A9D-95C7-B30B38A2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of regulatory deadlines</a:t>
            </a:r>
          </a:p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missed today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FEEC1-5892-429E-A415-0134A026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288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 i="0">
                <a:solidFill>
                  <a:srgbClr val="121914"/>
                </a:solidFill>
              </a:defRPr>
            </a:pPr>
            <a:r>
              <a:rPr sz="6150" b="1" i="0">
                <a:solidFill>
                  <a:srgbClr val="121914"/>
                </a:solidFill>
              </a:rPr>
              <a:t>1.8M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92152C-0B87-4C4A-A248-BF576679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6702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retail and SME</a:t>
            </a:r>
          </a:p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customers in the case study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F514A9-11CD-40DA-94E1-21250E2F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310515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52D20-A11A-4479-8842-4AB1AE3E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050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A8BFB0"/>
                </a:solidFill>
              </a:defRPr>
            </a:pPr>
            <a:r>
              <a:rPr sz="1050" b="1" i="0">
                <a:solidFill>
                  <a:srgbClr val="A8BFB0"/>
                </a:solidFill>
              </a:rPr>
              <a:t>The customer sees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7B71D-5218-4055-8E86-DCC57619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432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silence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16230-57E7-4793-BD52-A40E9EFC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86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A8BFB0"/>
                </a:solidFill>
              </a:defRPr>
            </a:pPr>
            <a:r>
              <a:rPr sz="1050" b="1" i="0">
                <a:solidFill>
                  <a:srgbClr val="A8BFB0"/>
                </a:solidFill>
              </a:rPr>
              <a:t>The bank sees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17EE58-CF27-488C-A2D7-3C9B0E90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862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 i="0">
                <a:solidFill>
                  <a:srgbClr val="98263A"/>
                </a:solidFill>
              </a:defRPr>
            </a:pPr>
            <a:r>
              <a:rPr sz="2625" b="1" i="0">
                <a:solidFill>
                  <a:srgbClr val="98263A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3BAFD-F82A-4716-867F-3C143126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10839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D8414F-9023-4440-B1F2-5E57C442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962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A faster answer only counts if the bank can explain who acted, what evidence they used, and why money moved.</a:t>
            </a:r>
          </a:p>
        </p:txBody>
      </p:sp>
    </p:spTree>
    <p:extLst>
      <p:ext uri="{BB962C8B-B14F-4D97-AF65-F5344CB8AC3E}">
        <p14:creationId xmlns:p14="http://schemas.microsoft.com/office/powerpoint/2010/main" val="10733558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39DC6C-919D-4C2C-8F43-86C1C5EA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D02A77-C455-434F-9B45-8E502C5F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CaseZero turns one complaint into one visible, governed outcome.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21C5E-3415-4480-AA5C-E51BABA9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BC4F2-12A1-4F3B-B6F1-1328EFE4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F86F9-2CCE-4955-8E2C-AC480CD7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2476500" cy="26479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F871C-1462-48C2-9999-D36ACD75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93ADE-1656-4062-B5BB-9D5B4AEF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Customer writes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00FED-A88B-43D9-B82C-515A6717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90950"/>
            <a:ext cx="2047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Their own email and 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31B6FE-6C5E-4A2C-979C-5FE90D38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2766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F0D1D8-B522-4638-B185-C21EBBA8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33600"/>
            <a:ext cx="2476500" cy="26479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90D0E-56AB-439E-A235-C5A13F6C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4315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AC7F78-8726-4B23-9CBD-B74E8E7F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9085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Specialists 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774F6E-654A-4725-93FF-9119B0E6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90950"/>
            <a:ext cx="2047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Six narrow responsibilities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F88F9F-F50A-4164-9B18-441ADC3B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766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CF4BF9-6F4A-44CC-A243-7DC06B10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2476500" cy="26479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07834-5E5F-459D-9CEC-4CCFED51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4315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C64F61-F2E1-4DCB-A016-20096F87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Rules 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8C878E-8732-47B4-A2FA-B9CDE818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90950"/>
            <a:ext cx="2047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A8BFB0"/>
                </a:solidFill>
              </a:defRPr>
            </a:pPr>
            <a:r>
              <a:rPr sz="1275" b="0" i="0">
                <a:solidFill>
                  <a:srgbClr val="A8BFB0"/>
                </a:solidFill>
              </a:rPr>
              <a:t>Authority, deadline and money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380F40-9512-40FA-9397-F1FA9DA1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92F6CD-9026-4AFD-BFC3-C567A245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33600"/>
            <a:ext cx="2476500" cy="26479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360392-6B10-4F56-BA97-E8446D59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4315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30A1D1-E7A7-451B-9F9C-45D82A83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9085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Everyone sees proof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C6580C-8A91-4795-BD61-CEE55EF5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90950"/>
            <a:ext cx="2047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Customer, operator, auditor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CBBD66-7F93-40BF-97B0-43489D53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356148"/>
                </a:solidFill>
              </a:defRPr>
            </a:pPr>
            <a:r>
              <a:rPr sz="1875" b="1" i="0">
                <a:solidFill>
                  <a:srgbClr val="356148"/>
                </a:solidFill>
              </a:rPr>
              <a:t>The product is the chain of responsibility—not a chatbot added to a dashboard.</a:t>
            </a:r>
          </a:p>
        </p:txBody>
      </p:sp>
    </p:spTree>
    <p:extLst>
      <p:ext uri="{BB962C8B-B14F-4D97-AF65-F5344CB8AC3E}">
        <p14:creationId xmlns:p14="http://schemas.microsoft.com/office/powerpoint/2010/main" val="11365845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1B4DCF-333B-40D4-83E4-96D1309F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WHY THIS 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2ACBC2-4122-4E92-9B4C-D81F5DB6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001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AI can read the mess. It should not own the irreversible decision.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D0881-51E5-46B2-A42E-B88DB083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B187E5-EFC0-4031-9419-1061847C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9B30B-7DC3-48EA-958E-DD4C9D88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33337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582CC-41C5-4D67-A5BA-21B57028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D4783-7A54-4830-855B-59A21C99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3840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98263A"/>
                </a:solidFill>
              </a:defRPr>
            </a:pPr>
            <a:r>
              <a:rPr sz="2100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8F49E0-36EF-40AC-AAEA-6FAA036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Narrow roles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CC4D4A-FF8F-4B10-A839-03C36350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2819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66159"/>
                </a:solidFill>
              </a:defRPr>
            </a:pPr>
            <a:r>
              <a:rPr sz="1350" b="0" i="0">
                <a:solidFill>
                  <a:srgbClr val="566159"/>
                </a:solidFill>
              </a:rPr>
              <a:t>One responsibility per agent makes mistakes visible.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E8A2A4-5A51-445C-BD5F-46EC3CBB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9800"/>
            <a:ext cx="33337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56382F-F25C-4612-859B-36D2A955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980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DF0401-2251-4495-8100-88A714E9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3840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98263A"/>
                </a:solidFill>
              </a:defRPr>
            </a:pPr>
            <a:r>
              <a:rPr sz="2100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7418D8-B562-4A2D-9302-DC0F3FEC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Deterministic 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7405B0-3878-426E-9D5A-4964B2DA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86200"/>
            <a:ext cx="2819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66159"/>
                </a:solidFill>
              </a:defRPr>
            </a:pPr>
            <a:r>
              <a:rPr sz="1350" b="0" i="0">
                <a:solidFill>
                  <a:srgbClr val="566159"/>
                </a:solidFill>
              </a:rPr>
              <a:t>Code—not model wording—owns deadlines and money.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B34A94-E240-4BFF-9576-53D2BE44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33337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44955C-55AC-41ED-A5C3-AC2FE858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84E13B-3591-431B-A147-EDEC58DF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3840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98263A"/>
                </a:solidFill>
              </a:defRPr>
            </a:pPr>
            <a:r>
              <a:rPr sz="2100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8F9629-8A90-44D0-B9AA-764AF134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Human exception lane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D3FB23-5D2E-4A5B-8E4D-F94B38C3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86200"/>
            <a:ext cx="2819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66159"/>
                </a:solidFill>
              </a:defRPr>
            </a:pPr>
            <a:r>
              <a:rPr sz="1350" b="0" i="0">
                <a:solidFill>
                  <a:srgbClr val="566159"/>
                </a:solidFill>
              </a:rPr>
              <a:t>Uncertainty becomes a review task, never a guess.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121C1D-3162-4337-8BCD-E01578FF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56148"/>
                </a:solidFill>
              </a:defRPr>
            </a:pPr>
            <a:r>
              <a:rPr sz="1650" b="1" i="0">
                <a:solidFill>
                  <a:srgbClr val="356148"/>
                </a:solidFill>
              </a:rPr>
              <a:t>Why now: modern models can interpret messy language and documents; governed software can keep their authority bounded.</a:t>
            </a:r>
          </a:p>
        </p:txBody>
      </p:sp>
    </p:spTree>
    <p:extLst>
      <p:ext uri="{BB962C8B-B14F-4D97-AF65-F5344CB8AC3E}">
        <p14:creationId xmlns:p14="http://schemas.microsoft.com/office/powerpoint/2010/main" val="16393480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337B71-9172-48BF-B761-078CD292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THE AGENT TEAM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86879-D9F3-4039-8F06-ECFAC9A9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9906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21914"/>
                </a:solidFill>
              </a:defRPr>
            </a:pPr>
            <a:r>
              <a:rPr sz="3225" b="1" i="0">
                <a:solidFill>
                  <a:srgbClr val="121914"/>
                </a:solidFill>
              </a:rPr>
              <a:t>Six specialists divide the work so no single brain owns the case.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A0CA3-87A9-4418-9F25-82689AEC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F61A63-B541-41FB-8081-521CD764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5231F-75B3-4976-962E-B28EBAEC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6F411-2C53-4844-8645-B47D24A4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0E2636-B25D-4C7E-9040-5E757DE6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890687-BC83-4333-A368-204E1F2B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3835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GEMINI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2E200-B7F4-4EE9-9239-42252604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Intake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3BFD5-F8E5-4BE5-A752-EC1C214B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Reads email + PDF; blocks harmful instructions.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AD384-DA41-4455-9C29-44656827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4785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C0546-5A1A-4EEB-8F55-D8B8E26A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8B8D07-F49D-491E-B767-05BB7655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025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C1F19-2ABF-4466-A0C3-9E00FFC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3835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GEMINI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B6FA84-0B61-4797-813C-39A0140B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384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Classifier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239F09-2973-48D5-AB13-AE528DA1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1465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Chooses 1 of 7 categories; reports confidence.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AC872-359E-407A-8BC5-5482ED44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4785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B13320-2278-4111-B8C1-76BE8080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19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5C71BA-A8F2-4B1E-99F2-5EAF986C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00025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3A910C-5658-42E0-8F47-D352D9E0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03835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 MODEL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A348D-FC5B-4C43-ACBB-BEA663EF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3840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Verifier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2BE895-4429-4D1A-B115-AD07BDE7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1465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Compares the claim with CRM and core banking.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1BB335-6CB4-4DBD-9D62-5558E54F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6240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6173EB-C792-4F4F-84D1-B43F559A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33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D59F24-CDCB-4A89-9F8E-08F64257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1480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A5B8B5-C241-4B9C-88D0-31012333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15290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 MODEL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726029-9F48-4AD9-9359-5C18136E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Resolver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96EAB4-B42E-4305-A8F9-C28C38C6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292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Posts only with a signed kernel ticket.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B7E05F-159C-4357-A038-7635AE84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6240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CA63F8-413C-4BAF-AB78-E3921C68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F5E182-DF4B-4306-BEC8-959FE052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1480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796000-AAF0-4F16-8E25-E9BCD03E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GROQ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ECFAE1-8888-477B-BD0F-6476F4F9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52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Communicator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20D446-05AA-424E-B145-1F259C5A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292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Drafts the customer answer; rules insert legal text.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8601C8-2113-4769-9BE3-7B3341A0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3F817B-1F47-457E-81D7-46FCAEAB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33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D2ABD3-9863-402E-A52B-B5C807DB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1480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2288FC-0F76-4F10-8E00-87592918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15290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 MODEL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ABCB82-B04D-4AA6-8DA9-4D30AA8E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52950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Supervisor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17ED4F-F812-48E5-9B60-16CB8207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0292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Watches every deadline and escalates to people.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67537BE-2F75-45BB-A225-EA204244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960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56148"/>
                </a:solidFill>
              </a:defRPr>
            </a:pPr>
            <a:r>
              <a:rPr sz="1350" b="1" i="0">
                <a:solidFill>
                  <a:srgbClr val="356148"/>
                </a:solidFill>
              </a:rPr>
              <a:t>Compliance Kernel sits between them all: no model, no persuasion, only policy.</a:t>
            </a:r>
          </a:p>
        </p:txBody>
      </p:sp>
    </p:spTree>
    <p:extLst>
      <p:ext uri="{BB962C8B-B14F-4D97-AF65-F5344CB8AC3E}">
        <p14:creationId xmlns:p14="http://schemas.microsoft.com/office/powerpoint/2010/main" val="1502126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5A6317-89CC-4E0E-8352-4402DA26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THE AI BRAIN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829867-41EC-49AF-8592-7E2F3148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21914"/>
                </a:solidFill>
              </a:defRPr>
            </a:pPr>
            <a:r>
              <a:rPr sz="3225" b="1" i="0">
                <a:solidFill>
                  <a:srgbClr val="121914"/>
                </a:solidFill>
              </a:rPr>
              <a:t>Models propose. The kernel decides. A human handles uncertainty.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BE284-BB84-439E-A329-C3CF2DF4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C2000-32B2-447A-A307-30572A54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D783D-C7A2-46DD-AAB5-76F4772E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1526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7A7FA-9EAD-4C80-AA8D-9E55504A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1914"/>
                </a:solidFill>
              </a:defRPr>
            </a:pPr>
            <a:r>
              <a:rPr sz="1050" b="1" i="0">
                <a:solidFill>
                  <a:srgbClr val="121914"/>
                </a:solidFill>
              </a:rPr>
              <a:t>MESSY 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31FA3-F668-4681-BDD7-C44571A9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1771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914"/>
                </a:solidFill>
              </a:defRPr>
            </a:pPr>
            <a:r>
              <a:rPr sz="1350" b="1" i="0">
                <a:solidFill>
                  <a:srgbClr val="121914"/>
                </a:solidFill>
              </a:rPr>
              <a:t>email + PDF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31C436-640C-4AD1-BB05-4148B4E1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62150"/>
            <a:ext cx="2381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9525">
            <a:solidFill>
              <a:srgbClr val="9826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05167F-E773-4F49-ACE5-C1B9E53F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71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MODEL BRAINS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0FA54B-C693-4B28-8273-0E6D6D09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52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Gemini reads + classifies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Groq drafts the reply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65870A-2742-4242-B0B9-BA60334F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2381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2D80F5-DB6A-45A4-8437-484B6071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71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COMPLIANCE KERNEL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6D27BA-D1AC-4858-AB9A-BA53D8F9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52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deadline · limits · ticket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mandatory wording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B48CBC-2576-40F5-A3C5-BE4EDE19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574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98263A"/>
                </a:solidFill>
              </a:defRPr>
            </a:pPr>
            <a:r>
              <a:rPr sz="2550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64695-FCA7-4AA7-91B0-FFC2E28B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574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98263A"/>
                </a:solidFill>
              </a:defRPr>
            </a:pPr>
            <a:r>
              <a:rPr sz="2550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088E74-2C46-4180-9688-D7F702DB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95450"/>
            <a:ext cx="2381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356148"/>
          </a:solidFill>
          <a:ln xmlns:a="http://schemas.openxmlformats.org/drawingml/2006/main" w="9525">
            <a:solidFill>
              <a:srgbClr val="35614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A0D22-49F1-49CD-A475-9F496DEF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8595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SAFE + KNOWN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3DBC82-22C2-426F-907D-4132A46E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8600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signed 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8F343-A823-4D2F-A974-9B33645A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05150"/>
            <a:ext cx="23812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19050">
            <a:solidFill>
              <a:srgbClr val="9826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4A1380-2286-49C6-B9AD-6F73FDCF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9565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8263A"/>
                </a:solidFill>
              </a:defRPr>
            </a:pPr>
            <a:r>
              <a:rPr sz="900" b="1" i="0">
                <a:solidFill>
                  <a:srgbClr val="98263A"/>
                </a:solidFill>
              </a:rPr>
              <a:t>UNCERTAIN / OVER LIMIT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079939-21B0-41DE-903A-A92F8280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733800"/>
            <a:ext cx="1962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human 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61E36A-649C-4C68-87BF-F691AC12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3835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356148"/>
                </a:solidFill>
              </a:defRPr>
            </a:pPr>
            <a:r>
              <a:rPr sz="2550" b="1" i="0">
                <a:solidFill>
                  <a:srgbClr val="356148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7AF71D-1A98-4198-B72E-BF796DEF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9565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98263A"/>
                </a:solidFill>
              </a:defRPr>
            </a:pPr>
            <a:r>
              <a:rPr sz="2550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C60681-27A0-4F66-BB5D-96A4B0B2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39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265929-AE6D-478E-9B16-733A3419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Human enters for low confidence, incomplete or contradictory bank evidence, approval limits, or dual control.</a:t>
            </a:r>
          </a:p>
        </p:txBody>
      </p:sp>
    </p:spTree>
    <p:extLst>
      <p:ext uri="{BB962C8B-B14F-4D97-AF65-F5344CB8AC3E}">
        <p14:creationId xmlns:p14="http://schemas.microsoft.com/office/powerpoint/2010/main" val="5962305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AB233F-C1DB-4123-ACC3-11561560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LIVE DEMO · VISITOR INPUT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5E97C-2F84-4F18-AD4A-FCF3B566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001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1914"/>
                </a:solidFill>
              </a:defRPr>
            </a:pPr>
            <a:r>
              <a:rPr sz="3150" b="1" i="0">
                <a:solidFill>
                  <a:srgbClr val="121914"/>
                </a:solidFill>
              </a:rPr>
              <a:t>The complaint and PDF come from the visitor—not from seeded 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73807-2A3F-4759-9F5F-6A681D2A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CBDFB9-CF8C-495D-B86C-97BFE06C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FDA42-712E-4224-B24F-BA6DAE1D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21914"/>
                </a:solidFill>
              </a:defRPr>
            </a:pPr>
            <a:r>
              <a:rPr sz="2100" b="1" i="0">
                <a:solidFill>
                  <a:srgbClr val="121914"/>
                </a:solidFill>
              </a:rPr>
              <a:t>Only the identity is fictional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1AE4EB-0B17-407F-8B3E-6510CFA2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3257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66159"/>
                </a:solidFill>
              </a:defRPr>
            </a:pPr>
            <a:r>
              <a:rPr sz="1500" b="0" i="0">
                <a:solidFill>
                  <a:srgbClr val="566159"/>
                </a:solidFill>
              </a:rPr>
              <a:t>The visitor controls the subject, complaint words, amount, merchant and evidence PDF.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6AF24E-788C-4718-830E-A981BE03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390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881DD9-317E-4CA7-8379-F5BFCAF1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238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LIVE DEMO CUE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C4D80-9E8F-48F6-9CB7-BC915CEF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98263A"/>
                </a:solidFill>
              </a:defRPr>
            </a:pPr>
            <a:r>
              <a:rPr sz="2175" b="1" i="0">
                <a:solidFill>
                  <a:srgbClr val="98263A"/>
                </a:solidFill>
              </a:rPr>
              <a:t>Type → attach →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C40CC4-8C03-40A3-A99D-9BB575BB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96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The first result block returns the exact subject, claim, PDF filename, read method and body fingerprint.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0A25B5-4E80-43B3-9A94-9D052A1E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7067550" cy="4248150"/>
          </a:xfrm>
          <a:prstGeom xmlns:a="http://schemas.openxmlformats.org/drawingml/2006/main" prst="roundRect">
            <a:avLst>
              <a:gd name="adj" fmla="val 179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995176242744fe"/>
          <a:srcRect xmlns:a="http://schemas.openxmlformats.org/drawingml/2006/main" l="0" t="3541" r="0" b="3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1924050"/>
            <a:ext cx="6724650" cy="3905250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</p:spTree>
    <p:extLst>
      <p:ext uri="{BB962C8B-B14F-4D97-AF65-F5344CB8AC3E}">
        <p14:creationId xmlns:p14="http://schemas.microsoft.com/office/powerpoint/2010/main" val="3498809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9FE46E-6497-4BA4-85D6-F9CB73BE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PRODUCT IN ACTION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C54430-4959-4EAA-8BA4-C2C49ABD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096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1914"/>
                </a:solidFill>
              </a:defRPr>
            </a:pPr>
            <a:r>
              <a:rPr sz="3150" b="1" i="0">
                <a:solidFill>
                  <a:srgbClr val="121914"/>
                </a:solidFill>
              </a:rPr>
              <a:t>Each agent speaks only from evidence already written to the chain.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46E3F4-F463-4706-890C-5867D29D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A9B59-6AD1-42A8-9A45-61684298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1959E-6145-46E7-AA57-1A4AF61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28B057-B106-41DF-A47E-1282C69E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Intake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9BDC05-C184-4877-8F7E-D059ADE0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B432B-5364-4244-8EF8-AE5814A6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F11ECA-75F9-4E25-8652-A987C9A0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Classifier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1D2B3C-6C21-42BF-BD50-148B5897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79C7D-2BA7-45B1-8475-0C39873C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BC9145-ABD2-4A32-8A3F-BD676AEC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Kernel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679720-37BF-41B4-9FC1-04C30603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A77D67-6AA2-4AFE-9182-9E511D11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17433E-B455-481F-8146-553874B3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Verifier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83E3B0-ABD6-4F86-AC5C-4B5BB881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403EA3-E184-4B47-8D4E-F0BE9F18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E8C83E-933B-4E5A-A0AE-5D51985E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Resolver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9542FD-FE4F-4A28-99F0-CF238633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4E5780-8BA2-4354-8543-EE8D9D16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232C36-7D65-408B-B72C-AB448472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Communicator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CA128E-0778-4530-9387-7B53C194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10896600" cy="32004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669024900c4e34"/>
          <a:stretch xmlns:a="http://schemas.openxmlformats.org/drawingml/2006/main"/>
        </p:blipFill>
        <p:spPr>
          <a:xfrm xmlns:a="http://schemas.openxmlformats.org/drawingml/2006/main">
            <a:off x="3661980" y="2743200"/>
            <a:ext cx="4868040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B03A3E-5836-4E1A-BEBB-E11BA4A8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356148"/>
                </a:solidFill>
              </a:defRPr>
            </a:pPr>
            <a:r>
              <a:rPr sz="1275" b="1" i="0">
                <a:solidFill>
                  <a:srgbClr val="356148"/>
                </a:solidFill>
              </a:rPr>
              <a:t>Click any spoken line → see event number, facts and hash.</a:t>
            </a:r>
          </a:p>
        </p:txBody>
      </p:sp>
    </p:spTree>
    <p:extLst>
      <p:ext uri="{BB962C8B-B14F-4D97-AF65-F5344CB8AC3E}">
        <p14:creationId xmlns:p14="http://schemas.microsoft.com/office/powerpoint/2010/main" val="14637234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4BECCC-DB0B-4630-83D5-8F89737B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HUMAN-IN-THE-LOOP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D62DC-EE22-4F53-B8D2-55A4080F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57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1914"/>
                </a:solidFill>
              </a:defRPr>
            </a:pPr>
            <a:r>
              <a:rPr sz="3000" b="1" i="0">
                <a:solidFill>
                  <a:srgbClr val="121914"/>
                </a:solidFill>
              </a:rPr>
              <a:t>The human is not a fallback screen. They are the decision owner for exceptions.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29673E-C18D-457F-A80E-9043FFEF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D1464-C9F6-4F16-A5A9-05EC1DDA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3407E-478E-42F2-B53A-BCD7A27D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859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The system assembles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8B672-A2AD-450C-AA2F-BB23DED6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323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evidence · category · confidence · deadline · bank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41D345-4247-4473-B206-065A2A0A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480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The person decides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A382E7-93AA-4F07-9C2C-CDB8C815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285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21914"/>
                </a:solidFill>
              </a:defRPr>
            </a:pPr>
            <a:r>
              <a:rPr sz="2100" b="1" i="0">
                <a:solidFill>
                  <a:srgbClr val="121914"/>
                </a:solidFill>
              </a:rPr>
              <a:t>Approve</a:t>
            </a:r>
          </a:p>
          <a:p xmlns:a="http://schemas.openxmlformats.org/drawingml/2006/main">
            <a:pPr algn="l">
              <a:defRPr sz="2100" b="1" i="0">
                <a:solidFill>
                  <a:srgbClr val="121914"/>
                </a:solidFill>
              </a:defRPr>
            </a:pPr>
            <a:r>
              <a:rPr sz="2100" b="1" i="0">
                <a:solidFill>
                  <a:srgbClr val="121914"/>
                </a:solidFill>
              </a:rPr>
              <a:t>Reject</a:t>
            </a:r>
          </a:p>
          <a:p xmlns:a="http://schemas.openxmlformats.org/drawingml/2006/main">
            <a:pPr algn="l">
              <a:defRPr sz="2100" b="1" i="0">
                <a:solidFill>
                  <a:srgbClr val="121914"/>
                </a:solidFill>
              </a:defRPr>
            </a:pPr>
            <a:r>
              <a:rPr sz="2100" b="1" i="0">
                <a:solidFill>
                  <a:srgbClr val="121914"/>
                </a:solidFill>
              </a:rPr>
              <a:t>Request information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B04C9-B430-44CB-9BFF-62C3A8A1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Every choice re-enters the same kernel gates and remains on the audit trail.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7961A8-AFBE-4971-983F-063D701C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752600"/>
            <a:ext cx="7334250" cy="4248150"/>
          </a:xfrm>
          <a:prstGeom xmlns:a="http://schemas.openxmlformats.org/drawingml/2006/main" prst="roundRect">
            <a:avLst>
              <a:gd name="adj" fmla="val 179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c89aed73234027"/>
          <a:srcRect xmlns:a="http://schemas.openxmlformats.org/drawingml/2006/main" l="0" t="5313" r="0" b="53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1924050"/>
            <a:ext cx="6991350" cy="3905250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</p:spTree>
    <p:extLst>
      <p:ext uri="{BB962C8B-B14F-4D97-AF65-F5344CB8AC3E}">
        <p14:creationId xmlns:p14="http://schemas.microsoft.com/office/powerpoint/2010/main" val="20661615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04A24-F87E-4012-BE85-2C64EDAA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BUSINESS VALIDITY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ED3CB9-BB3D-4C32-9458-508335F4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668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1914"/>
                </a:solidFill>
              </a:defRPr>
            </a:pPr>
            <a:r>
              <a:rPr sz="3000" b="1" i="0">
                <a:solidFill>
                  <a:srgbClr val="121914"/>
                </a:solidFill>
              </a:rPr>
              <a:t>The business case is measurable staff time plus a controlled path to rollout.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47AD9-7B87-43CC-9364-8E5650A6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9204F4-9E4A-4FB8-A84A-B7924B4C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45BF36-28C2-4E73-A1D1-B59D9CC9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71650"/>
            <a:ext cx="7239000" cy="3829050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3efd4b628343df"/>
          <a:srcRect xmlns:a="http://schemas.openxmlformats.org/drawingml/2006/main" l="0" t="9558" r="0" b="95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1943100"/>
            <a:ext cx="6896100" cy="3486150"/>
          </a:xfrm>
          <a:prstGeom xmlns:a="http://schemas.openxmlformats.org/drawingml/2006/main" prst="roundRect">
            <a:avLst>
              <a:gd name="adj" fmla="val 327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6BB2A-E7E5-41B8-B337-02F5CF87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193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 i="0">
                <a:solidFill>
                  <a:srgbClr val="356148"/>
                </a:solidFill>
              </a:defRPr>
            </a:pPr>
            <a:r>
              <a:rPr sz="4650" b="1" i="0">
                <a:solidFill>
                  <a:srgbClr val="356148"/>
                </a:solidFill>
              </a:rPr>
              <a:t>57%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C740E0-4B9B-4092-8918-49C68C7B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574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unauthorised transactions + billing errors</a:t>
            </a:r>
          </a:p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in the case study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A4C8E-7777-46AD-A539-EC37977B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09950"/>
            <a:ext cx="285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8B3EE6-C2F0-4034-A650-2B32A5F1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14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NOW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C4D0FA-5556-458C-B57B-DC7A754D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005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Synthetic pilot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D3B1C5-C638-4D0D-AB10-78347265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529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1A659C-B854-46E9-9E0C-6CA4DE07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387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Staff-reviewed rollout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96D8D1-B875-48FE-8566-F7BD24DC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911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THEN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A875D9-F65E-460D-BBEA-335136C4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676900"/>
            <a:ext cx="272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Bank integration</a:t>
            </a:r>
          </a:p>
        </p:txBody>
      </p:sp>
    </p:spTree>
    <p:extLst>
      <p:ext uri="{BB962C8B-B14F-4D97-AF65-F5344CB8AC3E}">
        <p14:creationId xmlns:p14="http://schemas.microsoft.com/office/powerpoint/2010/main" val="8939610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4E9334-683E-421E-B068-D2A40B0D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PRODUCTION PROOF · 12 AUG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79F9A3-74CD-4ADC-8A8D-09F7E1AB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38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One fresh visitor-written case proves the full chain works.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F52F3-99A9-4A97-A841-CA66015F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15B18E-CD00-4DBA-8126-3DDE0A38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6D14E-72C3-459B-A352-72D7AE1E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457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7FAACE-BA69-4886-BB71-AE92A13F8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408045-CD0D-4A7F-8DDE-E6969147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98263A"/>
                </a:solidFill>
              </a:defRPr>
            </a:pPr>
            <a:r>
              <a:rPr sz="2925" b="1" i="0">
                <a:solidFill>
                  <a:srgbClr val="98263A"/>
                </a:solidFill>
              </a:rPr>
              <a:t>20.1s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10964E-631D-44EA-A488-06C8D9D4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fresh live 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0DA42B-9542-4F88-9EFC-0067F2FD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66950"/>
            <a:ext cx="2457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201C04-BDAA-4E24-870B-DCE9D1A3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669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A3611-3A92-4A54-A2C5-9D4A0F2A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479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98263A"/>
                </a:solidFill>
              </a:defRPr>
            </a:pPr>
            <a:r>
              <a:rPr sz="2925" b="1" i="0">
                <a:solidFill>
                  <a:srgbClr val="98263A"/>
                </a:solidFill>
              </a:rPr>
              <a:t>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1B33D-1A1A-4441-943C-78F4BF2B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337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valid event links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06B7B3-1A8D-4FE3-8489-0BE6CD3C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66950"/>
            <a:ext cx="2457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B0F079-C276-4EFA-94D1-2E7B5F9E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669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B0B80F-228E-44AE-B76E-7632B25F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479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98263A"/>
                </a:solidFill>
              </a:defRPr>
            </a:pPr>
            <a:r>
              <a:rPr sz="2925" b="1" i="0">
                <a:solidFill>
                  <a:srgbClr val="98263A"/>
                </a:solidFill>
              </a:rPr>
              <a:t>3 + 3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8FDE94-F434-4A9D-96D4-E6552D78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337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model + bank calls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1880A-53F6-4BAB-8358-7A106735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66950"/>
            <a:ext cx="2457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3CCBAE-4E94-490E-8A13-AAFEDA3D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669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EC1AC3-DBE7-4FF4-8D92-52FAFBC9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479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56148"/>
                </a:solidFill>
              </a:defRPr>
            </a:pPr>
            <a:r>
              <a:rPr sz="2925" b="1" i="0">
                <a:solidFill>
                  <a:srgbClr val="356148"/>
                </a:solidFill>
              </a:rPr>
              <a:t>RM180.50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807226-21E3-42CA-99EB-02A93A88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337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balanced posting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04BCA4-AC4C-495F-A2E5-39E6D640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10858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04029C-736C-45F9-8E32-69A36941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672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BFB0"/>
                </a:solidFill>
              </a:defRPr>
            </a:pPr>
            <a:r>
              <a:rPr sz="825" b="1" i="0">
                <a:solidFill>
                  <a:srgbClr val="A8BFB0"/>
                </a:solidFill>
              </a:rPr>
              <a:t>VISITOR INPUT RECEIPT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8360CA-51A2-4EC4-B19B-F7C91987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Their subject · their claim · their PDF · exact body fingerprint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37600E-563D-4DE6-BD19-676F436A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933950"/>
            <a:ext cx="1809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C56273-B6EA-41C8-A47A-A065B82A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972050"/>
            <a:ext cx="1657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VERIFIED LIVE</a:t>
            </a:r>
          </a:p>
        </p:txBody>
      </p:sp>
    </p:spTree>
    <p:extLst>
      <p:ext uri="{BB962C8B-B14F-4D97-AF65-F5344CB8AC3E}">
        <p14:creationId xmlns:p14="http://schemas.microsoft.com/office/powerpoint/2010/main" val="754183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DD2178-2ACD-40D3-9CCF-8B90DE25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THE 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15B704-2F45-4370-A8A2-6D597152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21914"/>
                </a:solidFill>
              </a:defRPr>
            </a:pPr>
            <a:r>
              <a:rPr sz="3225" b="1" i="0">
                <a:solidFill>
                  <a:srgbClr val="121914"/>
                </a:solidFill>
              </a:rPr>
              <a:t>Approve a staff-reviewed pilot for unauthorised transactions and billing errors.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037806-B6C2-423E-BAA3-53340CA7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53B62-DF39-4619-AA99-29461A7D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96C622-F937-420F-9351-BB590F28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33337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294E2C-1C7A-46FD-8FFA-015F986B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98263A"/>
                </a:solidFill>
              </a:defRPr>
            </a:pPr>
            <a:r>
              <a:rPr sz="1725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2ED02-665F-4479-99E8-FF32D3DF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Synthetic cases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48B2C-F8CA-4AA4-8A64-E92674F9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Prove safety and measurement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641B5-EC5D-41AF-A48E-2958F5D9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908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356148"/>
                </a:solidFill>
              </a:defRPr>
            </a:pPr>
            <a:r>
              <a:rPr sz="1950" b="1" i="0">
                <a:solidFill>
                  <a:srgbClr val="356148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DD58CF-F10D-440D-B15B-6D803107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05050"/>
            <a:ext cx="33337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414FCB-41B1-4A24-AF26-8EA70BFD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98263A"/>
                </a:solidFill>
              </a:defRPr>
            </a:pPr>
            <a:r>
              <a:rPr sz="1725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7130A-772C-46DE-973B-0563AA7A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Staff-reviewed pilot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0148E-EEB6-4B26-BF12-518095EE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62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Humans own every exception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DF03E-154F-4A67-A208-D2C2231F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908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356148"/>
                </a:solidFill>
              </a:defRPr>
            </a:pPr>
            <a:r>
              <a:rPr sz="1950" b="1" i="0">
                <a:solidFill>
                  <a:srgbClr val="356148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94F8A8-424D-47E1-AD79-0DDBDAF4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33337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71DB92-B381-4BF7-B95B-192028D9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336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98263A"/>
                </a:solidFill>
              </a:defRPr>
            </a:pPr>
            <a:r>
              <a:rPr sz="1725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FC09D1-112F-4ACE-842C-84A51B8D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908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Bank integration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A1A100-5452-489B-9AFB-FEA9FFC6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62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Connect only after approval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613B29-4800-42B7-8A30-FE2B0C49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56148"/>
                </a:solidFill>
              </a:defRPr>
            </a:pPr>
            <a:r>
              <a:rPr sz="2325" b="1" i="0">
                <a:solidFill>
                  <a:srgbClr val="356148"/>
                </a:solidFill>
              </a:rPr>
              <a:t>Models propose. Rules decide. Humans own exceptions.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D5926E-D55A-4C2E-9AB3-33550A41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98263A"/>
                </a:solidFill>
              </a:defRPr>
            </a:pPr>
            <a:r>
              <a:rPr sz="1500" b="1" i="0">
                <a:solidFill>
                  <a:srgbClr val="98263A"/>
                </a:solidFill>
              </a:rPr>
              <a:t>casezero-alpha.vercel.app/live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FCD1E9-91C1-4B60-AB36-90200AB0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05450"/>
            <a:ext cx="3352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385933-99A1-40A2-BAC3-FD02BE20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543550"/>
            <a:ext cx="3200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READY FOR A CONTROLLED PILOT</a:t>
            </a:r>
          </a:p>
        </p:txBody>
      </p:sp>
    </p:spTree>
    <p:extLst>
      <p:ext uri="{BB962C8B-B14F-4D97-AF65-F5344CB8AC3E}">
        <p14:creationId xmlns:p14="http://schemas.microsoft.com/office/powerpoint/2010/main" val="897551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19E180-BC5C-4E85-BD8E-69002F43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AXIOM OPERATING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AFEAF-E75B-4F9A-ADC9-232E29720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1914"/>
                </a:solidFill>
              </a:defRPr>
            </a:pPr>
            <a:r>
              <a:rPr sz="3000" b="1" i="0">
                <a:solidFill>
                  <a:srgbClr val="121914"/>
                </a:solidFill>
              </a:rPr>
              <a:t>Natural language helps the human operate—without inventing authority.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11063-17D6-4412-B7C7-8FEE8727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C9D14F-BE9E-4880-B9EA-2A96A4AA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C892F2-E418-41CE-AB0F-A7274CDC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14F4B-AD66-4782-B4A9-BA8015FE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4B8C54-E17A-4CC2-AFC2-DB17300E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7239000" cy="4229100"/>
          </a:xfrm>
          <a:prstGeom xmlns:a="http://schemas.openxmlformats.org/drawingml/2006/main" prst="roundRect">
            <a:avLst>
              <a:gd name="adj" fmla="val 180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01fefee6ef4256"/>
          <a:srcRect xmlns:a="http://schemas.openxmlformats.org/drawingml/2006/main" l="0" t="4917" r="0" b="49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885950"/>
            <a:ext cx="6896100" cy="3886200"/>
          </a:xfrm>
          <a:prstGeom xmlns:a="http://schemas.openxmlformats.org/drawingml/2006/main" prst="roundRect">
            <a:avLst>
              <a:gd name="adj" fmla="val 294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799297-40D5-406B-84AB-B93B1188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43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Axiom may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315419-4390-4E12-B99B-CD20AE8A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62200"/>
            <a:ext cx="2667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21914"/>
                </a:solidFill>
              </a:defRPr>
            </a:pPr>
            <a:r>
              <a:rPr sz="2175" b="1" i="0">
                <a:solidFill>
                  <a:srgbClr val="121914"/>
                </a:solidFill>
              </a:rPr>
              <a:t>summarise</a:t>
            </a:r>
          </a:p>
          <a:p xmlns:a="http://schemas.openxmlformats.org/drawingml/2006/main">
            <a:pPr algn="l">
              <a:defRPr sz="2175" b="1" i="0">
                <a:solidFill>
                  <a:srgbClr val="121914"/>
                </a:solidFill>
              </a:defRPr>
            </a:pPr>
            <a:r>
              <a:rPr sz="2175" b="1" i="0">
                <a:solidFill>
                  <a:srgbClr val="121914"/>
                </a:solidFill>
              </a:rPr>
              <a:t>navigate</a:t>
            </a:r>
          </a:p>
          <a:p xmlns:a="http://schemas.openxmlformats.org/drawingml/2006/main">
            <a:pPr algn="l">
              <a:defRPr sz="2175" b="1" i="0">
                <a:solidFill>
                  <a:srgbClr val="121914"/>
                </a:solidFill>
              </a:defRPr>
            </a:pPr>
            <a:r>
              <a:rPr sz="2175" b="1" i="0">
                <a:solidFill>
                  <a:srgbClr val="121914"/>
                </a:solidFill>
              </a:rPr>
              <a:t>prepare an 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F16E2E-BFCF-4089-A1CB-37B0DEC2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05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Axiom may not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2DD94F-085F-4E13-9EAD-4846ECEB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24350"/>
            <a:ext cx="2762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grant itself a role</a:t>
            </a:r>
          </a:p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bypass confirmation</a:t>
            </a:r>
          </a:p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post without a ticket</a:t>
            </a:r>
          </a:p>
        </p:txBody>
      </p:sp>
    </p:spTree>
    <p:extLst>
      <p:ext uri="{BB962C8B-B14F-4D97-AF65-F5344CB8AC3E}">
        <p14:creationId xmlns:p14="http://schemas.microsoft.com/office/powerpoint/2010/main" val="5063926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E5A07D-9E50-4504-933F-A485ECF0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AGENTS AND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A2951-56D1-4F9A-A958-A529CBF9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21914"/>
                </a:solidFill>
              </a:defRPr>
            </a:pPr>
            <a:r>
              <a:rPr sz="2925" b="1" i="0">
                <a:solidFill>
                  <a:srgbClr val="121914"/>
                </a:solidFill>
              </a:rPr>
              <a:t>Likely questions about the six agents and their brains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426603-0F09-45F4-927C-7109B5D0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87774A-84C3-4D2F-8629-E7C6EE97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FE999-CBB8-45E5-B1FB-33D808FC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5F146C-69A8-445A-B826-E19DCD05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98B93-3051-4C04-83D2-19DC8292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4C1BF-0A35-46E8-B29C-60CA4881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664CA7-8A6D-4994-A145-0764445E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Why six agents instead of one?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5496B-DAEB-42DF-A0F8-59C80A25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Each agent owns one narrow responsibility. That makes failures inspectable and prevents one model from controlling the full case.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D7E354-2366-4D7D-95E4-BC56F43B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A6CDA9-930A-424D-84F4-AC230DBA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FC39A0-26E8-4A09-9F27-FC67117C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Which agents use AI?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847960-7C97-4942-9BAA-321A89C6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Intake and Classifier use Gemini; Communicator uses Groq. Verifier, Resolver and Supervisor deliberately make no model call.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2A1C98-7815-41AC-97A0-86347AED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8F150E-246E-45B2-8DE6-BE60A49D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60561F-7901-4ADA-9E9C-7D852125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Can you change a model?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C32AA-DAF5-4F2B-AF13-224A55DC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Yes. Brain routing is separate from policy and authority, so a model can be evaluated or replaced without changing the financial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157108-0DE4-4411-A89E-35D2E8BD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91001C-9488-4028-81E1-9396AFFB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83F718-9EF5-4B19-98FD-2F15F940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What does the Compliance Kernel do?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C7E3D5-0104-4468-8191-662344AE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It calculates deadlines, checks confidence and evidence, enforces limits, mints signed tickets and inserts mandatory customer wording.</a:t>
            </a:r>
          </a:p>
        </p:txBody>
      </p:sp>
    </p:spTree>
    <p:extLst>
      <p:ext uri="{BB962C8B-B14F-4D97-AF65-F5344CB8AC3E}">
        <p14:creationId xmlns:p14="http://schemas.microsoft.com/office/powerpoint/2010/main" val="4120238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6496D0-822B-403E-BC40-E7B16ACA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HUMAN AND RESPONSIBLE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776AB2-D53D-4DB8-BB72-3E933E20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21914"/>
                </a:solidFill>
              </a:defRPr>
            </a:pPr>
            <a:r>
              <a:rPr sz="2925" b="1" i="0">
                <a:solidFill>
                  <a:srgbClr val="121914"/>
                </a:solidFill>
              </a:rPr>
              <a:t>Likely questions about people, safety and ethics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2F2ED-ED62-4D93-9BDB-3A6901CA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B701C-9B70-448A-A10C-95FED3D1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9443B-BF2C-4090-894B-B0EC2381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16440D-D65C-4314-9425-189CDEAB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4B5F67-ED8B-4B5F-A033-2422EC49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86951A-C264-4FD1-A37F-7B7C6FB9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A89C97-CFB3-4D8B-B954-9A8A830C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Exactly when does a human enter?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48D5C2-A8AD-489E-84DC-A6E7EED4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Low confidence, incomplete or contradictory evidence, an amount above the automatic limit, dual control, or any explicit refusal.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0778C-7516-49A0-A193-2EE29619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971CC1-9F0C-4D4A-925F-32AB7017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ECBED-B0F8-45B9-86CB-4FAB1BB8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Can a human override everything?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AF40F-1C25-47C9-9A1B-8F121007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An authorized person can decide an exception, but the reason is recorded and the action must still pass the same kernel and role checks.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0078DB-0C0F-4CAB-9165-F47265AB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5DD0F1-EFC6-4C0C-A1C0-1AC7BB54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1D0118-97ED-464B-9084-AF693552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What if the PDF contains an attack?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5A4DC-0AA4-4764-9355-762D857B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Suspicious instructions are blocked before the first model call. The case is quarantined with an explanation instead of silently continuing.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CCCED4-4C78-453B-B08C-A920BE91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31D0C1-4AD1-460A-A39D-92358F7C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DF98BA-F751-45E7-960A-6C7508F3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What if the AI is wrong?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4F7905-AF78-4BA2-9EFD-09A5ED8B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Its output is only a proposal. Bank evidence and deterministic rules can contradict it, and uncertainty routes to a person rather than money movement.</a:t>
            </a:r>
          </a:p>
        </p:txBody>
      </p:sp>
    </p:spTree>
    <p:extLst>
      <p:ext uri="{BB962C8B-B14F-4D97-AF65-F5344CB8AC3E}">
        <p14:creationId xmlns:p14="http://schemas.microsoft.com/office/powerpoint/2010/main" val="194169576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4A7604-EDA0-4191-9869-A5E5FF6E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BUSINESS AND FEASIBILITY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7E533-835E-4629-9082-AD4DD2C6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21914"/>
                </a:solidFill>
              </a:defRPr>
            </a:pPr>
            <a:r>
              <a:rPr sz="2925" b="1" i="0">
                <a:solidFill>
                  <a:srgbClr val="121914"/>
                </a:solidFill>
              </a:rPr>
              <a:t>Likely questions about value, rollout and adoption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7D28E4-D7AE-48BB-B9BD-AB8A0656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35DD6-E011-4372-9281-6B5934C6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F19B1-05A4-41A6-8123-82CF32D8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CED1C-CCCF-4C15-A6F7-D4B13885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2C6C4-66D4-4779-B1E0-96224816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5585E3-FD33-4E6A-8441-92EAC796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7732A9-1384-4109-B77D-B0FCE3EC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Who pays and why?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F38376-5FE8-473F-A0C5-0C6D585C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A bank complaints operation pays to reduce handling time and deadline risk while preserving review, audit and existing control ownership.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8F3DC8-762E-4ABB-9DC5-9EC363F7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F16AC7-30D9-4D8A-8C10-E941C043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9F86C8-387A-4B4C-AE6F-FA6FB454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Is 20 seconds realistic?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6EB934-C835-4F77-9260-99295B0B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It is the measured synthetic production run time, not a promise for every real case. Network, evidence and human review can make cases longer.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080CA9-EE43-425C-B8DD-3D1D2B59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E5780F-5C0E-4FB0-9E81-B101371E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F12227-5EE6-4BBA-9F38-48CECFDD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How would rollout start?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9FEC38-0DBD-4746-818D-5F6170ED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Synthetic cases first, then a staff-reviewed pilot for two high-volume categories, then controlled integration after compliance and security approval.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C12D6C-4D59-46D8-BE1E-4BFDA893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2754EC-4CEA-4F93-86A1-5C7BB52A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EF3AC7-226F-472D-8861-999EB71A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What still belongs to the bank?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53DF29-16E6-4FFE-87F9-F07195A7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Core and CRM credentials, mailbox transport, operator identities, approval limits, policy ownership, compliance sign-off and production security.</a:t>
            </a:r>
          </a:p>
        </p:txBody>
      </p:sp>
    </p:spTree>
    <p:extLst>
      <p:ext uri="{BB962C8B-B14F-4D97-AF65-F5344CB8AC3E}">
        <p14:creationId xmlns:p14="http://schemas.microsoft.com/office/powerpoint/2010/main" val="145972633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B51817-C09F-4E52-AA66-9AFDF156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PRODUCT, PROOF AND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F465D-3B6D-4727-90B4-0B54ED90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21914"/>
                </a:solidFill>
              </a:defRPr>
            </a:pPr>
            <a:r>
              <a:rPr sz="2925" b="1" i="0">
                <a:solidFill>
                  <a:srgbClr val="121914"/>
                </a:solidFill>
              </a:rPr>
              <a:t>Likely questions about the demo and technical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1D49B-2A16-420C-B8A4-6ABB100D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BCB71-107E-431D-84A9-42C6A95E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5F7199-CC48-4D47-BF0F-D51A7516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34A77-0926-4EAF-B3F7-91EADD4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856774-8C9F-4D2C-97C5-73D77FC9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1F971B-11D7-45AA-BB08-A1AF3877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5AD2EC-2B6E-4CEC-A836-CE7207CC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Is the complaint prefilled?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3E70EA-B087-4B8F-8843-276D0022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No. Only the demo identity is fictional. Subject, words, amount, merchant and PDF come from the visitor and appear in the input receipt.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7FC52-BFD7-4C66-858E-F56230B3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B7D5CC-72FC-45FF-9447-939F9DAA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3BC061-ABDF-47B5-B2A2-9009EA21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How do you prove one result?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9C083F-B78D-4255-9DFA-A67FE620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The result includes the visitor-input receipt, agent handoffs, model and bank-tool receipts, balanced journal and a recomputed event chain.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F3FC7F-7EAD-48B5-8C21-E2D0587D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0F12A8-611B-45AA-8A69-0CE22D8F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EC7301-8600-4DEF-B547-F21DE694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How is it tested?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28C04-44C8-40AF-94A7-1C9B62A7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The release gate passes 504 backend tests, 29 browser journeys, type checking, production build, slide/PDF rendering and dependency audit.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532A81-744F-4F88-BAAF-BA47B294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41BF2B-0506-4726-8880-2F57BB7E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4D7B38-DF76-414E-ADB9-0CF7F468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Is the interface accessible?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A78EAD-9321-446F-B4AD-F38097A9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The live path supports keyboard use, visible focus, reduced motion, readable refusal states and zero horizontal overflow at 390 pixels.</a:t>
            </a:r>
          </a:p>
        </p:txBody>
      </p:sp>
    </p:spTree>
    <p:extLst>
      <p:ext uri="{BB962C8B-B14F-4D97-AF65-F5344CB8AC3E}">
        <p14:creationId xmlns:p14="http://schemas.microsoft.com/office/powerpoint/2010/main" val="3186599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2026-08-11T19:23:06.4480000Z</dcterms:created>
  <dcterms:modified xsi:type="dcterms:W3CDTF">2026-08-11T19:23:06.4480000Z</dcterms:modified>
</coreProperties>
</file>