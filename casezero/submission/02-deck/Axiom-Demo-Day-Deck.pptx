
<file path=[Content_Types].xml><?xml version="1.0" encoding="utf-8"?>
<Types xmlns="http://schemas.openxmlformats.org/package/2006/content-types">
  <Default Extension="xml" ContentType="application/vnd.openxmlformats-package.core-properties+xml"/>
  <Default Extension="png" ContentType="image/png"/>
  <Default Extension="rels" ContentType="application/vnd.openxmlformats-package.relationships+xml"/>
  <Override PartName="/docProps/app.xml" ContentType="application/vnd.openxmlformats-officedocument.extended-properties+xml"/>
  <Override PartName="/ppt/presentation.xml" ContentType="application/vnd.openxmlformats-officedocument.presentationml.presentation.main+xml"/>
  <Override PartName="/ppt/theme/theme1.xml" ContentType="application/vnd.openxmlformats-officedocument.theme+xml"/>
  <Override PartName="/ppt/slideMasters/slideMaster1.xml" ContentType="application/vnd.openxmlformats-officedocument.presentationml.slideMaster+xml"/>
  <Override PartName="/ppt/slideMasters/theme/theme2.xml" ContentType="application/vnd.openxmlformats-officedocument.theme+xml"/>
  <Override PartName="/ppt/slideLayouts/slideLayout1.xml" ContentType="application/vnd.openxmlformats-officedocument.presentationml.slideLayout+xml"/>
  <Override PartName="/ppt/notesMasters/notesMaster1.xml" ContentType="application/vnd.openxmlformats-officedocument.presentationml.notesMaster+xml"/>
  <Override PartName="/ppt/notesMasters/theme/theme3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ppt/slides/slide1.xml" ContentType="application/vnd.openxmlformats-officedocument.presentationml.slide+xml"/>
  <Override PartName="/ppt/notesSlides/notesSlide1.xml" ContentType="application/vnd.openxmlformats-officedocument.presentationml.notesSlide+xml"/>
  <Override PartName="/ppt/slides/slide2.xml" ContentType="application/vnd.openxmlformats-officedocument.presentationml.slide+xml"/>
  <Override PartName="/ppt/notesSlides/notesSlide2.xml" ContentType="application/vnd.openxmlformats-officedocument.presentationml.notesSlide+xml"/>
  <Override PartName="/ppt/slides/slide3.xml" ContentType="application/vnd.openxmlformats-officedocument.presentationml.slide+xml"/>
  <Override PartName="/ppt/notesSlides/notesSlide3.xml" ContentType="application/vnd.openxmlformats-officedocument.presentationml.notesSlide+xml"/>
  <Override PartName="/ppt/slides/slide4.xml" ContentType="application/vnd.openxmlformats-officedocument.presentationml.slide+xml"/>
  <Override PartName="/ppt/notesSlides/notesSlide4.xml" ContentType="application/vnd.openxmlformats-officedocument.presentationml.notesSlide+xml"/>
  <Override PartName="/ppt/slides/slide5.xml" ContentType="application/vnd.openxmlformats-officedocument.presentationml.slide+xml"/>
  <Override PartName="/ppt/notesSlides/notesSlide5.xml" ContentType="application/vnd.openxmlformats-officedocument.presentationml.notesSlide+xml"/>
  <Override PartName="/ppt/slides/slide6.xml" ContentType="application/vnd.openxmlformats-officedocument.presentationml.slide+xml"/>
  <Override PartName="/ppt/notesSlides/notesSlide6.xml" ContentType="application/vnd.openxmlformats-officedocument.presentationml.notesSlide+xml"/>
  <Override PartName="/ppt/slides/slide7.xml" ContentType="application/vnd.openxmlformats-officedocument.presentationml.slide+xml"/>
  <Override PartName="/ppt/notesSlides/notesSlide7.xml" ContentType="application/vnd.openxmlformats-officedocument.presentationml.notesSlide+xml"/>
  <Override PartName="/ppt/slides/slide8.xml" ContentType="application/vnd.openxmlformats-officedocument.presentationml.slide+xml"/>
  <Override PartName="/ppt/notesSlides/notesSlide8.xml" ContentType="application/vnd.openxmlformats-officedocument.presentationml.notesSlide+xml"/>
  <Override PartName="/ppt/slides/slide9.xml" ContentType="application/vnd.openxmlformats-officedocument.presentationml.slide+xml"/>
  <Override PartName="/ppt/notesSlides/notesSlide9.xml" ContentType="application/vnd.openxmlformats-officedocument.presentationml.notesSlide+xml"/>
  <Override PartName="/ppt/slides/slide10.xml" ContentType="application/vnd.openxmlformats-officedocument.presentationml.slide+xml"/>
  <Override PartName="/ppt/notesSlides/notesSlide10.xml" ContentType="application/vnd.openxmlformats-officedocument.presentationml.notesSlide+xml"/>
  <Override PartName="/ppt/slides/slide11.xml" ContentType="application/vnd.openxmlformats-officedocument.presentationml.slide+xml"/>
  <Override PartName="/ppt/notesSlides/notesSlide11.xml" ContentType="application/vnd.openxmlformats-officedocument.presentationml.notesSlide+xml"/>
  <Override PartName="/ppt/slides/slide12.xml" ContentType="application/vnd.openxmlformats-officedocument.presentationml.slide+xml"/>
  <Override PartName="/ppt/notesSlides/notesSlide12.xml" ContentType="application/vnd.openxmlformats-officedocument.presentationml.notesSlide+xml"/>
  <Override PartName="/ppt/slides/slide13.xml" ContentType="application/vnd.openxmlformats-officedocument.presentationml.slide+xml"/>
  <Override PartName="/ppt/notesSlides/notesSlide13.xml" ContentType="application/vnd.openxmlformats-officedocument.presentationml.notesSlide+xml"/>
  <Override PartName="/ppt/slides/slide14.xml" ContentType="application/vnd.openxmlformats-officedocument.presentationml.slide+xml"/>
  <Override PartName="/ppt/notesSlides/notesSlide14.xml" ContentType="application/vnd.openxmlformats-officedocument.presentationml.notesSlide+xml"/>
  <Override PartName="/ppt/slides/slide15.xml" ContentType="application/vnd.openxmlformats-officedocument.presentationml.slide+xml"/>
  <Override PartName="/ppt/notesSlides/notesSlide15.xml" ContentType="application/vnd.openxmlformats-officedocument.presentationml.notesSlide+xml"/>
  <Override PartName="/ppt/slides/slide16.xml" ContentType="application/vnd.openxmlformats-officedocument.presentationml.slide+xml"/>
  <Override PartName="/ppt/notesSlides/notesSlide16.xml" ContentType="application/vnd.openxmlformats-officedocument.presentationml.notesSlide+xml"/>
  <Override PartName="/ppt/slides/slide17.xml" ContentType="application/vnd.openxmlformats-officedocument.presentationml.slide+xml"/>
  <Override PartName="/ppt/notesSlides/notesSlide17.xml" ContentType="application/vnd.openxmlformats-officedocument.presentationml.notesSlide+xml"/>
  <Override PartName="/ppt/slides/slide18.xml" ContentType="application/vnd.openxmlformats-officedocument.presentationml.slide+xml"/>
  <Override PartName="/ppt/notesSlides/notesSlide18.xml" ContentType="application/vnd.openxmlformats-officedocument.presentationml.notesSlide+xml"/>
  <Override PartName="/ppt/slides/slide19.xml" ContentType="application/vnd.openxmlformats-officedocument.presentationml.slide+xml"/>
  <Override PartName="/ppt/notesSlides/notesSlide19.xml" ContentType="application/vnd.openxmlformats-officedocument.presentationml.notesSlide+xml"/>
</Types>
</file>

<file path=_rels/.rels>&#65279;<?xml version="1.0" encoding="utf-8"?><Relationships xmlns="http://schemas.openxmlformats.org/package/2006/relationships"><Relationship Type="http://schemas.openxmlformats.org/package/2006/relationships/metadata/core-properties" Target="/docProps/core.xml" Id="Rbefee76a5dd7495b" /><Relationship Type="http://schemas.openxmlformats.org/officeDocument/2006/relationships/extended-properties" Target="/docProps/app.xml" Id="Rf17932c61e894c81" /><Relationship Type="http://schemas.openxmlformats.org/officeDocument/2006/relationships/officeDocument" Target="/ppt/presentation.xml" Id="R1c94a4dcc3984a91" /></Relationships>
</file>

<file path=ppt/presentation.xml><?xml version="1.0" encoding="utf-8"?>
<p:presentation xmlns:p="http://schemas.openxmlformats.org/presentationml/2006/main">
  <p:sldMasterIdLst>
    <p:sldMasterId xmlns:r="http://schemas.openxmlformats.org/officeDocument/2006/relationships" id="2147483648" r:id="R927f225be1394b13"/>
  </p:sldMasterIdLst>
  <p:notesMasterIdLst>
    <p:notesMasterId xmlns:r="http://schemas.openxmlformats.org/officeDocument/2006/relationships" r:id="Rb2c33f1f0d644b19"/>
  </p:notesMasterIdLst>
  <p:sldIdLst>
    <p:sldId xmlns:r="http://schemas.openxmlformats.org/officeDocument/2006/relationships" id="256" r:id="R5925c0e8a5ce4fac"/>
    <p:sldId xmlns:r="http://schemas.openxmlformats.org/officeDocument/2006/relationships" id="257" r:id="R6d715fc5b9744e5c"/>
    <p:sldId xmlns:r="http://schemas.openxmlformats.org/officeDocument/2006/relationships" id="258" r:id="R0d57781633134467"/>
    <p:sldId xmlns:r="http://schemas.openxmlformats.org/officeDocument/2006/relationships" id="259" r:id="Ra65b7a6942534716"/>
    <p:sldId xmlns:r="http://schemas.openxmlformats.org/officeDocument/2006/relationships" id="260" r:id="R73ddd748f9914cf7"/>
    <p:sldId xmlns:r="http://schemas.openxmlformats.org/officeDocument/2006/relationships" id="261" r:id="R94eb6e5c4c4f404b"/>
    <p:sldId xmlns:r="http://schemas.openxmlformats.org/officeDocument/2006/relationships" id="262" r:id="R02095fed3ada4eac"/>
    <p:sldId xmlns:r="http://schemas.openxmlformats.org/officeDocument/2006/relationships" id="263" r:id="Rb4b3d6a50518425c"/>
    <p:sldId xmlns:r="http://schemas.openxmlformats.org/officeDocument/2006/relationships" id="264" r:id="R35ff514100924b5f"/>
    <p:sldId xmlns:r="http://schemas.openxmlformats.org/officeDocument/2006/relationships" id="265" r:id="Rea210729dae74097"/>
    <p:sldId xmlns:r="http://schemas.openxmlformats.org/officeDocument/2006/relationships" id="266" r:id="Rfe60e4f9608a426d"/>
    <p:sldId xmlns:r="http://schemas.openxmlformats.org/officeDocument/2006/relationships" id="267" r:id="R0f2750d5ca834065"/>
    <p:sldId xmlns:r="http://schemas.openxmlformats.org/officeDocument/2006/relationships" id="268" r:id="Ra8402f392e9b4b6e"/>
    <p:sldId xmlns:r="http://schemas.openxmlformats.org/officeDocument/2006/relationships" id="269" r:id="R00b53f897daa4740"/>
    <p:sldId xmlns:r="http://schemas.openxmlformats.org/officeDocument/2006/relationships" id="270" r:id="Ra156c35673104a0a"/>
    <p:sldId xmlns:r="http://schemas.openxmlformats.org/officeDocument/2006/relationships" id="271" r:id="R3d47b59922784083"/>
    <p:sldId xmlns:r="http://schemas.openxmlformats.org/officeDocument/2006/relationships" id="272" r:id="Rd5402f4777ba4cfc"/>
    <p:sldId xmlns:r="http://schemas.openxmlformats.org/officeDocument/2006/relationships" id="273" r:id="R9a081c99f91f470a"/>
    <p:sldId xmlns:r="http://schemas.openxmlformats.org/officeDocument/2006/relationships" id="274" r:id="Read020880f154214"/>
  </p:sldIdLst>
  <p:sldSz cx="12192000" cy="6858000"/>
  <p:notesSz cx="6858000" cy="9144000"/>
</p:presentation>
</file>

<file path=ppt/presProps.xml><?xml version="1.0" encoding="utf-8"?>
<p:presentationPr xmlns:p="http://schemas.openxmlformats.org/presentationml/2006/main">
  <p:extLst>
    <p:ext xmlns:p14="http://schemas.microsoft.com/office/powerpoint/2010/main" uri="{E76CE94A-603C-4142-B9EB-6D1370010A27}">
      <p14:discardImageEditData val="0"/>
    </p:ext>
    <p:ext xmlns:p14="http://schemas.microsoft.com/office/powerpoint/2010/main" uri="{D31A062A-798A-4329-ABDD-BBA856620510}">
      <p14:defaultImageDpi val="32767"/>
    </p:ext>
    <p:ext xmlns:p15="http://schemas.microsoft.com/office/powerpoint/2012/main" uri="{FD5EFAAD-0ECE-453E-9831-46B23BE46B34}">
      <p15:chartTrackingRefBased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_rels/presentation.xml.rels>&#65279;<?xml version="1.0" encoding="utf-8"?><Relationships xmlns="http://schemas.openxmlformats.org/package/2006/relationships"><Relationship Type="http://schemas.openxmlformats.org/officeDocument/2006/relationships/theme" Target="/ppt/theme/theme1.xml" Id="Rfff2aa53b2cc46b3" /><Relationship Type="http://schemas.openxmlformats.org/officeDocument/2006/relationships/slideMaster" Target="/ppt/slideMasters/slideMaster1.xml" Id="R927f225be1394b13" /><Relationship Type="http://schemas.openxmlformats.org/officeDocument/2006/relationships/notesMaster" Target="/ppt/notesMasters/notesMaster1.xml" Id="Rb2c33f1f0d644b19" /><Relationship Type="http://schemas.openxmlformats.org/officeDocument/2006/relationships/presProps" Target="/ppt/presProps.xml" Id="Rb7849cdb12fb4592" /><Relationship Type="http://schemas.openxmlformats.org/officeDocument/2006/relationships/tableStyles" Target="/ppt/tableStyles.xml" Id="Rfd89167f112a41fd" /><Relationship Type="http://schemas.openxmlformats.org/officeDocument/2006/relationships/slide" Target="/ppt/slides/slide1.xml" Id="R5925c0e8a5ce4fac" /><Relationship Type="http://schemas.openxmlformats.org/officeDocument/2006/relationships/slide" Target="/ppt/slides/slide2.xml" Id="R6d715fc5b9744e5c" /><Relationship Type="http://schemas.openxmlformats.org/officeDocument/2006/relationships/slide" Target="/ppt/slides/slide3.xml" Id="R0d57781633134467" /><Relationship Type="http://schemas.openxmlformats.org/officeDocument/2006/relationships/slide" Target="/ppt/slides/slide4.xml" Id="Ra65b7a6942534716" /><Relationship Type="http://schemas.openxmlformats.org/officeDocument/2006/relationships/slide" Target="/ppt/slides/slide5.xml" Id="R73ddd748f9914cf7" /><Relationship Type="http://schemas.openxmlformats.org/officeDocument/2006/relationships/slide" Target="/ppt/slides/slide6.xml" Id="R94eb6e5c4c4f404b" /><Relationship Type="http://schemas.openxmlformats.org/officeDocument/2006/relationships/slide" Target="/ppt/slides/slide7.xml" Id="R02095fed3ada4eac" /><Relationship Type="http://schemas.openxmlformats.org/officeDocument/2006/relationships/slide" Target="/ppt/slides/slide8.xml" Id="Rb4b3d6a50518425c" /><Relationship Type="http://schemas.openxmlformats.org/officeDocument/2006/relationships/slide" Target="/ppt/slides/slide9.xml" Id="R35ff514100924b5f" /><Relationship Type="http://schemas.openxmlformats.org/officeDocument/2006/relationships/slide" Target="/ppt/slides/slide10.xml" Id="Rea210729dae74097" /><Relationship Type="http://schemas.openxmlformats.org/officeDocument/2006/relationships/slide" Target="/ppt/slides/slide11.xml" Id="Rfe60e4f9608a426d" /><Relationship Type="http://schemas.openxmlformats.org/officeDocument/2006/relationships/slide" Target="/ppt/slides/slide12.xml" Id="R0f2750d5ca834065" /><Relationship Type="http://schemas.openxmlformats.org/officeDocument/2006/relationships/slide" Target="/ppt/slides/slide13.xml" Id="Ra8402f392e9b4b6e" /><Relationship Type="http://schemas.openxmlformats.org/officeDocument/2006/relationships/slide" Target="/ppt/slides/slide14.xml" Id="R00b53f897daa4740" /><Relationship Type="http://schemas.openxmlformats.org/officeDocument/2006/relationships/slide" Target="/ppt/slides/slide15.xml" Id="Ra156c35673104a0a" /><Relationship Type="http://schemas.openxmlformats.org/officeDocument/2006/relationships/slide" Target="/ppt/slides/slide16.xml" Id="R3d47b59922784083" /><Relationship Type="http://schemas.openxmlformats.org/officeDocument/2006/relationships/slide" Target="/ppt/slides/slide17.xml" Id="Rd5402f4777ba4cfc" /><Relationship Type="http://schemas.openxmlformats.org/officeDocument/2006/relationships/slide" Target="/ppt/slides/slide18.xml" Id="R9a081c99f91f470a" /><Relationship Type="http://schemas.openxmlformats.org/officeDocument/2006/relationships/slide" Target="/ppt/slides/slide19.xml" Id="Read020880f154214" /></Relationships>
</file>

<file path=ppt/notesMasters/_rels/notesMaster1.xml.rels>&#65279;<?xml version="1.0" encoding="utf-8"?><Relationships xmlns="http://schemas.openxmlformats.org/package/2006/relationships"><Relationship Type="http://schemas.openxmlformats.org/officeDocument/2006/relationships/theme" Target="/ppt/notesMasters/theme/theme3.xml" Id="R100de89a8f58451b" /></Relationships>
</file>

<file path=ppt/notesMasters/notesMaster1.xml><?xml version="1.0" encoding="utf-8"?>
<p:notesMaster xmlns:p="http://schemas.openxmlformats.org/presentationml/2006/main">
  <p:cSld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Header Placeholder"/>
          <p:cNvSpPr/>
          <p:nvPr>
            <p:ph type="hdr" sz="quarter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3" name="Date Placeholder"/>
          <p:cNvSpPr/>
          <p:nvPr>
            <p:ph type="dt" sz="quarter" idx="1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4" name="Slide Image Placeholder"/>
          <p:cNvSpPr/>
          <p:nvPr>
            <p:ph type="sldImg" idx="2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5" name="Notes Placeholder"/>
          <p:cNvSpPr/>
          <p:nvPr>
            <p:ph type="body" sz="quarter" idx="3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6" name="Footer Placeholder"/>
          <p:cNvSpPr/>
          <p:nvPr>
            <p:ph type="ftr" sz="quarter" idx="4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  <p:sp>
        <p:nvSpPr>
          <p:cNvPr id="7" name="Slide Number Placeholder"/>
          <p:cNvSpPr/>
          <p:nvPr>
            <p:ph type="sldNum" sz="quarter" idx="5"/>
          </p:nvPr>
        </p:nvSpPr>
        <p:spPr>
          <a:prstGeom xmlns:a="http://schemas.openxmlformats.org/drawingml/2006/main" prst="rect">
            <a:avLst/>
          </a:prstGeom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xmlns:a="http://schemas.openxmlformats.org/drawingml/2006/main" marL="0" algn="l" defTabSz="914400" rtl="0" eaLnBrk="1" latinLnBrk="0" hangingPunct="1">
      <a:defRPr sz="1200" kern="1200"/>
    </a:lvl1pPr>
  </p:notesStyle>
</p:notesMaster>
</file>

<file path=ppt/notesMasters/theme/theme3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notesSlides/_rels/notesSlide1.xml.rels>&#65279;<?xml version="1.0" encoding="utf-8"?><Relationships xmlns="http://schemas.openxmlformats.org/package/2006/relationships"><Relationship Type="http://schemas.openxmlformats.org/officeDocument/2006/relationships/slide" Target="/ppt/slides/slide1.xml" Id="Rd6e3f83950a24215" /><Relationship Type="http://schemas.openxmlformats.org/officeDocument/2006/relationships/notesMaster" Target="/ppt/notesMasters/notesMaster1.xml" Id="Rb2bc849c51254adc" /></Relationships>
</file>

<file path=ppt/notesSlides/_rels/notesSlide2.xml.rels>&#65279;<?xml version="1.0" encoding="utf-8"?><Relationships xmlns="http://schemas.openxmlformats.org/package/2006/relationships"><Relationship Type="http://schemas.openxmlformats.org/officeDocument/2006/relationships/slide" Target="/ppt/slides/slide2.xml" Id="R505c57ecc9244d28" /><Relationship Type="http://schemas.openxmlformats.org/officeDocument/2006/relationships/notesMaster" Target="/ppt/notesMasters/notesMaster1.xml" Id="Rae8a75a540f048da" /></Relationships>
</file>

<file path=ppt/notesSlides/_rels/notesSlide3.xml.rels>&#65279;<?xml version="1.0" encoding="utf-8"?><Relationships xmlns="http://schemas.openxmlformats.org/package/2006/relationships"><Relationship Type="http://schemas.openxmlformats.org/officeDocument/2006/relationships/slide" Target="/ppt/slides/slide3.xml" Id="R8b98c0a6204c43da" /><Relationship Type="http://schemas.openxmlformats.org/officeDocument/2006/relationships/notesMaster" Target="/ppt/notesMasters/notesMaster1.xml" Id="Ra287c93617784495" /></Relationships>
</file>

<file path=ppt/notesSlides/_rels/notesSlide4.xml.rels>&#65279;<?xml version="1.0" encoding="utf-8"?><Relationships xmlns="http://schemas.openxmlformats.org/package/2006/relationships"><Relationship Type="http://schemas.openxmlformats.org/officeDocument/2006/relationships/slide" Target="/ppt/slides/slide4.xml" Id="R4f7696fcb0ce4d16" /><Relationship Type="http://schemas.openxmlformats.org/officeDocument/2006/relationships/notesMaster" Target="/ppt/notesMasters/notesMaster1.xml" Id="R4209067f8b514163" /></Relationships>
</file>

<file path=ppt/notesSlides/_rels/notesSlide5.xml.rels>&#65279;<?xml version="1.0" encoding="utf-8"?><Relationships xmlns="http://schemas.openxmlformats.org/package/2006/relationships"><Relationship Type="http://schemas.openxmlformats.org/officeDocument/2006/relationships/slide" Target="/ppt/slides/slide5.xml" Id="R43a7057a4e894c57" /><Relationship Type="http://schemas.openxmlformats.org/officeDocument/2006/relationships/notesMaster" Target="/ppt/notesMasters/notesMaster1.xml" Id="R97597dbf9ec54777" /></Relationships>
</file>

<file path=ppt/notesSlides/_rels/notesSlide6.xml.rels>&#65279;<?xml version="1.0" encoding="utf-8"?><Relationships xmlns="http://schemas.openxmlformats.org/package/2006/relationships"><Relationship Type="http://schemas.openxmlformats.org/officeDocument/2006/relationships/slide" Target="/ppt/slides/slide6.xml" Id="Rad37920555a445f1" /><Relationship Type="http://schemas.openxmlformats.org/officeDocument/2006/relationships/notesMaster" Target="/ppt/notesMasters/notesMaster1.xml" Id="R702458a7488b403f" /></Relationships>
</file>

<file path=ppt/notesSlides/_rels/notesSlide7.xml.rels>&#65279;<?xml version="1.0" encoding="utf-8"?><Relationships xmlns="http://schemas.openxmlformats.org/package/2006/relationships"><Relationship Type="http://schemas.openxmlformats.org/officeDocument/2006/relationships/slide" Target="/ppt/slides/slide7.xml" Id="R71947753ac6d4a9b" /><Relationship Type="http://schemas.openxmlformats.org/officeDocument/2006/relationships/notesMaster" Target="/ppt/notesMasters/notesMaster1.xml" Id="Rc5927578ec524a72" /></Relationships>
</file>

<file path=ppt/notesSlides/_rels/notesSlide8.xml.rels>&#65279;<?xml version="1.0" encoding="utf-8"?><Relationships xmlns="http://schemas.openxmlformats.org/package/2006/relationships"><Relationship Type="http://schemas.openxmlformats.org/officeDocument/2006/relationships/slide" Target="/ppt/slides/slide8.xml" Id="R74d28f1f153f4f2f" /><Relationship Type="http://schemas.openxmlformats.org/officeDocument/2006/relationships/notesMaster" Target="/ppt/notesMasters/notesMaster1.xml" Id="R3b7d470972c04677" /></Relationships>
</file>

<file path=ppt/notesSlides/_rels/notesSlide9.xml.rels>&#65279;<?xml version="1.0" encoding="utf-8"?><Relationships xmlns="http://schemas.openxmlformats.org/package/2006/relationships"><Relationship Type="http://schemas.openxmlformats.org/officeDocument/2006/relationships/slide" Target="/ppt/slides/slide9.xml" Id="R791ebedcec994915" /><Relationship Type="http://schemas.openxmlformats.org/officeDocument/2006/relationships/notesMaster" Target="/ppt/notesMasters/notesMaster1.xml" Id="Rbe9362c3164d4351" /></Relationships>
</file>

<file path=ppt/notesSlides/_rels/notesSlide10.xml.rels>&#65279;<?xml version="1.0" encoding="utf-8"?><Relationships xmlns="http://schemas.openxmlformats.org/package/2006/relationships"><Relationship Type="http://schemas.openxmlformats.org/officeDocument/2006/relationships/slide" Target="/ppt/slides/slide10.xml" Id="R48ec5955ef5240d8" /><Relationship Type="http://schemas.openxmlformats.org/officeDocument/2006/relationships/notesMaster" Target="/ppt/notesMasters/notesMaster1.xml" Id="R55d5ec646841479c" /></Relationships>
</file>

<file path=ppt/notesSlides/_rels/notesSlide11.xml.rels>&#65279;<?xml version="1.0" encoding="utf-8"?><Relationships xmlns="http://schemas.openxmlformats.org/package/2006/relationships"><Relationship Type="http://schemas.openxmlformats.org/officeDocument/2006/relationships/slide" Target="/ppt/slides/slide11.xml" Id="Ree5c1a226c274391" /><Relationship Type="http://schemas.openxmlformats.org/officeDocument/2006/relationships/notesMaster" Target="/ppt/notesMasters/notesMaster1.xml" Id="Rf9e5bfa94ff345e0" /></Relationships>
</file>

<file path=ppt/notesSlides/_rels/notesSlide12.xml.rels>&#65279;<?xml version="1.0" encoding="utf-8"?><Relationships xmlns="http://schemas.openxmlformats.org/package/2006/relationships"><Relationship Type="http://schemas.openxmlformats.org/officeDocument/2006/relationships/slide" Target="/ppt/slides/slide12.xml" Id="R9f81af45f74c429e" /><Relationship Type="http://schemas.openxmlformats.org/officeDocument/2006/relationships/notesMaster" Target="/ppt/notesMasters/notesMaster1.xml" Id="Rf450b2738e3a4e3f" /></Relationships>
</file>

<file path=ppt/notesSlides/_rels/notesSlide13.xml.rels>&#65279;<?xml version="1.0" encoding="utf-8"?><Relationships xmlns="http://schemas.openxmlformats.org/package/2006/relationships"><Relationship Type="http://schemas.openxmlformats.org/officeDocument/2006/relationships/slide" Target="/ppt/slides/slide13.xml" Id="R4e645d9d86fe49ce" /><Relationship Type="http://schemas.openxmlformats.org/officeDocument/2006/relationships/notesMaster" Target="/ppt/notesMasters/notesMaster1.xml" Id="R1bb261b81b3a42b8" /></Relationships>
</file>

<file path=ppt/notesSlides/_rels/notesSlide14.xml.rels>&#65279;<?xml version="1.0" encoding="utf-8"?><Relationships xmlns="http://schemas.openxmlformats.org/package/2006/relationships"><Relationship Type="http://schemas.openxmlformats.org/officeDocument/2006/relationships/slide" Target="/ppt/slides/slide14.xml" Id="Rf8486c04f500446e" /><Relationship Type="http://schemas.openxmlformats.org/officeDocument/2006/relationships/notesMaster" Target="/ppt/notesMasters/notesMaster1.xml" Id="Rf566af43492b4fa9" /></Relationships>
</file>

<file path=ppt/notesSlides/_rels/notesSlide15.xml.rels>&#65279;<?xml version="1.0" encoding="utf-8"?><Relationships xmlns="http://schemas.openxmlformats.org/package/2006/relationships"><Relationship Type="http://schemas.openxmlformats.org/officeDocument/2006/relationships/slide" Target="/ppt/slides/slide15.xml" Id="R188a1756f7d24338" /><Relationship Type="http://schemas.openxmlformats.org/officeDocument/2006/relationships/notesMaster" Target="/ppt/notesMasters/notesMaster1.xml" Id="Rec5fc7d55fe145ee" /></Relationships>
</file>

<file path=ppt/notesSlides/_rels/notesSlide16.xml.rels>&#65279;<?xml version="1.0" encoding="utf-8"?><Relationships xmlns="http://schemas.openxmlformats.org/package/2006/relationships"><Relationship Type="http://schemas.openxmlformats.org/officeDocument/2006/relationships/slide" Target="/ppt/slides/slide16.xml" Id="Rc67c8f1c7abe417a" /><Relationship Type="http://schemas.openxmlformats.org/officeDocument/2006/relationships/notesMaster" Target="/ppt/notesMasters/notesMaster1.xml" Id="R05ced44be40f46be" /></Relationships>
</file>

<file path=ppt/notesSlides/_rels/notesSlide17.xml.rels>&#65279;<?xml version="1.0" encoding="utf-8"?><Relationships xmlns="http://schemas.openxmlformats.org/package/2006/relationships"><Relationship Type="http://schemas.openxmlformats.org/officeDocument/2006/relationships/slide" Target="/ppt/slides/slide17.xml" Id="R18b4e67f312c44c6" /><Relationship Type="http://schemas.openxmlformats.org/officeDocument/2006/relationships/notesMaster" Target="/ppt/notesMasters/notesMaster1.xml" Id="R2584940cd85941d7" /></Relationships>
</file>

<file path=ppt/notesSlides/_rels/notesSlide18.xml.rels>&#65279;<?xml version="1.0" encoding="utf-8"?><Relationships xmlns="http://schemas.openxmlformats.org/package/2006/relationships"><Relationship Type="http://schemas.openxmlformats.org/officeDocument/2006/relationships/slide" Target="/ppt/slides/slide18.xml" Id="R483e1b7ada914ac7" /><Relationship Type="http://schemas.openxmlformats.org/officeDocument/2006/relationships/notesMaster" Target="/ppt/notesMasters/notesMaster1.xml" Id="Rc555f64bf96a46c4" /></Relationships>
</file>

<file path=ppt/notesSlides/_rels/notesSlide19.xml.rels>&#65279;<?xml version="1.0" encoding="utf-8"?><Relationships xmlns="http://schemas.openxmlformats.org/package/2006/relationships"><Relationship Type="http://schemas.openxmlformats.org/officeDocument/2006/relationships/slide" Target="/ppt/slides/slide19.xml" Id="Rf0fa5ab56a1d4543" /><Relationship Type="http://schemas.openxmlformats.org/officeDocument/2006/relationships/notesMaster" Target="/ppt/notesMasters/notesMaster1.xml" Id="R3042af488d9448c5" /></Relationships>
</file>

<file path=ppt/notesSlides/notesSlide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0:00–0:10 (10 seconds).</a:t>
            </a:r>
          </a:p>
          <a:p xmlns:a="http://schemas.openxmlformats.org/drawingml/2006/main">
            <a:r>
              <a:t>Say: ‘CaseZero resolves bank complaints in minutes, while keeping every decision visible and governed from end to end.’</a:t>
            </a:r>
          </a:p>
          <a:p xmlns:a="http://schemas.openxmlformats.org/drawingml/2006/main">
            <a:r>
              <a:t>This is the company purpose. Do not list features yet.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Hackathon Demo Day Guideline supplied by the user, 12 Aug 2026.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Sequoia Capital — company purpose should be one declarative sentence.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0:10–0:30 (20 seconds).</a:t>
            </a:r>
          </a:p>
          <a:p xmlns:a="http://schemas.openxmlformats.org/drawingml/2006/main">
            <a:r>
              <a:t>Say: ‘The case-study baseline is 90 minutes. The customer repeats the same story while evidence and ownership move through six desks.’</a:t>
            </a:r>
          </a:p>
          <a:p xmlns:a="http://schemas.openxmlformats.org/drawingml/2006/main">
            <a:r>
              <a:t>Keep this slide to the problem only. Do not reveal the solution until slide 4.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90-minute baseline.</a:t>
            </a:r>
          </a:p>
          <a:p xmlns:a="http://schemas.openxmlformats.org/drawingml/2006/main">
            <a:r>
              <a:t>- api/agents/roster.py — human desks represented by the workflow.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0:30–0:50 (20 seconds).</a:t>
            </a:r>
          </a:p>
          <a:p xmlns:a="http://schemas.openxmlformats.org/drawingml/2006/main">
            <a:r>
              <a:t>Say: ‘Eleven percent of deadlines are missed across a 1.8-million-customer bank. The customer experiences silence; the bank carries regulatory exposure.’</a:t>
            </a:r>
          </a:p>
          <a:p xmlns:a="http://schemas.openxmlformats.org/drawingml/2006/main">
            <a:r>
              <a:t>These are case-study inputs, not measured product results.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case-study bank and deadline miss rate.</a:t>
            </a:r>
          </a:p>
          <a:p xmlns:a="http://schemas.openxmlformats.org/drawingml/2006/main">
            <a:r>
              <a:t>- submission/01-project-copy/RUBRIC_MAP.md — Impact &amp; Relevance.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0:50–1:10 (20 seconds).</a:t>
            </a:r>
          </a:p>
          <a:p xmlns:a="http://schemas.openxmlformats.org/drawingml/2006/main">
            <a:r>
              <a:t>Say: ‘CaseZero keeps the customer’s story, the specialist work, the bank rules and the final proof in one visible journey.’</a:t>
            </a:r>
          </a:p>
          <a:p xmlns:a="http://schemas.openxmlformats.org/drawingml/2006/main">
            <a:r>
              <a:t>This is the thirty-second product explanation required by the judges.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comprehensive solution design.</a:t>
            </a:r>
          </a:p>
          <a:p xmlns:a="http://schemas.openxmlformats.org/drawingml/2006/main">
            <a:r>
              <a:t>- Y Combinator — state clearly what the product does and for whom.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1:10–1:35 (25 seconds).</a:t>
            </a:r>
          </a:p>
          <a:p xmlns:a="http://schemas.openxmlformats.org/drawingml/2006/main">
            <a:r>
              <a:t>Say: ‘We designed the system around a simple belief: AI is excellent at interpretation, but irreversible bank decisions need deterministic authority and a visible human exception lane.’</a:t>
            </a:r>
          </a:p>
          <a:p xmlns:a="http://schemas.openxmlformats.org/drawingml/2006/main">
            <a:r>
              <a:t>This slide answers ‘why this design’ and ‘why now’ without implementation jargon.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api/agents/roster.py — narrow seats and explicit zero-model roles.</a:t>
            </a:r>
          </a:p>
          <a:p xmlns:a="http://schemas.openxmlformats.org/drawingml/2006/main">
            <a:r>
              <a:t>- api/kernel/gates.py and api/agents/resolver.py — deterministic authority and signed tickets.</a:t>
            </a:r>
          </a:p>
          <a:p xmlns:a="http://schemas.openxmlformats.org/drawingml/2006/main">
            <a:r>
              <a:t>- Sequoia Capital — solution, uniqueness and why now.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1:35–2:05 (30 seconds).</a:t>
            </a:r>
          </a:p>
          <a:p xmlns:a="http://schemas.openxmlformats.org/drawingml/2006/main">
            <a:r>
              <a:t>Walk left to right and pair each job with its rule: Intake reads but quarantines attacks; Classifier labels but routes low confidence to a person; Verifier checks facts but cannot invent a fourth verdict; Resolver posts only with a signed ticket; Communicator drafts while the kernel controls mandatory wording; Supervisor escalates but cannot move money.</a:t>
            </a:r>
          </a:p>
          <a:p xmlns:a="http://schemas.openxmlformats.org/drawingml/2006/main">
            <a:r>
              <a:t>Call out the brain labels. Only Intake, Classifier and Communicator use a model. The three roles closest to evidence, money and supervision deliberately use no model.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api/agents/roster.py — canonical seats, roles and brain routing.</a:t>
            </a:r>
          </a:p>
          <a:p xmlns:a="http://schemas.openxmlformats.org/drawingml/2006/main">
            <a:r>
              <a:t>- Production proof MYB-2026-000057 — Intake/Classifier Gemini 2.5 Flash; Communicator Llama 3.3 70B via Groq.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2:05–2:30 (25 seconds).</a:t>
            </a:r>
          </a:p>
          <a:p xmlns:a="http://schemas.openxmlformats.org/drawingml/2006/main">
            <a:r>
              <a:t>Say: ‘The models produce bounded proposals. The kernel checks policy. A safe, known case can proceed with a signed action; uncertainty becomes a human decision.’</a:t>
            </a:r>
          </a:p>
          <a:p xmlns:a="http://schemas.openxmlformats.org/drawingml/2006/main">
            <a:r>
              <a:t>Point to the human branch and name the four triggers shown at the bottom.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api/agents/classifier.py — confidence floor routes to a human.</a:t>
            </a:r>
          </a:p>
          <a:p xmlns:a="http://schemas.openxmlformats.org/drawingml/2006/main">
            <a:r>
              <a:t>- api/agents/verifier.py — PASS, FAIL or MANUAL_REVIEW.</a:t>
            </a:r>
          </a:p>
          <a:p xmlns:a="http://schemas.openxmlformats.org/drawingml/2006/main">
            <a:r>
              <a:t>- api/kernel/gates.py and api/agents/resolver.py — limits, dual control and signed tickets.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2:30–3:15 (45 seconds).</a:t>
            </a:r>
          </a:p>
          <a:p xmlns:a="http://schemas.openxmlformats.org/drawingml/2006/main">
            <a:r>
              <a:t>Live cue: open https://casezero-alpha.vercel.app/live. Select a fictional identity, type a short complaint, enter the amount and merchant, attach a PDF, then run it.</a:t>
            </a:r>
          </a:p>
          <a:p xmlns:a="http://schemas.openxmlformats.org/drawingml/2006/main">
            <a:r>
              <a:t>Say: ‘The identity is fictional for privacy. Everything that describes the complaint is mine.’</a:t>
            </a:r>
          </a:p>
          <a:p xmlns:a="http://schemas.openxmlformats.org/drawingml/2006/main">
            <a:r>
              <a:t>While processing, transition to the Boardroom: ‘Now watch each specialist earn the next handoff.’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dashboard/app/live/page.tsx — composer and truth boundary.</a:t>
            </a:r>
          </a:p>
          <a:p xmlns:a="http://schemas.openxmlformats.org/drawingml/2006/main">
            <a:r>
              <a:t>- dashboard/e2e/live.spec.ts — visitor subject, body and PDF assertions.</a:t>
            </a:r>
          </a:p>
          <a:p xmlns:a="http://schemas.openxmlformats.org/drawingml/2006/main">
            <a:r>
              <a:t>- submission/assets/deck/pitch-composer.png — current production composer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3:15–3:40 (25 seconds).</a:t>
            </a:r>
          </a:p>
          <a:p xmlns:a="http://schemas.openxmlformats.org/drawingml/2006/main">
            <a:r>
              <a:t>Say: ‘This is not a generated story. The Boardroom renders the event chain as a conversation. If a stage has no event, that agent stays silent.’</a:t>
            </a:r>
          </a:p>
          <a:p xmlns:a="http://schemas.openxmlformats.org/drawingml/2006/main">
            <a:r>
              <a:t>Open one handoff receipt in the live demo and show sequence number, evidence facts and hash.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api/agents/handoff.py — every sentence is assembled from recorded events only.</a:t>
            </a:r>
          </a:p>
          <a:p xmlns:a="http://schemas.openxmlformats.org/drawingml/2006/main">
            <a:r>
              <a:t>- submission/assets/deck/receipt-open.png — product capture.</a:t>
            </a:r>
          </a:p>
          <a:p xmlns:a="http://schemas.openxmlformats.org/drawingml/2006/main">
            <a:r>
              <a:t>- submission/01-project-copy/RUBRIC_MAP.md — Demo &amp; Storytelling and Technical Execution.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0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3:40–4:10 (30 seconds).</a:t>
            </a:r>
          </a:p>
          <a:p xmlns:a="http://schemas.openxmlformats.org/drawingml/2006/main">
            <a:r>
              <a:t>Say: ‘Here is the person. CaseZero brings them the evidence and a clear choice. They can approve, reject or request information. The person owns the exception; the kernel still enforces the rules.’</a:t>
            </a:r>
          </a:p>
          <a:p xmlns:a="http://schemas.openxmlformats.org/drawingml/2006/main">
            <a:r>
              <a:t>Human triggers: low confidence, bank evidence that cannot settle the claim, high amount, or dual-control policy.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dashboard/app/review/page.tsx — human decision workspace.</a:t>
            </a:r>
          </a:p>
          <a:p xmlns:a="http://schemas.openxmlformats.org/drawingml/2006/main">
            <a:r>
              <a:t>- api/review.py and api/main.py — governed human review decision.</a:t>
            </a:r>
          </a:p>
          <a:p xmlns:a="http://schemas.openxmlformats.org/drawingml/2006/main">
            <a:r>
              <a:t>- submission/assets/deck/human-review.png — current production rehearsal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1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4:10–4:35 (25 seconds).</a:t>
            </a:r>
          </a:p>
          <a:p xmlns:a="http://schemas.openxmlformats.org/drawingml/2006/main">
            <a:r>
              <a:t>Say: ‘Mission Control measures deadline risk, human load, safe autonomy and time returned. We start with two high-volume dispute types—57% of the stated volume—then move from synthetic pilot to staff-reviewed rollout and only then bank integration.’</a:t>
            </a:r>
          </a:p>
          <a:p xmlns:a="http://schemas.openxmlformats.org/drawingml/2006/main">
            <a:r>
              <a:t>Label 57% as a case-study rollout figure, not production adoption.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57% first-rollout scope and rollout prerequisites.</a:t>
            </a:r>
          </a:p>
          <a:p xmlns:a="http://schemas.openxmlformats.org/drawingml/2006/main">
            <a:r>
              <a:t>- submission/assets/deck/mission-control.png — current production rehearsal capture.</a:t>
            </a:r>
          </a:p>
          <a:p xmlns:a="http://schemas.openxmlformats.org/drawingml/2006/main">
            <a:r>
              <a:t>- dashboard/app/pro/page.tsx — operational metrics and Axiom entry point.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2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4:35–4:50 (15 seconds).</a:t>
            </a:r>
          </a:p>
          <a:p xmlns:a="http://schemas.openxmlformats.org/drawingml/2006/main">
            <a:r>
              <a:t>Say: ‘The latest visitor-written production case completed in 20.1 seconds with 14 valid links, three model calls, three bank-tool calls and a balanced RM180.50 posting.’</a:t>
            </a:r>
          </a:p>
          <a:p xmlns:a="http://schemas.openxmlformats.org/drawingml/2006/main">
            <a:r>
              <a:t>This slide proves the run. Do not mix it with the ask; advance to the conclusion.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Production proof MYB-2026-000057, token eqr5YdEUctbiGPU2rODXyZoTLA1j1_F8C1drO2X018w.</a:t>
            </a:r>
          </a:p>
          <a:p xmlns:a="http://schemas.openxmlformats.org/drawingml/2006/main">
            <a:r>
              <a:t>- Production verification recorded 12 Aug 2026: COMMUNICATED, PASS, 20,108 ms, 14 valid links, balanced posting.</a:t>
            </a:r>
          </a:p>
          <a:p xmlns:a="http://schemas.openxmlformats.org/drawingml/2006/main">
            <a:r>
              <a:t>- Live URL: https://casezero-alpha.vercel.app/live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3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Timing: 4:50–5:00 (10 seconds).</a:t>
            </a:r>
          </a:p>
          <a:p xmlns:a="http://schemas.openxmlformats.org/drawingml/2006/main">
            <a:r>
              <a:t>Say: ‘Cancel the six handoffs, not the people. Six governed specialists are ready whenever a complaint arrives, while one visible human lane owns every exception. Scan the code and test it with your own words and PDF.’</a:t>
            </a:r>
          </a:p>
          <a:p xmlns:a="http://schemas.openxmlformats.org/drawingml/2006/main">
            <a:r>
              <a:t>Point left to the struck-through desk sequence, then right to the governed chain and QR. Stop after the invitation.</a:t>
            </a:r>
          </a:p>
          <a:p xmlns:a="http://schemas.openxmlformats.org/drawingml/2006/main">
            <a:r>
              <a:t>24/7 means intake readiness at the deployed endpoint. It does not claim uninterrupted autonomous bank operations; production availability still depends on bank-owned hosting, integrations and controls.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90-minute case-study baseline and production boundary.</a:t>
            </a:r>
          </a:p>
          <a:p xmlns:a="http://schemas.openxmlformats.org/drawingml/2006/main">
            <a:r>
              <a:t>- api/agents/roster.py — six specialist roles, kernel obligations and human-desk mapping.</a:t>
            </a:r>
          </a:p>
          <a:p xmlns:a="http://schemas.openxmlformats.org/drawingml/2006/main">
            <a:r>
              <a:t>- Production proof MYB-2026-000057 — 20.1 seconds and 14 valid event links.</a:t>
            </a:r>
          </a:p>
          <a:p xmlns:a="http://schemas.openxmlformats.org/drawingml/2006/main">
            <a:r>
              <a:t>- Live URL encoded in submission/assets/deck/casezero-live-qr.png: https://casezero-alpha.vercel.app/live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4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Reference only. This is the previous conclusion preserved at the user’s request and is not part of the timed five-minute run.</a:t>
            </a:r>
          </a:p>
          <a:p xmlns:a="http://schemas.openxmlformats.org/drawingml/2006/main">
            <a:r>
              <a:t>If this version is selected later, say: ‘Our ask is simple: approve a staff-reviewed pilot for unauthorised transactions and billing errors. Models propose, rules decide, and humans own exceptions.’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 — controlled rollout path and first two dispute types.</a:t>
            </a:r>
          </a:p>
          <a:p xmlns:a="http://schemas.openxmlformats.org/drawingml/2006/main">
            <a:r>
              <a:t>- submission/01-project-copy/RUBRIC_MAP.md — feasibility, responsible AI and overall quality.</a:t>
            </a:r>
          </a:p>
          <a:p xmlns:a="http://schemas.openxmlformats.org/drawingml/2006/main">
            <a:r>
              <a:t>- Live URL: https://casezero-alpha.vercel.app/live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5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Use when asked how staff interact with CaseZero beyond one complaint.</a:t>
            </a:r>
          </a:p>
          <a:p xmlns:a="http://schemas.openxmlformats.org/drawingml/2006/main">
            <a:r>
              <a:t>Answer: ‘Axiom converts plain-language requests into an allowlisted docket that shows effect, authority, confirmation and gates before execution.’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api/agents/wajar.py — closed capability registry and governed dockets.</a:t>
            </a:r>
          </a:p>
          <a:p xmlns:a="http://schemas.openxmlformats.org/drawingml/2006/main">
            <a:r>
              <a:t>- submission/assets/deck/axiom-risk-docket.png — current production rehearsal capture.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6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Do not present this slide in the timed five-minute run.</a:t>
            </a:r>
          </a:p>
          <a:p xmlns:a="http://schemas.openxmlformats.org/drawingml/2006/main">
            <a:r>
              <a:t>Start with the one-sentence answer shown. Add technical detail only if the judge asks a follow-up.</a:t>
            </a:r>
          </a:p>
          <a:p xmlns:a="http://schemas.openxmlformats.org/drawingml/2006/main">
            <a:r>
              <a:t>Questions: Why six agents instead of one? | Which agents use AI? | Can you change a model? | What does the Compliance Kernel do?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api/agents/roster.py, api/agents/classifier.py, api/agents/verifier.py and api/agents/resolver.py</a:t>
            </a:r>
          </a:p>
          <a:p xmlns:a="http://schemas.openxmlformats.org/drawingml/2006/main">
            <a:r>
              <a:t>- dashboard/e2e/live.spec.ts and dashboard/e2e/boardroom.spec.ts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7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Do not present this slide in the timed five-minute run.</a:t>
            </a:r>
          </a:p>
          <a:p xmlns:a="http://schemas.openxmlformats.org/drawingml/2006/main">
            <a:r>
              <a:t>Start with the one-sentence answer shown. Add technical detail only if the judge asks a follow-up.</a:t>
            </a:r>
          </a:p>
          <a:p xmlns:a="http://schemas.openxmlformats.org/drawingml/2006/main">
            <a:r>
              <a:t>Questions: Exactly when does a human enter? | Can a human override everything? | What if the PDF contains an attack? | What if the AI is wrong?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api/agents/roster.py, api/agents/classifier.py, api/agents/verifier.py and api/agents/resolver.py</a:t>
            </a:r>
          </a:p>
          <a:p xmlns:a="http://schemas.openxmlformats.org/drawingml/2006/main">
            <a:r>
              <a:t>- dashboard/e2e/live.spec.ts and dashboard/e2e/boardroom.spec.ts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8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Do not present this slide in the timed five-minute run.</a:t>
            </a:r>
          </a:p>
          <a:p xmlns:a="http://schemas.openxmlformats.org/drawingml/2006/main">
            <a:r>
              <a:t>Start with the one-sentence answer shown. Add technical detail only if the judge asks a follow-up.</a:t>
            </a:r>
          </a:p>
          <a:p xmlns:a="http://schemas.openxmlformats.org/drawingml/2006/main">
            <a:r>
              <a:t>Questions: Who pays and why? | Is 20 seconds realistic? | How would rollout start? | What still belongs to the bank?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api/agents/roster.py, api/agents/classifier.py, api/agents/verifier.py and api/agents/resolver.py</a:t>
            </a:r>
          </a:p>
          <a:p xmlns:a="http://schemas.openxmlformats.org/drawingml/2006/main">
            <a:r>
              <a:t>- dashboard/e2e/live.spec.ts and dashboard/e2e/boardroom.spec.ts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notesSlides/notesSlide19.xml><?xml version="1.0" encoding="utf-8"?>
<p:notes xmlns:p="http://schemas.openxmlformats.org/presentationml/2006/main">
  <p:cSld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" name="Slide Image Placeholder 1"/>
          <p:cNvSpPr>
            <a:spLocks xmlns:a="http://schemas.openxmlformats.org/drawingml/2006/main" noGrp="1"/>
          </p:cNvSpPr>
          <p:nvPr>
            <p:ph type="sldImg" idx="0"/>
          </p:nvPr>
        </p:nvSpPr>
        <p:spPr/>
      </p:sp>
      <p:sp>
        <p:nvSpPr>
          <p:cNvPr id="3" name="Notes Placeholder 2"/>
          <p:cNvSpPr>
            <a:spLocks xmlns:a="http://schemas.openxmlformats.org/drawingml/2006/main" noGrp="1"/>
          </p:cNvSpPr>
          <p:nvPr>
            <p:ph type="body" idx="1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r>
              <a:t>Q&amp;A only. Do not present this slide in the timed five-minute run.</a:t>
            </a:r>
          </a:p>
          <a:p xmlns:a="http://schemas.openxmlformats.org/drawingml/2006/main">
            <a:r>
              <a:t>Start with the one-sentence answer shown. Add technical detail only if the judge asks a follow-up.</a:t>
            </a:r>
          </a:p>
          <a:p xmlns:a="http://schemas.openxmlformats.org/drawingml/2006/main">
            <a:r>
              <a:t>Questions: Is the complaint prefilled? | How do you prove one result? | How is it tested? | Is the interface accessible?</a:t>
            </a:r>
          </a:p>
          <a:p xmlns:a="http://schemas.openxmlformats.org/drawingml/2006/main">
            <a:r>
              <a:t/>
            </a:r>
          </a:p>
          <a:p xmlns:a="http://schemas.openxmlformats.org/drawingml/2006/main">
            <a:r>
              <a:t>[Sources]</a:t>
            </a:r>
          </a:p>
          <a:p xmlns:a="http://schemas.openxmlformats.org/drawingml/2006/main">
            <a:r>
              <a:t>- submission/01-project-copy/PROJECT_DESCRIPTION.md</a:t>
            </a:r>
          </a:p>
          <a:p xmlns:a="http://schemas.openxmlformats.org/drawingml/2006/main">
            <a:r>
              <a:t>- submission/01-project-copy/RUBRIC_MAP.md</a:t>
            </a:r>
          </a:p>
          <a:p xmlns:a="http://schemas.openxmlformats.org/drawingml/2006/main">
            <a:r>
              <a:t>- api/agents/roster.py, api/agents/classifier.py, api/agents/verifier.py and api/agents/resolver.py</a:t>
            </a:r>
          </a:p>
          <a:p xmlns:a="http://schemas.openxmlformats.org/drawingml/2006/main">
            <a:r>
              <a:t>- dashboard/e2e/live.spec.ts and dashboard/e2e/boardroom.spec.ts</a:t>
            </a:r>
          </a:p>
        </p:txBody>
      </p:sp>
      <p:sp>
        <p:nvSpPr>
          <p:cNvPr id="4" name="Slide Number Placeholder 3"/>
          <p:cNvSpPr>
            <a:spLocks xmlns:a="http://schemas.openxmlformats.org/drawingml/2006/main" noGrp="1"/>
          </p:cNvSpPr>
          <p:nvPr>
            <p:ph type="sldNum" idx="5"/>
          </p:nvPr>
        </p:nvSpPr>
        <p:spPr/>
        <p:txBody>
          <a:bodyPr xmlns:a="http://schemas.openxmlformats.org/drawingml/2006/main"/>
          <a:lstStyle xmlns:a="http://schemas.openxmlformats.org/drawingml/2006/main"/>
          <a:p xmlns:a="http://schemas.openxmlformats.org/drawingml/2006/main"/>
        </p:txBody>
      </p:sp>
    </p:spTree>
  </p:cSld>
  <p:clrMapOvr>
    <a:masterClrMapping xmlns:a="http://schemas.openxmlformats.org/drawingml/2006/main"/>
  </p:clrMapOvr>
</p:notes>
</file>

<file path=ppt/slideLayouts/_rels/slideLayout1.xml.rels>&#65279;<?xml version="1.0" encoding="utf-8"?><Relationships xmlns="http://schemas.openxmlformats.org/package/2006/relationships"><Relationship Type="http://schemas.openxmlformats.org/officeDocument/2006/relationships/slideMaster" Target="/ppt/slideMasters/slideMaster1.xml" Id="R1d719d3438e3464d" /></Relationships>
</file>

<file path=ppt/slideLayouts/slideLayout1.xml><?xml version="1.0" encoding="utf-8"?>
<p:sldLayout xmlns:p="http://schemas.openxmlformats.org/presentationml/2006/main" type="title">
  <p:cSld name="Title Slide"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</p:sldLayout>
</file>

<file path=ppt/slideMasters/_rels/slideMaster1.xml.rels>&#65279;<?xml version="1.0" encoding="utf-8"?><Relationships xmlns="http://schemas.openxmlformats.org/package/2006/relationships"><Relationship Type="http://schemas.openxmlformats.org/officeDocument/2006/relationships/theme" Target="/ppt/slideMasters/theme/theme2.xml" Id="R1719341a2f574f65" /><Relationship Type="http://schemas.openxmlformats.org/officeDocument/2006/relationships/slideLayout" Target="/ppt/slideLayouts/slideLayout1.xml" Id="R3d74f9624a7a490b" /></Relationships>
</file>

<file path=ppt/slideMasters/slideMaster1.xml><?xml version="1.0" encoding="utf-8"?>
<p:sldMaster xmlns:p="http://schemas.openxmlformats.org/presentationml/2006/main">
  <p:cSld name="Master">
    <p:bg>
      <p:bgRef idx="1001">
        <a:schemeClr xmlns:a="http://schemas.openxmlformats.org/drawingml/2006/main" val="bg1"/>
      </p:bgRef>
    </p:bg>
    <p:spTree>
      <p:nvGrpSpPr>
        <p:cNvPr id="1" name=""/>
        <p:cNvGrpSpPr/>
        <p:nvPr/>
      </p:nvGrpSpPr>
      <p:grpSpPr>
        <a:xfrm xmlns:a="http://schemas.openxmlformats.org/drawingml/2006/main"/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xmlns:r="http://schemas.openxmlformats.org/officeDocument/2006/relationships" id="2147483649" r:id="R3d74f9624a7a490b"/>
  </p:sldLayoutIdLst>
  <p:txStyles>
    <p:titleStyle>
      <a:lvl1pPr xmlns:a="http://schemas.openxmlformats.org/drawingml/2006/main" algn="l">
        <a:lnSpc>
          <a:spcPct val="90000"/>
        </a:lnSpc>
        <a:spcBef>
          <a:spcPts val="0"/>
        </a:spcBef>
        <a:buNone/>
        <a:defRPr sz="44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xmlns:a="http://schemas.openxmlformats.org/drawingml/2006/main" marL="228600" indent="-228600" algn="l">
        <a:lnSpc>
          <a:spcPct val="90000"/>
        </a:lnSpc>
        <a:spcBef>
          <a:spcPts val="1000"/>
        </a:spcBef>
        <a:buChar char="•"/>
        <a:defRPr sz="2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685800" indent="-228600" algn="l">
        <a:lnSpc>
          <a:spcPct val="90000"/>
        </a:lnSpc>
        <a:spcBef>
          <a:spcPts val="500"/>
        </a:spcBef>
        <a:buChar char="•"/>
        <a:defRPr sz="24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1143000" indent="-228600" algn="l">
        <a:lnSpc>
          <a:spcPct val="90000"/>
        </a:lnSpc>
        <a:spcBef>
          <a:spcPts val="500"/>
        </a:spcBef>
        <a:buChar char="•"/>
        <a:defRPr sz="20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600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20574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5146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9718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4290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886200" indent="-228600" algn="l">
        <a:lnSpc>
          <a:spcPct val="90000"/>
        </a:lnSpc>
        <a:spcBef>
          <a:spcPts val="500"/>
        </a:spcBef>
        <a:buChar char="•"/>
        <a:defRPr sz="18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xmlns:a="http://schemas.openxmlformats.org/drawingml/2006/main" marL="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1pPr>
      <a:lvl2pPr xmlns:a="http://schemas.openxmlformats.org/drawingml/2006/main" marL="457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2pPr>
      <a:lvl3pPr xmlns:a="http://schemas.openxmlformats.org/drawingml/2006/main" marL="914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3pPr>
      <a:lvl4pPr xmlns:a="http://schemas.openxmlformats.org/drawingml/2006/main" marL="1371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4pPr>
      <a:lvl5pPr xmlns:a="http://schemas.openxmlformats.org/drawingml/2006/main" marL="18288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5pPr>
      <a:lvl6pPr xmlns:a="http://schemas.openxmlformats.org/drawingml/2006/main" marL="22860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6pPr>
      <a:lvl7pPr xmlns:a="http://schemas.openxmlformats.org/drawingml/2006/main" marL="27432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7pPr>
      <a:lvl8pPr xmlns:a="http://schemas.openxmlformats.org/drawingml/2006/main" marL="32004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8pPr>
      <a:lvl9pPr xmlns:a="http://schemas.openxmlformats.org/drawingml/2006/main" marL="3657600" algn="l">
        <a:buNone/>
        <a:defRPr sz="18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Masters/theme/theme2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ppt/slides/_rels/slide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f205dafe59c54e40" /><Relationship Type="http://schemas.openxmlformats.org/officeDocument/2006/relationships/notesSlide" Target="/ppt/notesSlides/notesSlide1.xml" Id="Rd4a530cbf06c4351" /></Relationships>
</file>

<file path=ppt/slides/_rels/slide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2e54ddca87a442c" /><Relationship Type="http://schemas.openxmlformats.org/officeDocument/2006/relationships/notesSlide" Target="/ppt/notesSlides/notesSlide2.xml" Id="R8ea5a5d18fb44468" /></Relationships>
</file>

<file path=ppt/slides/_rels/slide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b5df45237214882" /><Relationship Type="http://schemas.openxmlformats.org/officeDocument/2006/relationships/notesSlide" Target="/ppt/notesSlides/notesSlide3.xml" Id="R755929d7c03a409b" /></Relationships>
</file>

<file path=ppt/slides/_rels/slide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4465f8f1446149b0" /><Relationship Type="http://schemas.openxmlformats.org/officeDocument/2006/relationships/notesSlide" Target="/ppt/notesSlides/notesSlide4.xml" Id="Rcc192816ba954496" /></Relationships>
</file>

<file path=ppt/slides/_rels/slide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a35ad39587d4ed8" /><Relationship Type="http://schemas.openxmlformats.org/officeDocument/2006/relationships/notesSlide" Target="/ppt/notesSlides/notesSlide5.xml" Id="R41b2cbb00251478f" /></Relationships>
</file>

<file path=ppt/slides/_rels/slide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db6f989df513461a" /><Relationship Type="http://schemas.openxmlformats.org/officeDocument/2006/relationships/notesSlide" Target="/ppt/notesSlides/notesSlide6.xml" Id="R23258e79539f4f67" /></Relationships>
</file>

<file path=ppt/slides/_rels/slide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83c53c1888443e" /><Relationship Type="http://schemas.openxmlformats.org/officeDocument/2006/relationships/notesSlide" Target="/ppt/notesSlides/notesSlide7.xml" Id="Rfb049257894f419d" /></Relationships>
</file>

<file path=ppt/slides/_rels/slide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86c24c684ce945fe" /><Relationship Type="http://schemas.openxmlformats.org/officeDocument/2006/relationships/image" Target="/ppt/media/image.png" Id="R03c64b0dbd9a4f9b" /><Relationship Type="http://schemas.openxmlformats.org/officeDocument/2006/relationships/notesSlide" Target="/ppt/notesSlides/notesSlide8.xml" Id="R8d7d4c460957467a" /></Relationships>
</file>

<file path=ppt/slides/_rels/slide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7e3c171bec645a2" /><Relationship Type="http://schemas.openxmlformats.org/officeDocument/2006/relationships/image" Target="/ppt/media/image2.png" Id="Rd524332284914851" /><Relationship Type="http://schemas.openxmlformats.org/officeDocument/2006/relationships/notesSlide" Target="/ppt/notesSlides/notesSlide9.xml" Id="R4ffad246830a4880" /></Relationships>
</file>

<file path=ppt/slides/_rels/slide10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0d2d35b063f94941" /><Relationship Type="http://schemas.openxmlformats.org/officeDocument/2006/relationships/image" Target="/ppt/media/image3.png" Id="R11b6f0e264194c0b" /><Relationship Type="http://schemas.openxmlformats.org/officeDocument/2006/relationships/notesSlide" Target="/ppt/notesSlides/notesSlide10.xml" Id="R689f3f632dd54780" /></Relationships>
</file>

<file path=ppt/slides/_rels/slide11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6704916464864ace" /><Relationship Type="http://schemas.openxmlformats.org/officeDocument/2006/relationships/image" Target="/ppt/media/image4.png" Id="R79385d3d504a42d8" /><Relationship Type="http://schemas.openxmlformats.org/officeDocument/2006/relationships/notesSlide" Target="/ppt/notesSlides/notesSlide11.xml" Id="R3ed764bcb003420d" /></Relationships>
</file>

<file path=ppt/slides/_rels/slide12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2d89154d4984447f" /><Relationship Type="http://schemas.openxmlformats.org/officeDocument/2006/relationships/notesSlide" Target="/ppt/notesSlides/notesSlide12.xml" Id="Reac989bc6fb34e48" /></Relationships>
</file>

<file path=ppt/slides/_rels/slide13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cf80223d4a244bba" /><Relationship Type="http://schemas.openxmlformats.org/officeDocument/2006/relationships/image" Target="/ppt/media/image5.png" Id="R97dbb721661b4121" /><Relationship Type="http://schemas.openxmlformats.org/officeDocument/2006/relationships/notesSlide" Target="/ppt/notesSlides/notesSlide13.xml" Id="R34cdc4283d6b4b77" /></Relationships>
</file>

<file path=ppt/slides/_rels/slide14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22766835d33440f" /><Relationship Type="http://schemas.openxmlformats.org/officeDocument/2006/relationships/notesSlide" Target="/ppt/notesSlides/notesSlide14.xml" Id="R5b999fae4264405c" /></Relationships>
</file>

<file path=ppt/slides/_rels/slide15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bd40278b4a374919" /><Relationship Type="http://schemas.openxmlformats.org/officeDocument/2006/relationships/image" Target="/ppt/media/image6.png" Id="R77fadc9e76344103" /><Relationship Type="http://schemas.openxmlformats.org/officeDocument/2006/relationships/notesSlide" Target="/ppt/notesSlides/notesSlide15.xml" Id="R56549af545944ca2" /></Relationships>
</file>

<file path=ppt/slides/_rels/slide16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1cdbef66337a4993" /><Relationship Type="http://schemas.openxmlformats.org/officeDocument/2006/relationships/notesSlide" Target="/ppt/notesSlides/notesSlide16.xml" Id="Rb43b3921482745b2" /></Relationships>
</file>

<file path=ppt/slides/_rels/slide17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e8768ceea5cf48a4" /><Relationship Type="http://schemas.openxmlformats.org/officeDocument/2006/relationships/notesSlide" Target="/ppt/notesSlides/notesSlide17.xml" Id="R0b858abfea8449ad" /></Relationships>
</file>

<file path=ppt/slides/_rels/slide18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93fcfb36bb0b4541" /><Relationship Type="http://schemas.openxmlformats.org/officeDocument/2006/relationships/notesSlide" Target="/ppt/notesSlides/notesSlide18.xml" Id="R63b08e37f7d049ed" /></Relationships>
</file>

<file path=ppt/slides/_rels/slide19.xml.rels>&#65279;<?xml version="1.0" encoding="utf-8"?><Relationships xmlns="http://schemas.openxmlformats.org/package/2006/relationships"><Relationship Type="http://schemas.openxmlformats.org/officeDocument/2006/relationships/slideLayout" Target="/ppt/slideLayouts/slideLayout1.xml" Id="R70a0087c6060495e" /><Relationship Type="http://schemas.openxmlformats.org/officeDocument/2006/relationships/notesSlide" Target="/ppt/notesSlides/notesSlide19.xml" Id="R5ce2dedd97954c6d" /></Relationships>
</file>

<file path=ppt/slides/slide1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A97EF25-E7D0-4BA5-B180-36A1CE5DEC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14350"/>
            <a:ext cx="342900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CASEZERO / DEMO DAY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91BA277-4301-41BF-841A-2A4372D106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390650"/>
            <a:ext cx="7810500" cy="1828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425" b="1" i="0">
                <a:solidFill>
                  <a:srgbClr val="121914"/>
                </a:solidFill>
              </a:defRPr>
            </a:pPr>
            <a:r>
              <a:rPr sz="4425" b="1" i="0">
                <a:solidFill>
                  <a:srgbClr val="121914"/>
                </a:solidFill>
              </a:rPr>
              <a:t>Bank complaints resolved in minutes — governed end to end.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BB41B330-E3F6-455A-8C28-25A195D07D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714750"/>
            <a:ext cx="723900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0" i="0">
                <a:solidFill>
                  <a:srgbClr val="566159"/>
                </a:solidFill>
              </a:defRPr>
            </a:pPr>
            <a:r>
              <a:rPr sz="1725" b="0" i="0">
                <a:solidFill>
                  <a:srgbClr val="566159"/>
                </a:solidFill>
              </a:rPr>
              <a:t>One customer complaint becomes one visible decision that the operator, customer and auditor can all understand.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96BF7BB-A3A5-4CFA-96EC-B0B62730D0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43950" y="1371600"/>
            <a:ext cx="2724150" cy="3600450"/>
          </a:xfrm>
          <a:prstGeom xmlns:a="http://schemas.openxmlformats.org/drawingml/2006/main" prst="roundRect">
            <a:avLst>
              <a:gd name="adj" fmla="val 279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309F936-6278-4BFC-81A2-C685C8940CF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17526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98263A"/>
                </a:solidFill>
              </a:defRPr>
            </a:pPr>
            <a:r>
              <a:rPr sz="2850" b="1" i="0">
                <a:solidFill>
                  <a:srgbClr val="98263A"/>
                </a:solidFill>
              </a:rPr>
              <a:t>ONE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9991EC3A-600C-4925-9611-11DE407805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2669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1914"/>
                </a:solidFill>
              </a:defRPr>
            </a:pPr>
            <a:r>
              <a:rPr sz="1650" b="1" i="0">
                <a:solidFill>
                  <a:srgbClr val="121914"/>
                </a:solidFill>
              </a:rPr>
              <a:t>COMPLAINT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AE9C842-A27D-4CB1-BF5A-FADB9F3347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2857500"/>
            <a:ext cx="18669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8054B7-F62F-4E3A-A98B-BCF7E67179E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124200"/>
            <a:ext cx="1809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850" b="1" i="0">
                <a:solidFill>
                  <a:srgbClr val="98263A"/>
                </a:solidFill>
              </a:defRPr>
            </a:pPr>
            <a:r>
              <a:rPr sz="2850" b="1" i="0">
                <a:solidFill>
                  <a:srgbClr val="98263A"/>
                </a:solidFill>
              </a:rPr>
              <a:t>SIX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5BC5465-1DD8-468C-8CA7-EA5DC4DFE9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3638550"/>
            <a:ext cx="20002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121914"/>
                </a:solidFill>
              </a:defRPr>
            </a:pPr>
            <a:r>
              <a:rPr sz="1650" b="1" i="0">
                <a:solidFill>
                  <a:srgbClr val="121914"/>
                </a:solidFill>
              </a:rPr>
              <a:t>SPECIALISTS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C8FE6AF-351C-43DA-BCD1-8F7F8E3334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86850" y="4286250"/>
            <a:ext cx="20383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+ one human-visible gate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6CCE329-BA1A-4677-AFD1-16808A4F05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525696D-BF2D-43C6-AE1D-5FEC06EB0D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01</a:t>
            </a:r>
          </a:p>
        </p:txBody>
      </p:sp>
    </p:spTree>
    <p:extLst>
      <p:ext uri="{BB962C8B-B14F-4D97-AF65-F5344CB8AC3E}">
        <p14:creationId xmlns:p14="http://schemas.microsoft.com/office/powerpoint/2010/main" val="1864930338"/>
      </p:ext>
    </p:extLst>
  </p:cSld>
</p:sld>
</file>

<file path=ppt/slides/slide2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3D5EBA12-5467-445A-AE67-471D3CE555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PROBLEM STATEMENT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2D79FFF-43AA-4532-A54D-99F7BECA092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287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A complaint takes 90 minutes because the evidence keeps changing hands.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2B6B962E-9B88-4949-AF62-730B1EB639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ED7E7C6-4CC5-477F-8820-EBC94A1460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9EDA95C-9669-4A73-893D-AC7F5CC428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19300"/>
            <a:ext cx="3619500" cy="1524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200" b="1" i="0">
                <a:solidFill>
                  <a:srgbClr val="98263A"/>
                </a:solidFill>
              </a:defRPr>
            </a:pPr>
            <a:r>
              <a:rPr sz="10200" b="1" i="0">
                <a:solidFill>
                  <a:srgbClr val="98263A"/>
                </a:solidFill>
              </a:rPr>
              <a:t>90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CAFC5CF-DDF3-4415-A65C-27D03B6A77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448050"/>
            <a:ext cx="266700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250" b="1" i="0">
                <a:solidFill>
                  <a:srgbClr val="121914"/>
                </a:solidFill>
              </a:defRPr>
            </a:pPr>
            <a:r>
              <a:rPr sz="2250" b="1" i="0">
                <a:solidFill>
                  <a:srgbClr val="121914"/>
                </a:solidFill>
              </a:rPr>
              <a:t>minutes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0DB75D3-4A69-4CF6-A5AF-EED616DE8C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4057650"/>
            <a:ext cx="3524250" cy="762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0" i="0">
                <a:solidFill>
                  <a:srgbClr val="566159"/>
                </a:solidFill>
              </a:defRPr>
            </a:pPr>
            <a:r>
              <a:rPr sz="1425" b="0" i="0">
                <a:solidFill>
                  <a:srgbClr val="566159"/>
                </a:solidFill>
              </a:rPr>
              <a:t>Case-study baseline for one complaint moving across multiple departments.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7AC807B-A9F6-40FB-BF77-721C7D452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1962150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75F3BE5-A626-44D7-A9DC-0216C668CB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0478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01  Inbox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5345961-0823-4DBA-B503-CA36A4F5EFB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3050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D566E4B-6C82-4921-A17A-C2015861885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2543175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E00EEE4-EFA1-42E1-A028-2B68E27216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26289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02  Complaints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7D1D39BC-44D0-4918-AC60-F82FBEA7A2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288607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97A27CA-3C2C-4AB7-B46D-25D4F082E6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124200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46D5748-EB5A-43BC-83C6-3FD43B2777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20992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03  Investigation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42DD51D-7D96-48AE-8D73-C347962CA05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346710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5311A06-89C6-4B37-A637-689819A436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3705225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B6DF941B-70CB-44B6-A948-1E0ABAE8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37909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04  Compliance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841AA17-B6A6-44E5-BBAB-CE01C0D7A3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048125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45EF98E-F677-40D5-86C3-3B68ABA37FC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286250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A0DE6AA0-C028-4C64-B1DB-4BC75E3E2F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371975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05  Finance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7937EBC-439B-4BAD-875D-35F03FC59AA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382250" y="4629150"/>
            <a:ext cx="2857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↓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F555D142-13FD-4B41-B233-8BA1CC1C91F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4867275"/>
            <a:ext cx="4914900" cy="409575"/>
          </a:xfrm>
          <a:prstGeom xmlns:a="http://schemas.openxmlformats.org/drawingml/2006/main" prst="roundRect">
            <a:avLst>
              <a:gd name="adj" fmla="val 18605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7183CECF-93B3-483A-A181-B1D1151FB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524500" y="495300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FFFFFF"/>
                </a:solidFill>
              </a:defRPr>
            </a:pPr>
            <a:r>
              <a:rPr sz="1200" b="1" i="0">
                <a:solidFill>
                  <a:srgbClr val="FFFFFF"/>
                </a:solidFill>
              </a:rPr>
              <a:t>06  Customer reply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DD39DA-059D-4B45-B46A-02784C5C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34000" y="5676900"/>
            <a:ext cx="5619750" cy="438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The failure is not one slow person. It is ownership drift between desks.</a:t>
            </a:r>
          </a:p>
        </p:txBody>
      </p:sp>
    </p:spTree>
    <p:extLst>
      <p:ext uri="{BB962C8B-B14F-4D97-AF65-F5344CB8AC3E}">
        <p14:creationId xmlns:p14="http://schemas.microsoft.com/office/powerpoint/2010/main" val="237378635"/>
      </p:ext>
    </p:extLst>
  </p:cSld>
</p:sld>
</file>

<file path=ppt/slides/slide3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31D18F5-AD9F-49BE-90A9-7FF111F2B8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WHY IT MATTERS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3CBEE96-58DB-4ACC-988C-64EBBCF99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096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When ownership drifts, customer delay becomes regulatory risk.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E2D516B-750F-4F7D-ABC8-C8EEAB058B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E34C8B3-C3A9-4847-8FBF-FE5D004B6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56F2778-2F17-47EC-9049-D738549AD5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2228850"/>
            <a:ext cx="3143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 i="0">
                <a:solidFill>
                  <a:srgbClr val="98263A"/>
                </a:solidFill>
              </a:defRPr>
            </a:pPr>
            <a:r>
              <a:rPr sz="6150" b="1" i="0">
                <a:solidFill>
                  <a:srgbClr val="98263A"/>
                </a:solidFill>
              </a:rPr>
              <a:t>11%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1F03539F-B27D-4B43-83D4-2D9B67C6D35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3238500"/>
            <a:ext cx="3143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of regulatory deadlines</a:t>
            </a:r>
          </a:p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missed today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860E3AE-FB65-471D-ADEF-06FF709742F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228850"/>
            <a:ext cx="33337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150" b="1" i="0">
                <a:solidFill>
                  <a:srgbClr val="121914"/>
                </a:solidFill>
              </a:defRPr>
            </a:pPr>
            <a:r>
              <a:rPr sz="6150" b="1" i="0">
                <a:solidFill>
                  <a:srgbClr val="121914"/>
                </a:solidFill>
              </a:rPr>
              <a:t>1.8M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01CFFEB-3867-452D-9BB8-E8ACC46BFB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38500"/>
            <a:ext cx="33337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retail and SME</a:t>
            </a:r>
          </a:p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customers in the case study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8344205A-01F8-49B9-9502-8435CA0A74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420100" y="1981200"/>
            <a:ext cx="3105150" cy="2362200"/>
          </a:xfrm>
          <a:prstGeom xmlns:a="http://schemas.openxmlformats.org/drawingml/2006/main" prst="roundRect">
            <a:avLst>
              <a:gd name="adj" fmla="val 3226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9EBC91C-B0FE-46FE-A0B8-9C926B12724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305050"/>
            <a:ext cx="2381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A8BFB0"/>
                </a:solidFill>
              </a:defRPr>
            </a:pPr>
            <a:r>
              <a:rPr sz="1050" b="1" i="0">
                <a:solidFill>
                  <a:srgbClr val="A8BFB0"/>
                </a:solidFill>
              </a:rPr>
              <a:t>The customer sees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8C933F6-962A-43AC-815D-97286E0A170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2743200"/>
            <a:ext cx="238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FFFFFF"/>
                </a:solidFill>
              </a:defRPr>
            </a:pPr>
            <a:r>
              <a:rPr sz="3450" b="1" i="0">
                <a:solidFill>
                  <a:srgbClr val="FFFFFF"/>
                </a:solidFill>
              </a:rPr>
              <a:t>silence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0AF67696-04E1-480D-8C64-BB8CD1AD80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486150"/>
            <a:ext cx="238125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A8BFB0"/>
                </a:solidFill>
              </a:defRPr>
            </a:pPr>
            <a:r>
              <a:rPr sz="1050" b="1" i="0">
                <a:solidFill>
                  <a:srgbClr val="A8BFB0"/>
                </a:solidFill>
              </a:rPr>
              <a:t>The bank sees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FFA8971E-39E1-4050-BF34-A0E4C36C0AD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05850" y="3886200"/>
            <a:ext cx="238125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625" b="1" i="0">
                <a:solidFill>
                  <a:srgbClr val="98263A"/>
                </a:solidFill>
              </a:defRPr>
            </a:pPr>
            <a:r>
              <a:rPr sz="2625" b="1" i="0">
                <a:solidFill>
                  <a:srgbClr val="98263A"/>
                </a:solidFill>
              </a:rPr>
              <a:t>exposure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4775D8E-FA41-4D52-BDC6-388814C2AC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4953000"/>
            <a:ext cx="10839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0C6C807C-2CF7-4B23-AC99-457954133DE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238750"/>
            <a:ext cx="9620250" cy="628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A faster answer only counts if the bank can explain who acted, what evidence they used, and why money moved.</a:t>
            </a:r>
          </a:p>
        </p:txBody>
      </p:sp>
    </p:spTree>
    <p:extLst>
      <p:ext uri="{BB962C8B-B14F-4D97-AF65-F5344CB8AC3E}">
        <p14:creationId xmlns:p14="http://schemas.microsoft.com/office/powerpoint/2010/main" val="104777422"/>
      </p:ext>
    </p:extLst>
  </p:cSld>
</p:sld>
</file>

<file path=ppt/slides/slide4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3AD396B-C88A-403C-A143-9E5653FCCD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D2F0D13-A3EA-4DAA-A7FE-89E986AAEAC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CaseZero turns one complaint into one visible, governed outcome.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10F24B45-B80A-4C3F-9C19-8009AB292D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A6E8CB1-D07F-435E-843F-F324AA4842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9076BF9-AAAA-4115-9320-E3C9E0988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133600"/>
            <a:ext cx="2476500" cy="26479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2B76CB-3E3E-45A5-9C95-6012DE404E9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34315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1BCCFC6-1FB8-4DC7-BF50-EA5CE2E965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9908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Customer writes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1063764-89A5-431F-843A-9BBF16DB60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790950"/>
            <a:ext cx="204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Their own email and PDF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A9CFADF-9136-4DE9-BDC6-20B80E83EB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124200" y="32766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0382DAF-4D99-4804-8CD4-26C0479587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429000" y="2133600"/>
            <a:ext cx="2476500" cy="26479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8818CCB-887D-4EA3-B6A7-16DB1333F58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34315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7455BB7F-12A8-460E-A868-3B024497A6C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29908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Specialists act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27F7DCA-13C3-4E57-B982-BF63C45540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638550" y="3790950"/>
            <a:ext cx="204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Six narrow responsibilities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837BB255-5740-411F-8AD0-0D3FB77065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905500" y="32766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5D1F8E5-7108-497F-98C7-D58D02DFB7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10300" y="2133600"/>
            <a:ext cx="2476500" cy="26479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7143C6D9-3E16-47B0-A3C0-49207A69D69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34315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E3B8A689-A090-4173-8A60-58CC46420C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9908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FFFFFF"/>
                </a:solidFill>
              </a:defRPr>
            </a:pPr>
            <a:r>
              <a:rPr sz="1725" b="1" i="0">
                <a:solidFill>
                  <a:srgbClr val="FFFFFF"/>
                </a:solidFill>
              </a:rPr>
              <a:t>Rules decide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721C146B-4CD3-437C-A1D6-4E297028EE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3790950"/>
            <a:ext cx="204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A8BFB0"/>
                </a:solidFill>
              </a:defRPr>
            </a:pPr>
            <a:r>
              <a:rPr sz="1275" b="0" i="0">
                <a:solidFill>
                  <a:srgbClr val="A8BFB0"/>
                </a:solidFill>
              </a:rPr>
              <a:t>Authority, deadline and money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082B48B-11A4-454F-A540-AF9424C2C2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3276600"/>
            <a:ext cx="3048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B42EEA72-A092-416A-95A0-F7BD3D4EB7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2133600"/>
            <a:ext cx="2476500" cy="2647950"/>
          </a:xfrm>
          <a:prstGeom xmlns:a="http://schemas.openxmlformats.org/drawingml/2006/main" prst="roundRect">
            <a:avLst>
              <a:gd name="adj" fmla="val 307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FF8E5AE6-7454-4738-B72F-E90C4EACD87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343150"/>
            <a:ext cx="666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025" b="1" i="0">
                <a:solidFill>
                  <a:srgbClr val="98263A"/>
                </a:solidFill>
              </a:defRPr>
            </a:pPr>
            <a:r>
              <a:rPr sz="2025" b="1" i="0">
                <a:solidFill>
                  <a:srgbClr val="98263A"/>
                </a:solidFill>
              </a:rPr>
              <a:t>04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5B840FEC-5273-4400-BDEB-F39408A04E0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2990850"/>
            <a:ext cx="2047875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Everyone sees proof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6C970200-9A09-4910-AEA4-6496A8A67DD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01150" y="3790950"/>
            <a:ext cx="2047875" cy="590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Customer, operator, auditor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3CD14E21-B46C-4D5B-A168-D2F029AECCA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314950"/>
            <a:ext cx="99060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356148"/>
                </a:solidFill>
              </a:defRPr>
            </a:pPr>
            <a:r>
              <a:rPr sz="1875" b="1" i="0">
                <a:solidFill>
                  <a:srgbClr val="356148"/>
                </a:solidFill>
              </a:rPr>
              <a:t>The product is the chain of responsibility—not a chatbot added to a dashboard.</a:t>
            </a:r>
          </a:p>
        </p:txBody>
      </p:sp>
    </p:spTree>
    <p:extLst>
      <p:ext uri="{BB962C8B-B14F-4D97-AF65-F5344CB8AC3E}">
        <p14:creationId xmlns:p14="http://schemas.microsoft.com/office/powerpoint/2010/main" val="1563845801"/>
      </p:ext>
    </p:extLst>
  </p:cSld>
</p:sld>
</file>

<file path=ppt/slides/slide5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BCCFD694-F2DA-404D-AD9B-636B66FF092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WHY THIS SOLUTION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C769B38-1581-469C-9539-926A6309F8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00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AI can read the mess. It should not own the irreversible decision.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DF08900-0655-400C-8E5E-48F36D0978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7FBBB4F-CFDB-4775-8808-84ED9839CA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A80875D-768E-4F7E-9F16-C7B8F50A844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33337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89B02ED-EF44-451B-A3BD-046C241442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0980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FB7869-F441-46F9-9F08-89B8FD5CEC9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43840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C1261A2-4802-4E09-8EFF-9C88F4F1801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Narrow roles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CA25EB9-6F9F-4A63-8756-9414538528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886200"/>
            <a:ext cx="2819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66159"/>
                </a:solidFill>
              </a:defRPr>
            </a:pPr>
            <a:r>
              <a:rPr sz="1350" b="0" i="0">
                <a:solidFill>
                  <a:srgbClr val="566159"/>
                </a:solidFill>
              </a:rPr>
              <a:t>One responsibility per agent makes mistakes visible.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846B4789-3D48-4B56-992A-E406E558CF2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9800"/>
            <a:ext cx="33337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E4760DB3-4446-4ED2-A414-C7FBCF1EB2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20980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43FB98E0-B14E-47A3-ADAD-85FD3BE4B7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43840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0099577-9964-4FC1-8FDF-A8490CE97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Deterministic authority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6090548C-9A3E-4843-ACED-CF73CD8BE8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886200"/>
            <a:ext cx="2819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66159"/>
                </a:solidFill>
              </a:defRPr>
            </a:pPr>
            <a:r>
              <a:rPr sz="1350" b="0" i="0">
                <a:solidFill>
                  <a:srgbClr val="566159"/>
                </a:solidFill>
              </a:rPr>
              <a:t>Code—not model wording—owns deadlines and money.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D1FE4340-8B8A-4929-A312-7AB3F0D513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2628900"/>
          </a:xfrm>
          <a:prstGeom xmlns:a="http://schemas.openxmlformats.org/drawingml/2006/main" prst="roundRect">
            <a:avLst>
              <a:gd name="adj" fmla="val 2899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85C2958B-FE68-4AD9-82BB-625174D6425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209800"/>
            <a:ext cx="33337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1EF0CC1C-6763-48B7-B877-FCFBE75299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438400"/>
            <a:ext cx="762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56B8CBAA-5B0B-4321-BE8A-1F8F3D3161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028950"/>
            <a:ext cx="2857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75" b="1" i="0">
                <a:solidFill>
                  <a:srgbClr val="121914"/>
                </a:solidFill>
              </a:defRPr>
            </a:pPr>
            <a:r>
              <a:rPr sz="1875" b="1" i="0">
                <a:solidFill>
                  <a:srgbClr val="121914"/>
                </a:solidFill>
              </a:rPr>
              <a:t>Human exception lane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2DD12CF-DAF8-4F63-A717-44373B1A3D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886200"/>
            <a:ext cx="2819400" cy="647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0" i="0">
                <a:solidFill>
                  <a:srgbClr val="566159"/>
                </a:solidFill>
              </a:defRPr>
            </a:pPr>
            <a:r>
              <a:rPr sz="1350" b="0" i="0">
                <a:solidFill>
                  <a:srgbClr val="566159"/>
                </a:solidFill>
              </a:rPr>
              <a:t>Uncertainty becomes a review task, never a guess.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93110A37-A2EE-452E-AA3C-7AA61EA9823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" y="5314950"/>
            <a:ext cx="1000125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650" b="1" i="0">
                <a:solidFill>
                  <a:srgbClr val="356148"/>
                </a:solidFill>
              </a:defRPr>
            </a:pPr>
            <a:r>
              <a:rPr sz="1650" b="1" i="0">
                <a:solidFill>
                  <a:srgbClr val="356148"/>
                </a:solidFill>
              </a:rPr>
              <a:t>Why now: modern models can interpret messy language and documents; governed software can keep their authority bounded.</a:t>
            </a:r>
          </a:p>
        </p:txBody>
      </p:sp>
    </p:spTree>
    <p:extLst>
      <p:ext uri="{BB962C8B-B14F-4D97-AF65-F5344CB8AC3E}">
        <p14:creationId xmlns:p14="http://schemas.microsoft.com/office/powerpoint/2010/main" val="214719151"/>
      </p:ext>
    </p:extLst>
  </p:cSld>
</p:sld>
</file>

<file path=ppt/slides/slide6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48" name="">
            <a:extLst xmlns:a="http://schemas.openxmlformats.org/drawingml/2006/main">
              <a:ext uri="{FF2B5EF4-FFF2-40B4-BE49-F238E27FC236}">
                <a16:creationId xmlns:a16="http://schemas.microsoft.com/office/drawing/2014/main" id="{D7B5256C-D20F-4F31-9CC1-C5ACA5BDAF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THE AGENT TEAM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3D82AF38-A20D-4650-A043-7BD2E2BA72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9906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1914"/>
                </a:solidFill>
              </a:defRPr>
            </a:pPr>
            <a:r>
              <a:rPr sz="3225" b="1" i="0">
                <a:solidFill>
                  <a:srgbClr val="121914"/>
                </a:solidFill>
              </a:rPr>
              <a:t>Six specialists divide the work so no single brain owns the case.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F94EC587-34B1-4B4A-BD54-CEDA8FBB85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127520A4-DF57-438C-929F-BE7AF1B4FDC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410B5FF-DA95-479F-8B55-D3EF2650D5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4785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7F3ACD5C-BB15-40EA-A7F7-75CF5303F6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019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FCB0F50D-1D21-4DF8-9B3C-E12AD3BB983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200025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CBD9059-1B40-4DB6-967D-0736AC47FAC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203835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GEMINI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08F298A-634F-4DB2-8B39-39B8D447303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3812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Intake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BFEF317-BACD-4F33-A3EA-06392AC9A00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278130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Reads email + PDF; extracts the claim.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F932DEC-5BAD-40A5-9AC8-673156558B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32385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6148"/>
                </a:solidFill>
              </a:defRPr>
            </a:pPr>
            <a:r>
              <a:rPr sz="1200" b="1" i="0">
                <a:solidFill>
                  <a:srgbClr val="356148"/>
                </a:solidFill>
              </a:rPr>
              <a:t>RULE · Quarantine harmful instructions first.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C6CD9C8D-71B7-4401-9063-821157567E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4785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69397E2D-A52E-4405-8820-0DC71140CBA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019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5A228E2D-86B9-4616-86C3-6F80837324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200025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043981E-DB41-4521-AD4C-F18F5E3477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203835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GEMINI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6323D6-A6A3-4FF5-B783-A6F2BF50F7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3812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Classifier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6BE1F00-25EF-4EF1-977F-2DD977E91B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278130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Chooses 1 of 7 categories + confidence.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6EF50F95-1FB9-4D56-AB71-6920FBA262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32385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6148"/>
                </a:solidFill>
              </a:defRPr>
            </a:pPr>
            <a:r>
              <a:rPr sz="1200" b="1" i="0">
                <a:solidFill>
                  <a:srgbClr val="356148"/>
                </a:solidFill>
              </a:rPr>
              <a:t>RULE · Low confidence goes to a human.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DDA32B0-806C-4831-968C-9CF43F7329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184785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C07A75F4-42CD-4898-8CA4-7B35183052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01930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A3FB436-9CDA-441D-897D-1E14C02E2B4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200025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153F62E8-D413-4897-97EC-3FBCF2E439D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203835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 MODEL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CB45F73-ADAE-4B41-919D-CEB590F8FB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38125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Verifier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6963B6D8-6998-4F87-A3AA-C8018BE930E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278130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Checks CRM + core-banking evidence.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3CEEB4DA-10DA-45ED-96DE-6934839709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323850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6148"/>
                </a:solidFill>
              </a:defRPr>
            </a:pPr>
            <a:r>
              <a:rPr sz="1200" b="1" i="0">
                <a:solidFill>
                  <a:srgbClr val="356148"/>
                </a:solidFill>
              </a:rPr>
              <a:t>RULE · PASS, FAIL or MANUAL_REVIEW only.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83FFB3F2-BC92-4C8D-B8B4-70D1B5D58D6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96240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6EB2D764-6E8B-4383-B645-F96771945D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133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04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813ACD14-64DA-4028-B7E5-19C76012BC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00350" y="411480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AD618016-9970-499C-96C1-67C57763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76550" y="415290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 MODEL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2F946FF1-21C7-40CF-95B7-A4E589B2425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4958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Resolver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7FF66ADD-C330-4786-A3D1-B6A79C2389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48958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Posts a reversal or credit.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7E5B243F-14BA-4E33-9FE2-A0D5D917BCA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9150" y="53530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6148"/>
                </a:solidFill>
              </a:defRPr>
            </a:pPr>
            <a:r>
              <a:rPr sz="1200" b="1" i="0">
                <a:solidFill>
                  <a:srgbClr val="356148"/>
                </a:solidFill>
              </a:rPr>
              <a:t>RULE · No signed ticket means no posting.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60939DE7-0BD1-4FDF-A2B7-45BB32AB34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96240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CB3A5862-D464-4A2E-BE6E-BC7E9D25FB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133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05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FAC7C681-2A41-42F9-9026-DA1BCF2E004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96050" y="411480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FE2CDB11-98F6-4841-9F41-BB0CAA643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572250" y="415290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GROQ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E8CC415B-5496-4E13-A0D0-DD69A4F9281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4958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Communicator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BBBBA99-71DA-4FF6-B998-615D85CE8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48958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Drafts the customer response.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1E4A2F16-CEC5-4CE2-8550-589853885F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514850" y="53530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6148"/>
                </a:solidFill>
              </a:defRPr>
            </a:pPr>
            <a:r>
              <a:rPr sz="1200" b="1" i="0">
                <a:solidFill>
                  <a:srgbClr val="356148"/>
                </a:solidFill>
              </a:rPr>
              <a:t>RULE · Kernel inserts required wording.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FC74B96F-43A2-4DA0-AC3F-3EF7B7E263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20050" y="3962400"/>
            <a:ext cx="3409950" cy="1847850"/>
          </a:xfrm>
          <a:prstGeom xmlns:a="http://schemas.openxmlformats.org/drawingml/2006/main" prst="roundRect">
            <a:avLst>
              <a:gd name="adj" fmla="val 412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0501E319-1319-47CC-B1B5-FB4B6082ED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133850"/>
            <a:ext cx="45720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98263A"/>
                </a:solidFill>
              </a:defRPr>
            </a:pPr>
            <a:r>
              <a:rPr sz="1575" b="1" i="0">
                <a:solidFill>
                  <a:srgbClr val="98263A"/>
                </a:solidFill>
              </a:rPr>
              <a:t>06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F3893DC5-71A4-4E40-9143-08A19C3DACC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191750" y="4114800"/>
            <a:ext cx="10287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BB446A83-6E5B-44DF-9104-461AAD70E0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0267950" y="4152900"/>
            <a:ext cx="8763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 MODEL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63BF753D-0BCF-4B2D-96A2-0E83E12772F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495800"/>
            <a:ext cx="29527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Supervisor</a:t>
            </a:r>
          </a:p>
        </p:txBody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47B25185-2B43-4B0E-B210-914F792EED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4895850"/>
            <a:ext cx="29908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Watches every open-case deadline.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A4081925-D104-4D70-9E86-95B47002A4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10550" y="5353050"/>
            <a:ext cx="29908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6148"/>
                </a:solidFill>
              </a:defRPr>
            </a:pPr>
            <a:r>
              <a:rPr sz="1200" b="1" i="0">
                <a:solidFill>
                  <a:srgbClr val="356148"/>
                </a:solidFill>
              </a:rPr>
              <a:t>RULE · Escalates only; cannot move money.</a:t>
            </a:r>
          </a:p>
        </p:txBody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599EF445-B3F5-4890-99E5-635CB3B4C18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6096000"/>
            <a:ext cx="9906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356148"/>
                </a:solidFill>
              </a:defRPr>
            </a:pPr>
            <a:r>
              <a:rPr sz="1350" b="1" i="0">
                <a:solidFill>
                  <a:srgbClr val="356148"/>
                </a:solidFill>
              </a:rPr>
              <a:t>Compliance Kernel sits between them all: no model, no persuasion, only policy.</a:t>
            </a:r>
          </a:p>
        </p:txBody>
      </p:sp>
    </p:spTree>
    <p:extLst>
      <p:ext uri="{BB962C8B-B14F-4D97-AF65-F5344CB8AC3E}">
        <p14:creationId xmlns:p14="http://schemas.microsoft.com/office/powerpoint/2010/main" val="1181232174"/>
      </p:ext>
    </p:extLst>
  </p:cSld>
</p:sld>
</file>

<file path=ppt/slides/slide7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2A80EC75-2D17-43A6-B91D-A161A4D077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THE AI BRAIN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B73CE155-07C3-4679-97DC-DDD225750F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477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1914"/>
                </a:solidFill>
              </a:defRPr>
            </a:pPr>
            <a:r>
              <a:rPr sz="3225" b="1" i="0">
                <a:solidFill>
                  <a:srgbClr val="121914"/>
                </a:solidFill>
              </a:rPr>
              <a:t>Models propose. The kernel decides. A human handles uncertainty.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87A4698-EFC1-4EA3-8C1D-3B74E9E192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38BF4E7-81C0-490D-A755-E3203B4924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F5F8310-4827-4A3F-9315-744358D29B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2209800"/>
            <a:ext cx="2152650" cy="1066800"/>
          </a:xfrm>
          <a:prstGeom xmlns:a="http://schemas.openxmlformats.org/drawingml/2006/main" prst="roundRect">
            <a:avLst>
              <a:gd name="adj" fmla="val 7143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2869006-A6B6-4B33-A431-3209D7E0B4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419350"/>
            <a:ext cx="17716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121914"/>
                </a:solidFill>
              </a:defRPr>
            </a:pPr>
            <a:r>
              <a:rPr sz="1050" b="1" i="0">
                <a:solidFill>
                  <a:srgbClr val="121914"/>
                </a:solidFill>
              </a:rPr>
              <a:t>MESSY INPUT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6AAB39A-E31D-413D-A62F-9A26AF51228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" y="2800350"/>
            <a:ext cx="17716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914"/>
                </a:solidFill>
              </a:defRPr>
            </a:pPr>
            <a:r>
              <a:rPr sz="1350" b="1" i="0">
                <a:solidFill>
                  <a:srgbClr val="121914"/>
                </a:solidFill>
              </a:rPr>
              <a:t>email + PDF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E8BEF132-1150-443A-AED1-3BD37E4446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52800" y="1962150"/>
            <a:ext cx="2381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9525">
            <a:solidFill>
              <a:srgbClr val="98263A"/>
            </a:solidFill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B4062EFD-389C-4FD0-9DEF-11EEB8BE8E6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171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MODEL BRAINS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B8364B20-6340-404B-B41C-ED09889682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43300" y="2552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Gemini reads + classifies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Groq drafts the reply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D406AF2B-BEE9-49C2-A940-4C53AA21D36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48400" y="1962150"/>
            <a:ext cx="2381250" cy="1524000"/>
          </a:xfrm>
          <a:prstGeom xmlns:a="http://schemas.openxmlformats.org/drawingml/2006/main" prst="roundRect">
            <a:avLst>
              <a:gd name="adj" fmla="val 5000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600A485-C9BE-4489-9900-59725592DB3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171700"/>
            <a:ext cx="2000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COMPLIANCE KERNEL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2BFC1DD-F5CE-49CF-B990-727722F342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38900" y="2552700"/>
            <a:ext cx="200025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deadline · limits · ticket</a:t>
            </a:r>
          </a:p>
          <a:p xmlns:a="http://schemas.openxmlformats.org/drawingml/2006/main">
            <a:pPr algn="l">
              <a:defRPr sz="1350" b="1" i="0">
                <a:solidFill>
                  <a:srgbClr val="FFFFFF"/>
                </a:solidFill>
              </a:defRPr>
            </a:pPr>
            <a:r>
              <a:rPr sz="1350" b="1" i="0">
                <a:solidFill>
                  <a:srgbClr val="FFFFFF"/>
                </a:solidFill>
              </a:rPr>
              <a:t>mandatory wording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B7E9F912-C670-469E-BC3A-03AB380A474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895600" y="24574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98263A"/>
                </a:solidFill>
              </a:defRPr>
            </a:pPr>
            <a:r>
              <a:rPr sz="2550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3500E18-CB75-4983-8175-853A5469882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791200" y="2457450"/>
            <a:ext cx="419100" cy="476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98263A"/>
                </a:solidFill>
              </a:defRPr>
            </a:pPr>
            <a:r>
              <a:rPr sz="2550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6ED23C8-F226-4B55-82ED-C7EC47C6FD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1695450"/>
            <a:ext cx="2381250" cy="1085850"/>
          </a:xfrm>
          <a:prstGeom xmlns:a="http://schemas.openxmlformats.org/drawingml/2006/main" prst="roundRect">
            <a:avLst>
              <a:gd name="adj" fmla="val 7018"/>
            </a:avLst>
          </a:prstGeom>
          <a:solidFill xmlns:a="http://schemas.openxmlformats.org/drawingml/2006/main">
            <a:srgbClr val="356148"/>
          </a:solidFill>
          <a:ln xmlns:a="http://schemas.openxmlformats.org/drawingml/2006/main" w="9525">
            <a:solidFill>
              <a:srgbClr val="356148"/>
            </a:solidFill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3191679-C515-40EB-97BE-EA388A6BEB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18859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050" b="1" i="0">
                <a:solidFill>
                  <a:srgbClr val="FFFFFF"/>
                </a:solidFill>
              </a:defRPr>
            </a:pPr>
            <a:r>
              <a:rPr sz="1050" b="1" i="0">
                <a:solidFill>
                  <a:srgbClr val="FFFFFF"/>
                </a:solidFill>
              </a:rPr>
              <a:t>SAFE + KNOWN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815D2035-C6EE-41B6-B477-15D552BE876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228600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75" b="1" i="0">
                <a:solidFill>
                  <a:srgbClr val="FFFFFF"/>
                </a:solidFill>
              </a:defRPr>
            </a:pPr>
            <a:r>
              <a:rPr sz="1575" b="1" i="0">
                <a:solidFill>
                  <a:srgbClr val="FFFFFF"/>
                </a:solidFill>
              </a:rPr>
              <a:t>signed action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C35C73B-13FA-4353-8DF1-5043C03344F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144000" y="3105150"/>
            <a:ext cx="2381250" cy="1314450"/>
          </a:xfrm>
          <a:prstGeom xmlns:a="http://schemas.openxmlformats.org/drawingml/2006/main" prst="roundRect">
            <a:avLst>
              <a:gd name="adj" fmla="val 579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19050">
            <a:solidFill>
              <a:srgbClr val="98263A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E9F25406-267D-402D-85B9-8B6A06FB31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295650"/>
            <a:ext cx="19621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8263A"/>
                </a:solidFill>
              </a:defRPr>
            </a:pPr>
            <a:r>
              <a:rPr sz="900" b="1" i="0">
                <a:solidFill>
                  <a:srgbClr val="98263A"/>
                </a:solidFill>
              </a:rPr>
              <a:t>UNCERTAIN / OVER LIMIT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81EBF5C-E8A0-4D0C-B284-D223FC630C5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3733800"/>
            <a:ext cx="196215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human decision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F5A06059-A361-4B41-8EAA-1144C55705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203835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356148"/>
                </a:solidFill>
              </a:defRPr>
            </a:pPr>
            <a:r>
              <a:rPr sz="2550" b="1" i="0">
                <a:solidFill>
                  <a:srgbClr val="356148"/>
                </a:solidFill>
              </a:rPr>
              <a:t>→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5CBD4C24-16D2-417B-9422-10ED4CC1A69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29650" y="3295650"/>
            <a:ext cx="4953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2550" b="1" i="0">
                <a:solidFill>
                  <a:srgbClr val="98263A"/>
                </a:solidFill>
              </a:defRPr>
            </a:pPr>
            <a:r>
              <a:rPr sz="2550" b="1" i="0">
                <a:solidFill>
                  <a:srgbClr val="98263A"/>
                </a:solidFill>
              </a:rPr>
              <a:t>→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A07D0424-A5C8-4B26-B675-FD51E395368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953000"/>
            <a:ext cx="108394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C2FA65BB-C4F5-4E65-BCA0-5859C22DB8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238750"/>
            <a:ext cx="102870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Human enters for low confidence, incomplete or contradictory bank evidence, approval limits, or dual control.</a:t>
            </a:r>
          </a:p>
        </p:txBody>
      </p:sp>
    </p:spTree>
    <p:extLst>
      <p:ext uri="{BB962C8B-B14F-4D97-AF65-F5344CB8AC3E}">
        <p14:creationId xmlns:p14="http://schemas.microsoft.com/office/powerpoint/2010/main" val="1277487372"/>
      </p:ext>
    </p:extLst>
  </p:cSld>
</p:sld>
</file>

<file path=ppt/slides/slide8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F7C0E52-12F7-46DA-BE82-8FED6BAC80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LIVE DEMO · VISITOR INPUT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AA0FC9A-ACB1-4CAA-A479-E0F1328552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001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1914"/>
                </a:solidFill>
              </a:defRPr>
            </a:pPr>
            <a:r>
              <a:rPr sz="3150" b="1" i="0">
                <a:solidFill>
                  <a:srgbClr val="121914"/>
                </a:solidFill>
              </a:rPr>
              <a:t>The complaint and PDF come from the visitor—not from seeded text.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66BBF633-2A80-4D43-A752-7CCF41DB98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7354CEB-901A-4E68-BE86-713FA6E779C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E8C99E75-8792-432B-B84E-ADB35AE425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000250"/>
            <a:ext cx="3238500" cy="4191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21914"/>
                </a:solidFill>
              </a:defRPr>
            </a:pPr>
            <a:r>
              <a:rPr sz="2100" b="1" i="0">
                <a:solidFill>
                  <a:srgbClr val="121914"/>
                </a:solidFill>
              </a:rPr>
              <a:t>Only the identity is fictional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8CB8C90-B7F5-48F2-9BF8-F5BA61604D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3257550" cy="838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0" i="0">
                <a:solidFill>
                  <a:srgbClr val="566159"/>
                </a:solidFill>
              </a:defRPr>
            </a:pPr>
            <a:r>
              <a:rPr sz="1500" b="0" i="0">
                <a:solidFill>
                  <a:srgbClr val="566159"/>
                </a:solidFill>
              </a:rPr>
              <a:t>The visitor controls the subject, complaint words, amount, merchant and evidence PDF.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350E6D7-3BEA-4BD0-8A20-6A2BDDC1E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3771900"/>
            <a:ext cx="13906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15E0E897-0482-437D-9058-3AED7ED019D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23900" y="3810000"/>
            <a:ext cx="12382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LIVE DEMO CUE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0F74F16-9B73-478A-B65D-B44B0F6779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210050"/>
            <a:ext cx="314325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98263A"/>
                </a:solidFill>
              </a:defRPr>
            </a:pPr>
            <a:r>
              <a:rPr sz="2175" b="1" i="0">
                <a:solidFill>
                  <a:srgbClr val="98263A"/>
                </a:solidFill>
              </a:rPr>
              <a:t>Type → attach → run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1AD6DD48-23EC-456C-B12B-2BAE2EF108A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4819650"/>
            <a:ext cx="3333750" cy="8572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The first result block returns the exact subject, claim, PDF filename, read method and body fingerprint.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B9039101-A41A-4B9F-B049-3ABD03C7EF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476750" y="1752600"/>
            <a:ext cx="7067550" cy="4248150"/>
          </a:xfrm>
          <a:prstGeom xmlns:a="http://schemas.openxmlformats.org/drawingml/2006/main" prst="roundRect">
            <a:avLst>
              <a:gd name="adj" fmla="val 179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4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03c64b0dbd9a4f9b"/>
          <a:srcRect xmlns:a="http://schemas.openxmlformats.org/drawingml/2006/main" l="0" t="3541" r="0" b="3541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648200" y="1924050"/>
            <a:ext cx="6724650" cy="3905250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</p:spTree>
    <p:extLst>
      <p:ext uri="{BB962C8B-B14F-4D97-AF65-F5344CB8AC3E}">
        <p14:creationId xmlns:p14="http://schemas.microsoft.com/office/powerpoint/2010/main" val="1977039102"/>
      </p:ext>
    </p:extLst>
  </p:cSld>
</p:sld>
</file>

<file path=ppt/slides/slide9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479D198B-5B5E-46AE-AF56-6B1D56EC7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PRODUCT IN ACTION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D640D73-B52A-4D8F-841E-0FF7111ECB8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096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150" b="1" i="0">
                <a:solidFill>
                  <a:srgbClr val="121914"/>
                </a:solidFill>
              </a:defRPr>
            </a:pPr>
            <a:r>
              <a:rPr sz="3150" b="1" i="0">
                <a:solidFill>
                  <a:srgbClr val="121914"/>
                </a:solidFill>
              </a:rPr>
              <a:t>Each agent speaks only from evidence already written to the chain.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97DB022-36BD-440E-AD75-32242220EF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5A1419-C15F-4282-8C9F-9CEA69CBD4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09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E29F06F-ABB0-4B41-AC65-7AA9BE3F08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1BE3F3C-C941-469E-B9D7-B209DCB48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Intake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16C3F53A-89EC-44CF-B35C-C8A80776EC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75260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F5296074-8887-471B-89E6-18C28B8523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F1735CB0-CC24-4056-B730-71547773A7E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47650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Classifier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0D40F75-98DC-4475-9769-76A479E6328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6235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11EAB7D-3A9C-4AA9-B102-07882AA61D0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6582E0A6-58D1-444D-A0EB-8398F19752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8625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Kernel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9B452F6E-957C-4836-984A-24424DC33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537210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9C59D26B-0FCB-4D06-95E2-036F2205D4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04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5CD8B7D8-0A06-4921-B73A-0A31E8948C6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Verifier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4DAB9B6E-3513-4FC9-B048-4D923F0473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18185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F42ADD2-6D2B-4BF6-9661-336B0CD9593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05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465A56AA-410A-48E3-A994-3A16B9B08E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90575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Resolver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067336F3-A975-437C-9059-95FA9137B8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91600" y="1866900"/>
            <a:ext cx="6286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B14112-5E33-457C-88AC-5BF932D34E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1752600"/>
            <a:ext cx="381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06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6A9FF6A-FC07-447E-A86F-F63F69CF7E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0" y="2000250"/>
            <a:ext cx="14287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121914"/>
                </a:solidFill>
              </a:defRPr>
            </a:pPr>
            <a:r>
              <a:rPr sz="1275" b="1" i="0">
                <a:solidFill>
                  <a:srgbClr val="121914"/>
                </a:solidFill>
              </a:rPr>
              <a:t>Communicator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0C8DEBA4-7D9D-44B2-862E-C61CCEE950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7700" y="2571750"/>
            <a:ext cx="10896600" cy="3200400"/>
          </a:xfrm>
          <a:prstGeom xmlns:a="http://schemas.openxmlformats.org/drawingml/2006/main" prst="roundRect">
            <a:avLst>
              <a:gd name="adj" fmla="val 2381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47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d524332284914851"/>
          <a:stretch xmlns:a="http://schemas.openxmlformats.org/drawingml/2006/main"/>
        </p:blipFill>
        <p:spPr>
          <a:xfrm xmlns:a="http://schemas.openxmlformats.org/drawingml/2006/main">
            <a:off x="3661980" y="2743200"/>
            <a:ext cx="4868040" cy="2857500"/>
          </a:xfrm>
          <a:prstGeom xmlns:a="http://schemas.openxmlformats.org/drawingml/2006/main" prst="roundRect">
            <a:avLst>
              <a:gd name="adj" fmla="val 4000"/>
            </a:avLst>
          </a:prstGeom>
        </p:spPr>
      </p:pic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1594C6EA-0128-4B2E-8408-BF5B9937A7B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962650"/>
            <a:ext cx="7239000" cy="2667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1" i="0">
                <a:solidFill>
                  <a:srgbClr val="356148"/>
                </a:solidFill>
              </a:defRPr>
            </a:pPr>
            <a:r>
              <a:rPr sz="1275" b="1" i="0">
                <a:solidFill>
                  <a:srgbClr val="356148"/>
                </a:solidFill>
              </a:rPr>
              <a:t>Click any spoken line → see event number, facts and hash.</a:t>
            </a:r>
          </a:p>
        </p:txBody>
      </p:sp>
    </p:spTree>
    <p:extLst>
      <p:ext uri="{BB962C8B-B14F-4D97-AF65-F5344CB8AC3E}">
        <p14:creationId xmlns:p14="http://schemas.microsoft.com/office/powerpoint/2010/main" val="2060987781"/>
      </p:ext>
    </p:extLst>
  </p:cSld>
</p:sld>
</file>

<file path=ppt/slides/slide10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DC2A41F7-CA47-498C-BEDB-A2D028B8A0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HUMAN-IN-THE-LOOP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91A06610-6B00-400E-9F27-EA9B26D228D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5727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1914"/>
                </a:solidFill>
              </a:defRPr>
            </a:pPr>
            <a:r>
              <a:rPr sz="3000" b="1" i="0">
                <a:solidFill>
                  <a:srgbClr val="121914"/>
                </a:solidFill>
              </a:rPr>
              <a:t>The human is not a fallback screen. They are the decision owner for exceptions.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5EC31976-38F7-4EED-8C72-8020C204C7D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A2D60FA-088D-4546-B2D2-A9D3608A17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10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C7EBF9FB-6DB2-4F1E-821E-648966B991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8859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The system assembles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A402B96B-FC0B-4DBE-B501-4CED5A04997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2286000"/>
            <a:ext cx="3238500" cy="781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evidence · category · confidence · deadline · bank result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BBB7BA67-0B73-49DC-B1BB-B7A4C85915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448050"/>
            <a:ext cx="3048000" cy="3429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The person decides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D61958AF-9AEC-4281-9697-2FFD3BA5CA1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3886200"/>
            <a:ext cx="2857500" cy="12573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121914"/>
                </a:solidFill>
              </a:defRPr>
            </a:pPr>
            <a:r>
              <a:rPr sz="2100" b="1" i="0">
                <a:solidFill>
                  <a:srgbClr val="121914"/>
                </a:solidFill>
              </a:rPr>
              <a:t>Approve</a:t>
            </a:r>
          </a:p>
          <a:p xmlns:a="http://schemas.openxmlformats.org/drawingml/2006/main">
            <a:pPr algn="l">
              <a:defRPr sz="2100" b="1" i="0">
                <a:solidFill>
                  <a:srgbClr val="121914"/>
                </a:solidFill>
              </a:defRPr>
            </a:pPr>
            <a:r>
              <a:rPr sz="2100" b="1" i="0">
                <a:solidFill>
                  <a:srgbClr val="121914"/>
                </a:solidFill>
              </a:rPr>
              <a:t>Reject</a:t>
            </a:r>
          </a:p>
          <a:p xmlns:a="http://schemas.openxmlformats.org/drawingml/2006/main">
            <a:pPr algn="l">
              <a:defRPr sz="2100" b="1" i="0">
                <a:solidFill>
                  <a:srgbClr val="121914"/>
                </a:solidFill>
              </a:defRPr>
            </a:pPr>
            <a:r>
              <a:rPr sz="2100" b="1" i="0">
                <a:solidFill>
                  <a:srgbClr val="121914"/>
                </a:solidFill>
              </a:rPr>
              <a:t>Request information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A6CE3DC3-A111-413A-89C1-919D1EFF12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5391150"/>
            <a:ext cx="3238500" cy="609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Every choice re-enters the same kernel gates and remains on the audit trail.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F826615-CDCA-418F-B347-D174DAF172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210050" y="1752600"/>
            <a:ext cx="7334250" cy="4248150"/>
          </a:xfrm>
          <a:prstGeom xmlns:a="http://schemas.openxmlformats.org/drawingml/2006/main" prst="roundRect">
            <a:avLst>
              <a:gd name="adj" fmla="val 179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2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11b6f0e264194c0b"/>
          <a:srcRect xmlns:a="http://schemas.openxmlformats.org/drawingml/2006/main" l="0" t="5313" r="0" b="5313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4381500" y="1924050"/>
            <a:ext cx="6991350" cy="3905250"/>
          </a:xfrm>
          <a:prstGeom xmlns:a="http://schemas.openxmlformats.org/drawingml/2006/main" prst="roundRect">
            <a:avLst>
              <a:gd name="adj" fmla="val 2927"/>
            </a:avLst>
          </a:prstGeom>
        </p:spPr>
      </p:pic>
    </p:spTree>
    <p:extLst>
      <p:ext uri="{BB962C8B-B14F-4D97-AF65-F5344CB8AC3E}">
        <p14:creationId xmlns:p14="http://schemas.microsoft.com/office/powerpoint/2010/main" val="283662143"/>
      </p:ext>
    </p:extLst>
  </p:cSld>
</p:sld>
</file>

<file path=ppt/slides/slide11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C178B848-5FFF-47DF-AF2C-08C0BEFE44D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BUSINESS VALIDITY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69986CBB-BEC7-4A0B-80F4-A0EA9F8304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6680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1914"/>
                </a:solidFill>
              </a:defRPr>
            </a:pPr>
            <a:r>
              <a:rPr sz="3000" b="1" i="0">
                <a:solidFill>
                  <a:srgbClr val="121914"/>
                </a:solidFill>
              </a:rPr>
              <a:t>The business case is measurable staff time plus a controlled path to rollout.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8D9F117-72DE-4EA9-A908-761DAEB35D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F3723EC2-9B02-4935-96E5-DAAF795DE5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11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7FC9F6D7-DE53-43B2-9937-E81C0481D2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28650" y="1771650"/>
            <a:ext cx="7239000" cy="3829050"/>
          </a:xfrm>
          <a:prstGeom xmlns:a="http://schemas.openxmlformats.org/drawingml/2006/main" prst="roundRect">
            <a:avLst>
              <a:gd name="adj" fmla="val 1990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1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9385d3d504a42d8"/>
          <a:srcRect xmlns:a="http://schemas.openxmlformats.org/drawingml/2006/main" l="0" t="9558" r="0" b="9558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800100" y="1943100"/>
            <a:ext cx="6896100" cy="3486150"/>
          </a:xfrm>
          <a:prstGeom xmlns:a="http://schemas.openxmlformats.org/drawingml/2006/main" prst="roundRect">
            <a:avLst>
              <a:gd name="adj" fmla="val 3279"/>
            </a:avLst>
          </a:prstGeom>
        </p:spPr>
      </p:pic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DA5A039-9C44-4CDA-8583-4B8D513CD1B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019300"/>
            <a:ext cx="28575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4650" b="1" i="0">
                <a:solidFill>
                  <a:srgbClr val="356148"/>
                </a:solidFill>
              </a:defRPr>
            </a:pPr>
            <a:r>
              <a:rPr sz="4650" b="1" i="0">
                <a:solidFill>
                  <a:srgbClr val="356148"/>
                </a:solidFill>
              </a:rPr>
              <a:t>57%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6959C85-2EA0-4038-AC9A-5C1036D24B4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2657475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unauthorised transactions + billing errors</a:t>
            </a:r>
          </a:p>
          <a:p xmlns:a="http://schemas.openxmlformats.org/drawingml/2006/main">
            <a:pPr algn="l">
              <a:defRPr sz="1275" b="0" i="0">
                <a:solidFill>
                  <a:srgbClr val="566159"/>
                </a:solidFill>
              </a:defRPr>
            </a:pPr>
            <a:r>
              <a:rPr sz="1275" b="0" i="0">
                <a:solidFill>
                  <a:srgbClr val="566159"/>
                </a:solidFill>
              </a:rPr>
              <a:t>in the case study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CBFDD75E-4522-436C-826F-3ECEB579E94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409950"/>
            <a:ext cx="285750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46EFA54B-1832-4BC1-B214-28E1CB7B676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37147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NOW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C2FD6D85-F971-4FB3-BDDC-A13C1754AC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0005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Synthetic pilot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138DA7B0-34CA-4B95-82D6-E8F355A483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5529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NEXT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513D865-7D61-4776-B668-2850FFD0E1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4838700"/>
            <a:ext cx="27241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Staff-reviewed rollout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B1E79C8-A9A4-4010-99D4-F0E6C927C19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391150"/>
            <a:ext cx="76200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THEN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EABB714-3F1B-4E44-BC75-89CF294FEE0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82000" y="5676900"/>
            <a:ext cx="2724150" cy="304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Bank integration</a:t>
            </a:r>
          </a:p>
        </p:txBody>
      </p:sp>
    </p:spTree>
    <p:extLst>
      <p:ext uri="{BB962C8B-B14F-4D97-AF65-F5344CB8AC3E}">
        <p14:creationId xmlns:p14="http://schemas.microsoft.com/office/powerpoint/2010/main" val="1546561899"/>
      </p:ext>
    </p:extLst>
  </p:cSld>
</p:sld>
</file>

<file path=ppt/slides/slide12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BEC7CD66-D8FF-4CE7-BC5E-BE1E3F59CFF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PRODUCTION PROOF · 12 AUG 2026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A58684D-8F49-4C1E-B4BC-196844A3DD5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38225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450" b="1" i="0">
                <a:solidFill>
                  <a:srgbClr val="121914"/>
                </a:solidFill>
              </a:defRPr>
            </a:pPr>
            <a:r>
              <a:rPr sz="3450" b="1" i="0">
                <a:solidFill>
                  <a:srgbClr val="121914"/>
                </a:solidFill>
              </a:rPr>
              <a:t>One fresh visitor-written case proves the full chain works.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46EE451F-B296-43C6-925E-7DFF9B01F1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2B9E8B1F-56EB-48CC-9E96-15D8156A10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12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AB8F3356-09EF-451A-9890-76E0B2E011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457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A92885B-0F19-4A68-BF66-EE22FFAF29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2669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81E4C3FE-C9F7-4BC5-8383-6C88A6C4B5D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479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98263A"/>
                </a:solidFill>
              </a:defRPr>
            </a:pPr>
            <a:r>
              <a:rPr sz="2925" b="1" i="0">
                <a:solidFill>
                  <a:srgbClr val="98263A"/>
                </a:solidFill>
              </a:rPr>
              <a:t>20.1s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589810F2-2752-45AB-B0FC-B6B77F1DCD8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33337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fresh live case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A6234F3-F736-428F-BACC-D57ED1F7A4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66950"/>
            <a:ext cx="2457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02899DC5-4D9E-4F8F-A537-399D459C4E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390900" y="22669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7341E210-4CBF-4838-9A2F-3145318923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26479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98263A"/>
                </a:solidFill>
              </a:defRPr>
            </a:pPr>
            <a:r>
              <a:rPr sz="2925" b="1" i="0">
                <a:solidFill>
                  <a:srgbClr val="98263A"/>
                </a:solidFill>
              </a:rPr>
              <a:t>14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E201DA-358E-444D-8E7B-56F83C23456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3581400" y="33337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valid event links</a:t>
            </a:r>
          </a:p>
        </p:txBody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4A1D9659-08D3-4208-B3FF-F871448723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457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3F93FE1-7500-48FF-AEAC-5F17EE9EDD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15050" y="22669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2F4EE318-F6F8-484F-9219-2833711439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26479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98263A"/>
                </a:solidFill>
              </a:defRPr>
            </a:pPr>
            <a:r>
              <a:rPr sz="2925" b="1" i="0">
                <a:solidFill>
                  <a:srgbClr val="98263A"/>
                </a:solidFill>
              </a:rPr>
              <a:t>3 + 3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3A0B995-0336-43C0-8880-CF0D3B782F9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305550" y="33337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model + bank calls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F0A92931-E668-4CF5-9858-E8D2F30C7A5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66950"/>
            <a:ext cx="2457450" cy="1600200"/>
          </a:xfrm>
          <a:prstGeom xmlns:a="http://schemas.openxmlformats.org/drawingml/2006/main" prst="roundRect">
            <a:avLst>
              <a:gd name="adj" fmla="val 476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A2F47988-7588-49FA-B0E8-E12BCCAFD8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39200" y="2266950"/>
            <a:ext cx="2457450" cy="762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E741EFC6-89F7-4D5A-B91E-F92DD62240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2647950"/>
            <a:ext cx="207645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356148"/>
                </a:solidFill>
              </a:defRPr>
            </a:pPr>
            <a:r>
              <a:rPr sz="2925" b="1" i="0">
                <a:solidFill>
                  <a:srgbClr val="356148"/>
                </a:solidFill>
              </a:rPr>
              <a:t>RM180.50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34CE1E80-A842-4E94-8875-0B473F668F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029700" y="3333750"/>
            <a:ext cx="20764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balanced posting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1BD57131-516A-4408-B579-0E599E032BD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438650"/>
            <a:ext cx="10858500" cy="1257300"/>
          </a:xfrm>
          <a:prstGeom xmlns:a="http://schemas.openxmlformats.org/drawingml/2006/main" prst="roundRect">
            <a:avLst>
              <a:gd name="adj" fmla="val 606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9525">
            <a:solidFill>
              <a:srgbClr val="0A100C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7A6B047B-2BBD-4F9B-8FFE-4C72FD4BF3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4667250"/>
            <a:ext cx="2381250" cy="2095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A8BFB0"/>
                </a:solidFill>
              </a:defRPr>
            </a:pPr>
            <a:r>
              <a:rPr sz="825" b="1" i="0">
                <a:solidFill>
                  <a:srgbClr val="A8BFB0"/>
                </a:solidFill>
              </a:rPr>
              <a:t>VISITOR INPUT RECEIPT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54E7F77-67E9-457E-A6F0-D69F9986AE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71550" y="5029200"/>
            <a:ext cx="723900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FFFFFF"/>
                </a:solidFill>
              </a:defRPr>
            </a:pPr>
            <a:r>
              <a:rPr sz="1800" b="1" i="0">
                <a:solidFill>
                  <a:srgbClr val="FFFFFF"/>
                </a:solidFill>
              </a:rPr>
              <a:t>Their subject · their claim · their PDF · exact body fingerprint</a:t>
            </a:r>
          </a:p>
        </p:txBody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E0DAC986-3130-4C99-BD95-C9589398713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277350" y="4933950"/>
            <a:ext cx="180975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57462E7C-7F40-4818-8F49-96C857AEDC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53550" y="4972050"/>
            <a:ext cx="165735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VERIFIED LIVE</a:t>
            </a:r>
          </a:p>
        </p:txBody>
      </p:sp>
    </p:spTree>
    <p:extLst>
      <p:ext uri="{BB962C8B-B14F-4D97-AF65-F5344CB8AC3E}">
        <p14:creationId xmlns:p14="http://schemas.microsoft.com/office/powerpoint/2010/main" val="809814008"/>
      </p:ext>
    </p:extLst>
  </p:cSld>
</p:sld>
</file>

<file path=ppt/slides/slide13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62" name="">
            <a:extLst xmlns:a="http://schemas.openxmlformats.org/drawingml/2006/main">
              <a:ext uri="{FF2B5EF4-FFF2-40B4-BE49-F238E27FC236}">
                <a16:creationId xmlns:a16="http://schemas.microsoft.com/office/drawing/2014/main" id="{B597D3F9-FCC9-4929-A514-081844581A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CONCLUSION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05E91006-8BFE-4410-9B66-A3B14518C98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1914"/>
                </a:solidFill>
              </a:defRPr>
            </a:pPr>
            <a:r>
              <a:rPr sz="3225" b="1" i="0">
                <a:solidFill>
                  <a:srgbClr val="121914"/>
                </a:solidFill>
              </a:rPr>
              <a:t>Cancel six handoffs. Keep six governed specialists ready 24/7.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DC63CE80-D658-4BC5-B7AC-60EB1F226C5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5532BE47-2847-4397-BFD2-678DDC889FE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13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0A12FCB-847E-4F3F-8903-519CB40C60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1847850"/>
            <a:ext cx="3143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98263A"/>
                </a:solidFill>
              </a:defRPr>
            </a:pPr>
            <a:r>
              <a:rPr sz="900" b="1" i="0">
                <a:solidFill>
                  <a:srgbClr val="98263A"/>
                </a:solidFill>
              </a:rPr>
              <a:t>BEFORE · SIX DESKS</a:t>
            </a:r>
          </a:p>
        </p:txBody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61C805C1-873D-49E2-B27E-A72D19FE27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152650"/>
            <a:ext cx="3143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E36D26DB-49B1-4E58-B946-2915DF971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2098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66159"/>
                </a:solidFill>
              </a:defRPr>
            </a:pPr>
            <a:r>
              <a:rPr sz="1125" b="1" i="0">
                <a:solidFill>
                  <a:srgbClr val="566159"/>
                </a:solidFill>
              </a:rPr>
              <a:t>01  Inbox</a:t>
            </a:r>
          </a:p>
        </p:txBody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94DA9BE-9D6A-429F-B4DD-16F281BEC9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29552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2CC1AAC4-0998-4FD8-95ED-C64A3989DC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552700"/>
            <a:ext cx="3143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7EDDB003-D3AF-4831-9593-3ED2771075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26098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66159"/>
                </a:solidFill>
              </a:defRPr>
            </a:pPr>
            <a:r>
              <a:rPr sz="1125" b="1" i="0">
                <a:solidFill>
                  <a:srgbClr val="566159"/>
                </a:solidFill>
              </a:rPr>
              <a:t>02  Complaints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0D077F01-5B5C-427F-A681-9E2D0757F72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269557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D795250-DE83-49D5-93E5-D948B003EA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952750"/>
            <a:ext cx="3143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005E1A3B-3227-4FBF-A118-A27BD529FB3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0099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66159"/>
                </a:solidFill>
              </a:defRPr>
            </a:pPr>
            <a:r>
              <a:rPr sz="1125" b="1" i="0">
                <a:solidFill>
                  <a:srgbClr val="566159"/>
                </a:solidFill>
              </a:rPr>
              <a:t>03  Investigation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C4BE7476-8261-44AC-9C81-9AE769A3C1E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09562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CD072438-42D9-42AD-8DC3-332B20273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352800"/>
            <a:ext cx="3143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18B1AD19-A05D-4EA0-8650-74BE737152B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4099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66159"/>
                </a:solidFill>
              </a:defRPr>
            </a:pPr>
            <a:r>
              <a:rPr sz="1125" b="1" i="0">
                <a:solidFill>
                  <a:srgbClr val="566159"/>
                </a:solidFill>
              </a:rPr>
              <a:t>04  Compliance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6C11E7AE-8BFD-4270-AB75-21D3071046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49567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924ECD1A-4B68-4CF7-8418-9503214551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3752850"/>
            <a:ext cx="3143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AD4DD11-6E27-44D7-8DB4-DE56EAC5E8A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381000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66159"/>
                </a:solidFill>
              </a:defRPr>
            </a:pPr>
            <a:r>
              <a:rPr sz="1125" b="1" i="0">
                <a:solidFill>
                  <a:srgbClr val="566159"/>
                </a:solidFill>
              </a:rPr>
              <a:t>05  Finance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746D8B2E-E011-4252-A1AA-257598447F2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389572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791F61BF-82DB-4D34-8538-2E535213BB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152900"/>
            <a:ext cx="3143250" cy="285750"/>
          </a:xfrm>
          <a:prstGeom xmlns:a="http://schemas.openxmlformats.org/drawingml/2006/main" prst="roundRect">
            <a:avLst>
              <a:gd name="adj" fmla="val 266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80703B4-FCC4-4931-831D-48D98D1572F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0100" y="4210050"/>
            <a:ext cx="27241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566159"/>
                </a:solidFill>
              </a:defRPr>
            </a:pPr>
            <a:r>
              <a:rPr sz="1125" b="1" i="0">
                <a:solidFill>
                  <a:srgbClr val="566159"/>
                </a:solidFill>
              </a:rPr>
              <a:t>06  Customer reply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0ECBF2F5-0456-4F30-A467-27755ABA86B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81050" y="4295775"/>
            <a:ext cx="2857500" cy="28575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C3584608-864D-4A94-963C-F5B26658368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4629150"/>
            <a:ext cx="314325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98263A"/>
                </a:solidFill>
              </a:defRPr>
            </a:pPr>
            <a:r>
              <a:rPr sz="1200" b="1" i="0">
                <a:solidFill>
                  <a:srgbClr val="98263A"/>
                </a:solidFill>
              </a:rPr>
              <a:t>90-minute baseline · ownership drifts</a:t>
            </a:r>
          </a:p>
        </p:txBody>
      </p:sp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FD2125FE-E661-4D5B-9821-9C32F9E4E6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1847850"/>
            <a:ext cx="428625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900" b="1" i="0">
                <a:solidFill>
                  <a:srgbClr val="356148"/>
                </a:solidFill>
              </a:defRPr>
            </a:pPr>
            <a:r>
              <a:rPr sz="900" b="1" i="0">
                <a:solidFill>
                  <a:srgbClr val="356148"/>
                </a:solidFill>
              </a:rPr>
              <a:t>AFTER · ONE GOVERNED CHAIN</a:t>
            </a:r>
          </a:p>
        </p:txBody>
      </p:sp>
      <p:sp>
        <p:nvSpPr>
          <p:cNvPr id="26" name="">
            <a:extLst xmlns:a="http://schemas.openxmlformats.org/drawingml/2006/main">
              <a:ext uri="{FF2B5EF4-FFF2-40B4-BE49-F238E27FC236}">
                <a16:creationId xmlns:a16="http://schemas.microsoft.com/office/drawing/2014/main" id="{74F607C7-6DBA-4D52-BB34-477506A0E66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190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98263A"/>
                </a:solidFill>
              </a:defRPr>
            </a:pPr>
            <a:r>
              <a:rPr sz="112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27" name="">
            <a:extLst xmlns:a="http://schemas.openxmlformats.org/drawingml/2006/main">
              <a:ext uri="{FF2B5EF4-FFF2-40B4-BE49-F238E27FC236}">
                <a16:creationId xmlns:a16="http://schemas.microsoft.com/office/drawing/2014/main" id="{C82195A4-7BE2-4275-A534-F7BBC8524C1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19075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914"/>
                </a:solidFill>
              </a:defRPr>
            </a:pPr>
            <a:r>
              <a:rPr sz="1350" b="1" i="0">
                <a:solidFill>
                  <a:srgbClr val="121914"/>
                </a:solidFill>
              </a:rPr>
              <a:t>Intake</a:t>
            </a:r>
          </a:p>
        </p:txBody>
      </p:sp>
      <p:sp>
        <p:nvSpPr>
          <p:cNvPr id="28" name="">
            <a:extLst xmlns:a="http://schemas.openxmlformats.org/drawingml/2006/main">
              <a:ext uri="{FF2B5EF4-FFF2-40B4-BE49-F238E27FC236}">
                <a16:creationId xmlns:a16="http://schemas.microsoft.com/office/drawing/2014/main" id="{3F1517AD-D16B-47C1-8920-AD583077DF0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4765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reads + screens</a:t>
            </a:r>
          </a:p>
        </p:txBody>
      </p:sp>
      <p:sp>
        <p:nvSpPr>
          <p:cNvPr id="29" name="">
            <a:extLst xmlns:a="http://schemas.openxmlformats.org/drawingml/2006/main">
              <a:ext uri="{FF2B5EF4-FFF2-40B4-BE49-F238E27FC236}">
                <a16:creationId xmlns:a16="http://schemas.microsoft.com/office/drawing/2014/main" id="{E9E5437A-E59B-42FB-B417-7159E6F62A0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1907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98263A"/>
                </a:solidFill>
              </a:defRPr>
            </a:pPr>
            <a:r>
              <a:rPr sz="112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30" name="">
            <a:extLst xmlns:a="http://schemas.openxmlformats.org/drawingml/2006/main">
              <a:ext uri="{FF2B5EF4-FFF2-40B4-BE49-F238E27FC236}">
                <a16:creationId xmlns:a16="http://schemas.microsoft.com/office/drawing/2014/main" id="{54B4D336-7D73-4F67-9953-53F6AE0B8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19075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914"/>
                </a:solidFill>
              </a:defRPr>
            </a:pPr>
            <a:r>
              <a:rPr sz="1350" b="1" i="0">
                <a:solidFill>
                  <a:srgbClr val="121914"/>
                </a:solidFill>
              </a:rPr>
              <a:t>Classifier</a:t>
            </a:r>
          </a:p>
        </p:txBody>
      </p:sp>
      <p:sp>
        <p:nvSpPr>
          <p:cNvPr id="31" name="">
            <a:extLst xmlns:a="http://schemas.openxmlformats.org/drawingml/2006/main">
              <a:ext uri="{FF2B5EF4-FFF2-40B4-BE49-F238E27FC236}">
                <a16:creationId xmlns:a16="http://schemas.microsoft.com/office/drawing/2014/main" id="{FDC6987A-249A-49A9-8F8F-F4187D45B7A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4765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labels + confidence</a:t>
            </a:r>
          </a:p>
        </p:txBody>
      </p:sp>
      <p:sp>
        <p:nvSpPr>
          <p:cNvPr id="32" name="">
            <a:extLst xmlns:a="http://schemas.openxmlformats.org/drawingml/2006/main">
              <a:ext uri="{FF2B5EF4-FFF2-40B4-BE49-F238E27FC236}">
                <a16:creationId xmlns:a16="http://schemas.microsoft.com/office/drawing/2014/main" id="{CED7930A-7CA8-4CE0-ACE1-ABE3DD32F54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98263A"/>
                </a:solidFill>
              </a:defRPr>
            </a:pPr>
            <a:r>
              <a:rPr sz="112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33" name="">
            <a:extLst xmlns:a="http://schemas.openxmlformats.org/drawingml/2006/main">
              <a:ext uri="{FF2B5EF4-FFF2-40B4-BE49-F238E27FC236}">
                <a16:creationId xmlns:a16="http://schemas.microsoft.com/office/drawing/2014/main" id="{7C7631B9-7A2E-4607-8DD6-FBFDEC2D143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291465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914"/>
                </a:solidFill>
              </a:defRPr>
            </a:pPr>
            <a:r>
              <a:rPr sz="1350" b="1" i="0">
                <a:solidFill>
                  <a:srgbClr val="121914"/>
                </a:solidFill>
              </a:rPr>
              <a:t>Verifier</a:t>
            </a:r>
          </a:p>
        </p:txBody>
      </p:sp>
      <p:sp>
        <p:nvSpPr>
          <p:cNvPr id="34" name="">
            <a:extLst xmlns:a="http://schemas.openxmlformats.org/drawingml/2006/main">
              <a:ext uri="{FF2B5EF4-FFF2-40B4-BE49-F238E27FC236}">
                <a16:creationId xmlns:a16="http://schemas.microsoft.com/office/drawing/2014/main" id="{B6C945D9-0A55-47C7-8EDF-77BF315812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2004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checks bank facts</a:t>
            </a:r>
          </a:p>
        </p:txBody>
      </p:sp>
      <p:sp>
        <p:nvSpPr>
          <p:cNvPr id="35" name="">
            <a:extLst xmlns:a="http://schemas.openxmlformats.org/drawingml/2006/main">
              <a:ext uri="{FF2B5EF4-FFF2-40B4-BE49-F238E27FC236}">
                <a16:creationId xmlns:a16="http://schemas.microsoft.com/office/drawing/2014/main" id="{DA83EEC3-55D1-48DE-848C-791310AAC32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29146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98263A"/>
                </a:solidFill>
              </a:defRPr>
            </a:pPr>
            <a:r>
              <a:rPr sz="1125" b="1" i="0">
                <a:solidFill>
                  <a:srgbClr val="98263A"/>
                </a:solidFill>
              </a:rPr>
              <a:t>04</a:t>
            </a:r>
          </a:p>
        </p:txBody>
      </p:sp>
      <p:sp>
        <p:nvSpPr>
          <p:cNvPr id="36" name="">
            <a:extLst xmlns:a="http://schemas.openxmlformats.org/drawingml/2006/main">
              <a:ext uri="{FF2B5EF4-FFF2-40B4-BE49-F238E27FC236}">
                <a16:creationId xmlns:a16="http://schemas.microsoft.com/office/drawing/2014/main" id="{ACBD19DE-CEAC-4EE5-868F-2DA5CA259D0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291465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914"/>
                </a:solidFill>
              </a:defRPr>
            </a:pPr>
            <a:r>
              <a:rPr sz="1350" b="1" i="0">
                <a:solidFill>
                  <a:srgbClr val="121914"/>
                </a:solidFill>
              </a:rPr>
              <a:t>Resolver</a:t>
            </a:r>
          </a:p>
        </p:txBody>
      </p:sp>
      <p:sp>
        <p:nvSpPr>
          <p:cNvPr id="37" name="">
            <a:extLst xmlns:a="http://schemas.openxmlformats.org/drawingml/2006/main">
              <a:ext uri="{FF2B5EF4-FFF2-40B4-BE49-F238E27FC236}">
                <a16:creationId xmlns:a16="http://schemas.microsoft.com/office/drawing/2014/main" id="{AB040202-0740-4A27-A7DD-F18E63DDFE7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2004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ticketed action only</a:t>
            </a:r>
          </a:p>
        </p:txBody>
      </p:sp>
      <p:sp>
        <p:nvSpPr>
          <p:cNvPr id="38" name="">
            <a:extLst xmlns:a="http://schemas.openxmlformats.org/drawingml/2006/main">
              <a:ext uri="{FF2B5EF4-FFF2-40B4-BE49-F238E27FC236}">
                <a16:creationId xmlns:a16="http://schemas.microsoft.com/office/drawing/2014/main" id="{444E0144-DB72-4AF8-90E6-18FED1AFD0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36385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98263A"/>
                </a:solidFill>
              </a:defRPr>
            </a:pPr>
            <a:r>
              <a:rPr sz="1125" b="1" i="0">
                <a:solidFill>
                  <a:srgbClr val="98263A"/>
                </a:solidFill>
              </a:rPr>
              <a:t>05</a:t>
            </a:r>
          </a:p>
        </p:txBody>
      </p:sp>
      <p:sp>
        <p:nvSpPr>
          <p:cNvPr id="39" name="">
            <a:extLst xmlns:a="http://schemas.openxmlformats.org/drawingml/2006/main">
              <a:ext uri="{FF2B5EF4-FFF2-40B4-BE49-F238E27FC236}">
                <a16:creationId xmlns:a16="http://schemas.microsoft.com/office/drawing/2014/main" id="{49C70E53-3DF9-4CDB-A774-A9CA0F86267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63855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914"/>
                </a:solidFill>
              </a:defRPr>
            </a:pPr>
            <a:r>
              <a:rPr sz="1350" b="1" i="0">
                <a:solidFill>
                  <a:srgbClr val="121914"/>
                </a:solidFill>
              </a:rPr>
              <a:t>Communicator</a:t>
            </a:r>
          </a:p>
        </p:txBody>
      </p:sp>
      <p:sp>
        <p:nvSpPr>
          <p:cNvPr id="40" name="">
            <a:extLst xmlns:a="http://schemas.openxmlformats.org/drawingml/2006/main">
              <a:ext uri="{FF2B5EF4-FFF2-40B4-BE49-F238E27FC236}">
                <a16:creationId xmlns:a16="http://schemas.microsoft.com/office/drawing/2014/main" id="{A12A50E5-3EA2-426C-9A5C-16123FADCC4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3924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customer answer</a:t>
            </a:r>
          </a:p>
        </p:txBody>
      </p:sp>
      <p:sp>
        <p:nvSpPr>
          <p:cNvPr id="41" name="">
            <a:extLst xmlns:a="http://schemas.openxmlformats.org/drawingml/2006/main">
              <a:ext uri="{FF2B5EF4-FFF2-40B4-BE49-F238E27FC236}">
                <a16:creationId xmlns:a16="http://schemas.microsoft.com/office/drawing/2014/main" id="{A784F058-29CF-4016-AD12-0F7141C6468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48450" y="3638550"/>
            <a:ext cx="3810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1" i="0">
                <a:solidFill>
                  <a:srgbClr val="98263A"/>
                </a:solidFill>
              </a:defRPr>
            </a:pPr>
            <a:r>
              <a:rPr sz="1125" b="1" i="0">
                <a:solidFill>
                  <a:srgbClr val="98263A"/>
                </a:solidFill>
              </a:rPr>
              <a:t>06</a:t>
            </a:r>
          </a:p>
        </p:txBody>
      </p:sp>
      <p:sp>
        <p:nvSpPr>
          <p:cNvPr id="42" name="">
            <a:extLst xmlns:a="http://schemas.openxmlformats.org/drawingml/2006/main">
              <a:ext uri="{FF2B5EF4-FFF2-40B4-BE49-F238E27FC236}">
                <a16:creationId xmlns:a16="http://schemas.microsoft.com/office/drawing/2014/main" id="{EFABB6FD-4EC0-4395-8B19-C0FA9AAC250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63855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121914"/>
                </a:solidFill>
              </a:defRPr>
            </a:pPr>
            <a:r>
              <a:rPr sz="1350" b="1" i="0">
                <a:solidFill>
                  <a:srgbClr val="121914"/>
                </a:solidFill>
              </a:rPr>
              <a:t>Supervisor</a:t>
            </a:r>
          </a:p>
        </p:txBody>
      </p:sp>
      <p:sp>
        <p:nvSpPr>
          <p:cNvPr id="43" name="">
            <a:extLst xmlns:a="http://schemas.openxmlformats.org/drawingml/2006/main">
              <a:ext uri="{FF2B5EF4-FFF2-40B4-BE49-F238E27FC236}">
                <a16:creationId xmlns:a16="http://schemas.microsoft.com/office/drawing/2014/main" id="{9E0F7E37-A15F-4770-AF1B-938AD3FB6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48500" y="3924300"/>
            <a:ext cx="179070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deadline escalation</a:t>
            </a:r>
          </a:p>
        </p:txBody>
      </p:sp>
      <p:sp>
        <p:nvSpPr>
          <p:cNvPr id="44" name="">
            <a:extLst xmlns:a="http://schemas.openxmlformats.org/drawingml/2006/main">
              <a:ext uri="{FF2B5EF4-FFF2-40B4-BE49-F238E27FC236}">
                <a16:creationId xmlns:a16="http://schemas.microsoft.com/office/drawing/2014/main" id="{16451A09-9ED1-46F7-A3A5-32A785E6E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419600"/>
            <a:ext cx="4476750" cy="1905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45" name="">
            <a:extLst xmlns:a="http://schemas.openxmlformats.org/drawingml/2006/main">
              <a:ext uri="{FF2B5EF4-FFF2-40B4-BE49-F238E27FC236}">
                <a16:creationId xmlns:a16="http://schemas.microsoft.com/office/drawing/2014/main" id="{9090B731-A86E-43CD-91E1-95D1DDA33E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24350" y="4552950"/>
            <a:ext cx="4610100" cy="285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1" i="0">
                <a:solidFill>
                  <a:srgbClr val="356148"/>
                </a:solidFill>
              </a:defRPr>
            </a:pPr>
            <a:r>
              <a:rPr sz="1200" b="1" i="0">
                <a:solidFill>
                  <a:srgbClr val="356148"/>
                </a:solidFill>
              </a:rPr>
              <a:t>Kernel rule: deadlines · confidence · limits · signed tickets</a:t>
            </a:r>
          </a:p>
        </p:txBody>
      </p:sp>
      <p:sp>
        <p:nvSpPr>
          <p:cNvPr id="46" name="">
            <a:extLst xmlns:a="http://schemas.openxmlformats.org/drawingml/2006/main">
              <a:ext uri="{FF2B5EF4-FFF2-40B4-BE49-F238E27FC236}">
                <a16:creationId xmlns:a16="http://schemas.microsoft.com/office/drawing/2014/main" id="{4E2231A5-8AD9-418F-9196-BB64A980DE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315450" y="1809750"/>
            <a:ext cx="2209800" cy="3105150"/>
          </a:xfrm>
          <a:prstGeom xmlns:a="http://schemas.openxmlformats.org/drawingml/2006/main" prst="roundRect">
            <a:avLst>
              <a:gd name="adj" fmla="val 3448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47" name="">
            <a:extLst xmlns:a="http://schemas.openxmlformats.org/drawingml/2006/main">
              <a:ext uri="{FF2B5EF4-FFF2-40B4-BE49-F238E27FC236}">
                <a16:creationId xmlns:a16="http://schemas.microsoft.com/office/drawing/2014/main" id="{D8E4C899-6D76-4A4C-95EA-E100F64EEB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505950" y="2000250"/>
            <a:ext cx="1828800" cy="2286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98263A"/>
                </a:solidFill>
              </a:defRPr>
            </a:pPr>
            <a:r>
              <a:rPr sz="1200" b="1" i="0">
                <a:solidFill>
                  <a:srgbClr val="98263A"/>
                </a:solidFill>
              </a:rPr>
              <a:t>TEST IT LIVE</a:t>
            </a:r>
          </a:p>
        </p:txBody>
      </p:sp>
      <p:pic>
        <p:nvPicPr>
          <p:cNvPr id="109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97dbb721661b4121"/>
          <a:stretch xmlns:a="http://schemas.openxmlformats.org/drawingml/2006/main"/>
        </p:blipFill>
        <p:spPr>
          <a:xfrm xmlns:a="http://schemas.openxmlformats.org/drawingml/2006/main">
            <a:off x="9620250" y="2324100"/>
            <a:ext cx="1600200" cy="1600200"/>
          </a:xfrm>
          <a:prstGeom xmlns:a="http://schemas.openxmlformats.org/drawingml/2006/main" prst="roundRect">
            <a:avLst>
              <a:gd name="adj" fmla="val 7143"/>
            </a:avLst>
          </a:prstGeom>
        </p:spPr>
      </p:pic>
      <p:sp>
        <p:nvSpPr>
          <p:cNvPr id="49" name="">
            <a:extLst xmlns:a="http://schemas.openxmlformats.org/drawingml/2006/main">
              <a:ext uri="{FF2B5EF4-FFF2-40B4-BE49-F238E27FC236}">
                <a16:creationId xmlns:a16="http://schemas.microsoft.com/office/drawing/2014/main" id="{C58D94A9-94A1-41A3-8473-E898A529AC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057650"/>
            <a:ext cx="1866900" cy="4000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200" b="1" i="0">
                <a:solidFill>
                  <a:srgbClr val="121914"/>
                </a:solidFill>
              </a:defRPr>
            </a:pPr>
            <a:r>
              <a:rPr sz="1200" b="1" i="0">
                <a:solidFill>
                  <a:srgbClr val="121914"/>
                </a:solidFill>
              </a:rPr>
              <a:t>Write your own complaint + PDF</a:t>
            </a:r>
          </a:p>
        </p:txBody>
      </p:sp>
      <p:sp>
        <p:nvSpPr>
          <p:cNvPr id="50" name="">
            <a:extLst xmlns:a="http://schemas.openxmlformats.org/drawingml/2006/main">
              <a:ext uri="{FF2B5EF4-FFF2-40B4-BE49-F238E27FC236}">
                <a16:creationId xmlns:a16="http://schemas.microsoft.com/office/drawing/2014/main" id="{F88762AC-04BB-4F37-AC59-D0227B76B2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9486900" y="4495800"/>
            <a:ext cx="18669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casezero-alpha.vercel.app</a:t>
            </a:r>
          </a:p>
          <a:p xmlns:a="http://schemas.openxmlformats.org/drawingml/2006/main">
            <a:pPr algn="ctr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/live</a:t>
            </a:r>
          </a:p>
        </p:txBody>
      </p:sp>
      <p:sp>
        <p:nvSpPr>
          <p:cNvPr id="51" name="">
            <a:extLst xmlns:a="http://schemas.openxmlformats.org/drawingml/2006/main">
              <a:ext uri="{FF2B5EF4-FFF2-40B4-BE49-F238E27FC236}">
                <a16:creationId xmlns:a16="http://schemas.microsoft.com/office/drawing/2014/main" id="{F0F7F59C-A784-477D-80FA-2B7D857EAB4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2006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20.1s</a:t>
            </a:r>
          </a:p>
        </p:txBody>
      </p:sp>
      <p:sp>
        <p:nvSpPr>
          <p:cNvPr id="52" name="">
            <a:extLst xmlns:a="http://schemas.openxmlformats.org/drawingml/2006/main">
              <a:ext uri="{FF2B5EF4-FFF2-40B4-BE49-F238E27FC236}">
                <a16:creationId xmlns:a16="http://schemas.microsoft.com/office/drawing/2014/main" id="{EBF9C91A-D935-4C86-8283-31552AC9F37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5619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fresh verified run</a:t>
            </a:r>
          </a:p>
        </p:txBody>
      </p:sp>
      <p:sp>
        <p:nvSpPr>
          <p:cNvPr id="53" name="">
            <a:extLst xmlns:a="http://schemas.openxmlformats.org/drawingml/2006/main">
              <a:ext uri="{FF2B5EF4-FFF2-40B4-BE49-F238E27FC236}">
                <a16:creationId xmlns:a16="http://schemas.microsoft.com/office/drawing/2014/main" id="{3175C08A-A914-4A8C-A233-950188328D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609850" y="5238750"/>
            <a:ext cx="19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4" name="">
            <a:extLst xmlns:a="http://schemas.openxmlformats.org/drawingml/2006/main">
              <a:ext uri="{FF2B5EF4-FFF2-40B4-BE49-F238E27FC236}">
                <a16:creationId xmlns:a16="http://schemas.microsoft.com/office/drawing/2014/main" id="{F0AA9631-3C07-4B97-BF83-46E9D0FA5D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2006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14</a:t>
            </a:r>
          </a:p>
        </p:txBody>
      </p:sp>
      <p:sp>
        <p:nvSpPr>
          <p:cNvPr id="55" name="">
            <a:extLst xmlns:a="http://schemas.openxmlformats.org/drawingml/2006/main">
              <a:ext uri="{FF2B5EF4-FFF2-40B4-BE49-F238E27FC236}">
                <a16:creationId xmlns:a16="http://schemas.microsoft.com/office/drawing/2014/main" id="{F980F24F-F27F-4377-9E45-8BE899BC587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2781300" y="5619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valid event links</a:t>
            </a:r>
          </a:p>
        </p:txBody>
      </p:sp>
      <p:sp>
        <p:nvSpPr>
          <p:cNvPr id="56" name="">
            <a:extLst xmlns:a="http://schemas.openxmlformats.org/drawingml/2006/main">
              <a:ext uri="{FF2B5EF4-FFF2-40B4-BE49-F238E27FC236}">
                <a16:creationId xmlns:a16="http://schemas.microsoft.com/office/drawing/2014/main" id="{ECAAF501-3824-41BD-B076-6B4602BD295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724400" y="5238750"/>
            <a:ext cx="19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57" name="">
            <a:extLst xmlns:a="http://schemas.openxmlformats.org/drawingml/2006/main">
              <a:ext uri="{FF2B5EF4-FFF2-40B4-BE49-F238E27FC236}">
                <a16:creationId xmlns:a16="http://schemas.microsoft.com/office/drawing/2014/main" id="{274AE1D4-3740-4192-8F0A-AC8CC6ADFAA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2006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356148"/>
                </a:solidFill>
              </a:defRPr>
            </a:pPr>
            <a:r>
              <a:rPr sz="2100" b="1" i="0">
                <a:solidFill>
                  <a:srgbClr val="356148"/>
                </a:solidFill>
              </a:rPr>
              <a:t>24/7</a:t>
            </a:r>
          </a:p>
        </p:txBody>
      </p:sp>
      <p:sp>
        <p:nvSpPr>
          <p:cNvPr id="58" name="">
            <a:extLst xmlns:a="http://schemas.openxmlformats.org/drawingml/2006/main">
              <a:ext uri="{FF2B5EF4-FFF2-40B4-BE49-F238E27FC236}">
                <a16:creationId xmlns:a16="http://schemas.microsoft.com/office/drawing/2014/main" id="{ABC62AD9-26D8-4E08-AA1B-95A73A44468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895850" y="5619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intake readiness</a:t>
            </a:r>
          </a:p>
        </p:txBody>
      </p:sp>
      <p:sp>
        <p:nvSpPr>
          <p:cNvPr id="59" name="">
            <a:extLst xmlns:a="http://schemas.openxmlformats.org/drawingml/2006/main">
              <a:ext uri="{FF2B5EF4-FFF2-40B4-BE49-F238E27FC236}">
                <a16:creationId xmlns:a16="http://schemas.microsoft.com/office/drawing/2014/main" id="{6B132E52-6B7E-417E-AB19-D03B37C3590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38950" y="5238750"/>
            <a:ext cx="19050" cy="7239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A8BFB0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0" name="">
            <a:extLst xmlns:a="http://schemas.openxmlformats.org/drawingml/2006/main">
              <a:ext uri="{FF2B5EF4-FFF2-40B4-BE49-F238E27FC236}">
                <a16:creationId xmlns:a16="http://schemas.microsoft.com/office/drawing/2014/main" id="{F2F958F2-17E3-4A68-B390-DAEDAC479E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200650"/>
            <a:ext cx="1809750" cy="3619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00" b="1" i="0">
                <a:solidFill>
                  <a:srgbClr val="98263A"/>
                </a:solidFill>
              </a:defRPr>
            </a:pPr>
            <a:r>
              <a:rPr sz="2100" b="1" i="0">
                <a:solidFill>
                  <a:srgbClr val="98263A"/>
                </a:solidFill>
              </a:rPr>
              <a:t>1</a:t>
            </a:r>
          </a:p>
        </p:txBody>
      </p:sp>
      <p:sp>
        <p:nvSpPr>
          <p:cNvPr id="61" name="">
            <a:extLst xmlns:a="http://schemas.openxmlformats.org/drawingml/2006/main">
              <a:ext uri="{FF2B5EF4-FFF2-40B4-BE49-F238E27FC236}">
                <a16:creationId xmlns:a16="http://schemas.microsoft.com/office/drawing/2014/main" id="{AB2E3DD6-5AA9-4541-8F8B-1BD81E3B3E4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010400" y="5619750"/>
            <a:ext cx="1809750" cy="2476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human exception lane</a:t>
            </a:r>
          </a:p>
        </p:txBody>
      </p:sp>
    </p:spTree>
    <p:extLst>
      <p:ext uri="{BB962C8B-B14F-4D97-AF65-F5344CB8AC3E}">
        <p14:creationId xmlns:p14="http://schemas.microsoft.com/office/powerpoint/2010/main" val="1325281860"/>
      </p:ext>
    </p:extLst>
  </p:cSld>
</p:sld>
</file>

<file path=ppt/slides/slide14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5" name="">
            <a:extLst xmlns:a="http://schemas.openxmlformats.org/drawingml/2006/main">
              <a:ext uri="{FF2B5EF4-FFF2-40B4-BE49-F238E27FC236}">
                <a16:creationId xmlns:a16="http://schemas.microsoft.com/office/drawing/2014/main" id="{E96726ED-69F0-42BC-B7CE-5A47650AED1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THE ASK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1EACF09-581D-41E0-BC37-28903389A5A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8585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225" b="1" i="0">
                <a:solidFill>
                  <a:srgbClr val="121914"/>
                </a:solidFill>
              </a:defRPr>
            </a:pPr>
            <a:r>
              <a:rPr sz="3225" b="1" i="0">
                <a:solidFill>
                  <a:srgbClr val="121914"/>
                </a:solidFill>
              </a:rPr>
              <a:t>Approve a staff-reviewed pilot for unauthorised transactions and billing errors.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837213E-5670-46B4-AEE7-60D7B41AD1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FCF4469-09D4-4BB6-82F7-8F0CA3F42DE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14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3457598E-0118-478D-9D22-5B3C7E24DB5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20150" y="419100"/>
            <a:ext cx="27051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5A5BD7DD-C181-49A7-857D-A5E2326DFF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896350" y="457200"/>
            <a:ext cx="25527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REFERENCE · PREVIOUS CLOSE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342774A1-0EF4-47D5-A8C4-1F327E5548C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2305050"/>
            <a:ext cx="33337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9D1EF34D-2D71-4115-919A-BE2E98777CD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5336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98263A"/>
                </a:solidFill>
              </a:defRPr>
            </a:pPr>
            <a:r>
              <a:rPr sz="1725" b="1" i="0">
                <a:solidFill>
                  <a:srgbClr val="98263A"/>
                </a:solidFill>
              </a:rPr>
              <a:t>01</a:t>
            </a:r>
          </a:p>
        </p:txBody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E20A2C5D-91F0-44EE-B81A-8D4A8069BC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29908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Synthetic cases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C0EF0A91-45D9-48D8-8BDA-F5E70527D38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95350" y="3562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Prove safety and measurement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383B704-5420-4FDD-8088-17FFD4BED9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000500" y="29908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356148"/>
                </a:solidFill>
              </a:defRPr>
            </a:pPr>
            <a:r>
              <a:rPr sz="1950" b="1" i="0">
                <a:solidFill>
                  <a:srgbClr val="356148"/>
                </a:solidFill>
              </a:rPr>
              <a:t>→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B45BDC2E-ACF0-4DC8-A658-F48F02E4251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381500" y="2305050"/>
            <a:ext cx="33337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B13D0038-E843-47D5-9BBA-59FD0DAA50B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5336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98263A"/>
                </a:solidFill>
              </a:defRPr>
            </a:pPr>
            <a:r>
              <a:rPr sz="1725" b="1" i="0">
                <a:solidFill>
                  <a:srgbClr val="98263A"/>
                </a:solidFill>
              </a:rPr>
              <a:t>02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4DFAD439-3762-411E-B9D0-7BBEFB9D18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29908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Staff-reviewed pilot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F971BBF8-0C99-4446-84E9-14A3B206832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4610100" y="3562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Humans own every exception</a:t>
            </a:r>
          </a:p>
        </p:txBody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5F9E74EF-D1A0-460C-B4A3-F425C600F9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7715250" y="2990850"/>
            <a:ext cx="381000" cy="3810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1950" b="1" i="0">
                <a:solidFill>
                  <a:srgbClr val="356148"/>
                </a:solidFill>
              </a:defRPr>
            </a:pPr>
            <a:r>
              <a:rPr sz="1950" b="1" i="0">
                <a:solidFill>
                  <a:srgbClr val="356148"/>
                </a:solidFill>
              </a:rPr>
              <a:t>→</a:t>
            </a:r>
          </a:p>
        </p:txBody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264BC94F-C2B3-4496-B2C8-C82A049F4F2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096250" y="2305050"/>
            <a:ext cx="3333750" cy="1828800"/>
          </a:xfrm>
          <a:prstGeom xmlns:a="http://schemas.openxmlformats.org/drawingml/2006/main" prst="roundRect">
            <a:avLst>
              <a:gd name="adj" fmla="val 4167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3EC91CB9-3F67-49F9-86B1-4DB5655E8ED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533650"/>
            <a:ext cx="55245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98263A"/>
                </a:solidFill>
              </a:defRPr>
            </a:pPr>
            <a:r>
              <a:rPr sz="1725" b="1" i="0">
                <a:solidFill>
                  <a:srgbClr val="98263A"/>
                </a:solidFill>
              </a:rPr>
              <a:t>03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F3816DFC-9E5E-4929-8B53-D0D38651781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2990850"/>
            <a:ext cx="2857500" cy="4572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800" b="1" i="0">
                <a:solidFill>
                  <a:srgbClr val="121914"/>
                </a:solidFill>
              </a:defRPr>
            </a:pPr>
            <a:r>
              <a:rPr sz="1800" b="1" i="0">
                <a:solidFill>
                  <a:srgbClr val="121914"/>
                </a:solidFill>
              </a:rPr>
              <a:t>Bank integration</a:t>
            </a:r>
          </a:p>
        </p:txBody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F70D29E-FFE1-4962-8567-41BD7BBF34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24850" y="3562350"/>
            <a:ext cx="2857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200" b="0" i="0">
                <a:solidFill>
                  <a:srgbClr val="566159"/>
                </a:solidFill>
              </a:defRPr>
            </a:pPr>
            <a:r>
              <a:rPr sz="1200" b="0" i="0">
                <a:solidFill>
                  <a:srgbClr val="566159"/>
                </a:solidFill>
              </a:rPr>
              <a:t>Connect only after approval</a:t>
            </a:r>
          </a:p>
        </p:txBody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CB957893-226A-4F2B-8F76-2AE6EDDEE4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66750" y="4762500"/>
            <a:ext cx="9715500" cy="5143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325" b="1" i="0">
                <a:solidFill>
                  <a:srgbClr val="356148"/>
                </a:solidFill>
              </a:defRPr>
            </a:pPr>
            <a:r>
              <a:rPr sz="2325" b="1" i="0">
                <a:solidFill>
                  <a:srgbClr val="356148"/>
                </a:solidFill>
              </a:rPr>
              <a:t>Models propose. Rules decide. Humans own exceptions.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E96E9F6D-639D-454D-B8B8-3DB33D52B99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85800" y="5543550"/>
            <a:ext cx="49530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500" b="1" i="0">
                <a:solidFill>
                  <a:srgbClr val="98263A"/>
                </a:solidFill>
              </a:defRPr>
            </a:pPr>
            <a:r>
              <a:rPr sz="1500" b="1" i="0">
                <a:solidFill>
                  <a:srgbClr val="98263A"/>
                </a:solidFill>
              </a:rPr>
              <a:t>casezero-alpha.vercel.app/live</a:t>
            </a:r>
          </a:p>
        </p:txBody>
      </p:sp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1CC19FB1-3974-4CE6-B81F-8A8C5B36520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172450" y="5505450"/>
            <a:ext cx="33528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4" name="">
            <a:extLst xmlns:a="http://schemas.openxmlformats.org/drawingml/2006/main">
              <a:ext uri="{FF2B5EF4-FFF2-40B4-BE49-F238E27FC236}">
                <a16:creationId xmlns:a16="http://schemas.microsoft.com/office/drawing/2014/main" id="{4FB0E060-0B7E-43F9-8571-07E0022EE74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248650" y="5543550"/>
            <a:ext cx="32004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825" b="1" i="0">
                <a:solidFill>
                  <a:srgbClr val="FFFFFF"/>
                </a:solidFill>
              </a:defRPr>
            </a:pPr>
            <a:r>
              <a:rPr sz="825" b="1" i="0">
                <a:solidFill>
                  <a:srgbClr val="FFFFFF"/>
                </a:solidFill>
              </a:rPr>
              <a:t>READY FOR A CONTROLLED PILOT</a:t>
            </a:r>
          </a:p>
        </p:txBody>
      </p:sp>
    </p:spTree>
    <p:extLst>
      <p:ext uri="{BB962C8B-B14F-4D97-AF65-F5344CB8AC3E}">
        <p14:creationId xmlns:p14="http://schemas.microsoft.com/office/powerpoint/2010/main" val="1720640815"/>
      </p:ext>
    </p:extLst>
  </p:cSld>
</p:sld>
</file>

<file path=ppt/slides/slide15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32561CAB-7CB5-40F2-B82B-4D6ABA468F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AXIOM OPERATING AGENT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85BE2C8-A03F-41DA-90FB-21861DBA31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933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3000" b="1" i="0">
                <a:solidFill>
                  <a:srgbClr val="121914"/>
                </a:solidFill>
              </a:defRPr>
            </a:pPr>
            <a:r>
              <a:rPr sz="3000" b="1" i="0">
                <a:solidFill>
                  <a:srgbClr val="121914"/>
                </a:solidFill>
              </a:rPr>
              <a:t>Natural language helps the human operate—without inventing authority.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EED6EB60-D13A-489A-944C-552E131B4F8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A57D3BC3-BE10-4A9D-B71B-912AA00F713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15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8242F2EC-A620-47C9-804B-99C5F1AF55A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0F5690E7-CE78-434B-A25E-840C07D5ACA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23E3B91B-E331-4645-A503-BA72B123C70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14500"/>
            <a:ext cx="7239000" cy="4229100"/>
          </a:xfrm>
          <a:prstGeom xmlns:a="http://schemas.openxmlformats.org/drawingml/2006/main" prst="roundRect">
            <a:avLst>
              <a:gd name="adj" fmla="val 1802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pic>
        <p:nvPicPr>
          <p:cNvPr id="20" name=""/>
          <p:cNvPicPr>
            <a:picLocks xmlns:a="http://schemas.openxmlformats.org/drawingml/2006/main" noChangeAspect="1"/>
          </p:cNvPicPr>
          <p:nvPr/>
        </p:nvPicPr>
        <p:blipFill>
          <a:blip xmlns:r="http://schemas.openxmlformats.org/officeDocument/2006/relationships" xmlns:a="http://schemas.openxmlformats.org/drawingml/2006/main" r:embed="R77fadc9e76344103"/>
          <a:srcRect xmlns:a="http://schemas.openxmlformats.org/drawingml/2006/main" l="0" t="4917" r="0" b="4917"/>
          <a:stretch xmlns:a="http://schemas.openxmlformats.org/drawingml/2006/main">
            <a:fillRect l="0" t="0" r="0" b="0"/>
          </a:stretch>
        </p:blipFill>
        <p:spPr>
          <a:xfrm xmlns:a="http://schemas.openxmlformats.org/drawingml/2006/main">
            <a:off x="781050" y="1885950"/>
            <a:ext cx="6896100" cy="3886200"/>
          </a:xfrm>
          <a:prstGeom xmlns:a="http://schemas.openxmlformats.org/drawingml/2006/main" prst="roundRect">
            <a:avLst>
              <a:gd name="adj" fmla="val 2941"/>
            </a:avLst>
          </a:prstGeom>
        </p:spPr>
      </p:pic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35235A38-5D62-4A6F-A1D8-5B64428685A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194310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Axiom may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FA9A4BF9-70A9-48FF-9CA1-38C4995FEA9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2362200"/>
            <a:ext cx="2667000" cy="12001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175" b="1" i="0">
                <a:solidFill>
                  <a:srgbClr val="121914"/>
                </a:solidFill>
              </a:defRPr>
            </a:pPr>
            <a:r>
              <a:rPr sz="2175" b="1" i="0">
                <a:solidFill>
                  <a:srgbClr val="121914"/>
                </a:solidFill>
              </a:rPr>
              <a:t>summarise</a:t>
            </a:r>
          </a:p>
          <a:p xmlns:a="http://schemas.openxmlformats.org/drawingml/2006/main">
            <a:pPr algn="l">
              <a:defRPr sz="2175" b="1" i="0">
                <a:solidFill>
                  <a:srgbClr val="121914"/>
                </a:solidFill>
              </a:defRPr>
            </a:pPr>
            <a:r>
              <a:rPr sz="2175" b="1" i="0">
                <a:solidFill>
                  <a:srgbClr val="121914"/>
                </a:solidFill>
              </a:rPr>
              <a:t>navigate</a:t>
            </a:r>
          </a:p>
          <a:p xmlns:a="http://schemas.openxmlformats.org/drawingml/2006/main">
            <a:pPr algn="l">
              <a:defRPr sz="2175" b="1" i="0">
                <a:solidFill>
                  <a:srgbClr val="121914"/>
                </a:solidFill>
              </a:defRPr>
            </a:pPr>
            <a:r>
              <a:rPr sz="2175" b="1" i="0">
                <a:solidFill>
                  <a:srgbClr val="121914"/>
                </a:solidFill>
              </a:rPr>
              <a:t>prepare an action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89A6F8FF-1140-4739-8352-EFC92FAC258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3905250"/>
            <a:ext cx="2476500" cy="3238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350" b="1" i="0">
                <a:solidFill>
                  <a:srgbClr val="98263A"/>
                </a:solidFill>
              </a:defRPr>
            </a:pPr>
            <a:r>
              <a:rPr sz="1350" b="1" i="0">
                <a:solidFill>
                  <a:srgbClr val="98263A"/>
                </a:solidFill>
              </a:rPr>
              <a:t>Axiom may not</a:t>
            </a:r>
          </a:p>
        </p:txBody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95340D2F-EC7C-467E-92A8-57D994D0E8F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362950" y="4324350"/>
            <a:ext cx="2762250" cy="10668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grant itself a role</a:t>
            </a:r>
          </a:p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bypass confirmation</a:t>
            </a:r>
          </a:p>
          <a:p xmlns:a="http://schemas.openxmlformats.org/drawingml/2006/main">
            <a:pPr algn="l">
              <a:defRPr sz="1725" b="1" i="0">
                <a:solidFill>
                  <a:srgbClr val="121914"/>
                </a:solidFill>
              </a:defRPr>
            </a:pPr>
            <a:r>
              <a:rPr sz="1725" b="1" i="0">
                <a:solidFill>
                  <a:srgbClr val="121914"/>
                </a:solidFill>
              </a:rPr>
              <a:t>post without a ticket</a:t>
            </a:r>
          </a:p>
        </p:txBody>
      </p:sp>
    </p:spTree>
    <p:extLst>
      <p:ext uri="{BB962C8B-B14F-4D97-AF65-F5344CB8AC3E}">
        <p14:creationId xmlns:p14="http://schemas.microsoft.com/office/powerpoint/2010/main" val="1421684728"/>
      </p:ext>
    </p:extLst>
  </p:cSld>
</p:sld>
</file>

<file path=ppt/slides/slide16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8340D673-6EB4-45DC-A738-3D6DDA10B6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AGENTS AND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EAE5CED8-12C8-4FD5-917C-F15E7CA774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21914"/>
                </a:solidFill>
              </a:defRPr>
            </a:pPr>
            <a:r>
              <a:rPr sz="2925" b="1" i="0">
                <a:solidFill>
                  <a:srgbClr val="121914"/>
                </a:solidFill>
              </a:rPr>
              <a:t>Likely questions about the six agents and their brains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7B86FAEC-70B6-4EF5-9F0F-612865C2516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9504D37A-31B3-4073-8E81-61FBD3B6B7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16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112576CF-5EDA-475C-BBA4-052E6A8B3BF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8E3E8EE3-635F-4BF7-8E74-65086AAD85B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556C8871-72B7-4F77-AB94-9180F9F710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B8356C92-1E33-47AB-952C-6E28EFC36BE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0FDC4A87-48C5-4190-9CC3-DA8D3C4A9F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Why six agents instead of one?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2BECFD78-B5B5-4622-A8A3-374EBC4C135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Each agent owns one narrow responsibility. That makes failures inspectable and prevents one model from controlling the full case.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575D64AD-1C09-4E62-BCF6-B9E909AD51F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576E514E-07E3-4CB3-934A-3292709D4E3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87EF8319-5518-4687-A805-29CBDBA7737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Which agents use AI?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127D916F-5521-43BA-B0DA-FB549CEF0C7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Intake and Classifier use Gemini; Communicator uses Groq. Verifier, Resolver and Supervisor deliberately make no model call.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464A6EC8-9D66-4B1C-8B6D-4752614DD9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6A218940-4E98-4A4C-A054-C3D410FD5F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A8C7EC7A-C126-4DC5-8F2A-71E0A5B7832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Can you change a model?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EC9141B2-EA9A-4383-AAA9-31A29E16A3D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Yes. Brain routing is separate from policy and authority, so a model can be evaluated or replaced without changing the financial gate.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BAAA912F-F7F7-4331-929A-4D9E68858B7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1753EC35-50BF-4A22-8AAB-CBB76013AA7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602A1C85-CB2B-43FB-B0CC-B46DE4CB3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What does the Compliance Kernel do?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B1C496D0-73BF-475D-9801-930B0EFE56E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It calculates deadlines, checks confidence and evidence, enforces limits, mints signed tickets and inserts mandatory customer wording.</a:t>
            </a:r>
          </a:p>
        </p:txBody>
      </p:sp>
    </p:spTree>
    <p:extLst>
      <p:ext uri="{BB962C8B-B14F-4D97-AF65-F5344CB8AC3E}">
        <p14:creationId xmlns:p14="http://schemas.microsoft.com/office/powerpoint/2010/main" val="499215300"/>
      </p:ext>
    </p:extLst>
  </p:cSld>
</p:sld>
</file>

<file path=ppt/slides/slide17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1A29464-E138-4D48-A851-7202328F837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HUMAN AND RESPONSIBLE AI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4F1B9BFC-C683-4AAF-97A5-28D2756FC1C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21914"/>
                </a:solidFill>
              </a:defRPr>
            </a:pPr>
            <a:r>
              <a:rPr sz="2925" b="1" i="0">
                <a:solidFill>
                  <a:srgbClr val="121914"/>
                </a:solidFill>
              </a:rPr>
              <a:t>Likely questions about people, safety and ethics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803B6621-E911-4C04-9C3B-F577A2BFF7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38B9837A-61D8-46D7-B09D-EAC6130967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17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90A04367-DB60-43E6-8827-3147E16140B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4AB337A9-348C-460F-B7D0-FCB39F6675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061D7B1F-764D-4546-B07F-E32D9ACF33D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76DD101F-8DCB-40B7-B918-600C1560473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D0ED02F4-C3EE-4ABB-BF1D-97B4B099C3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Exactly when does a human enter?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DE636817-984C-4F37-BEA2-CE5C488BAD2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Low confidence, incomplete or contradictory evidence, an amount above the automatic limit, dual control, or any explicit refusal.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F4DC9D30-7E45-4503-94A9-144EBF5F7CB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3E0C5B81-317D-4D99-96CC-32642D59524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DFC3D115-F7E9-4677-A93E-AA2C0430CFC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Can a human override everything?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0AC99A86-347A-4A83-B973-5D7E139A2F0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An authorized person can decide an exception, but the reason is recorded and the action must still pass the same kernel and role checks.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A95B4DB2-53D2-4E51-9807-1091236F12B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2016357-9D9A-45D3-8B7D-9A427C0AB4D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90778B7D-0B49-4063-8879-0CC57ACC9D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What if the PDF contains an attack?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06D58A40-66D1-4C4C-AE5E-B52EA24E6D6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Suspicious instructions are blocked before the first model call. The case is quarantined with an explanation instead of silently continuing.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22262C4D-49ED-4626-921A-0B58F4325BF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1207174-CD0C-4D24-82A6-FDFC8F8CE6C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95118552-9280-4BB0-908B-4BB2D2B8951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What if the AI is wrong?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69B61E20-17AD-4D4D-B65D-57302B492D6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Its output is only a proposal. Bank evidence and deterministic rules can contradict it, and uncertainty routes to a person rather than money movement.</a:t>
            </a:r>
          </a:p>
        </p:txBody>
      </p:sp>
    </p:spTree>
    <p:extLst>
      <p:ext uri="{BB962C8B-B14F-4D97-AF65-F5344CB8AC3E}">
        <p14:creationId xmlns:p14="http://schemas.microsoft.com/office/powerpoint/2010/main" val="1846869509"/>
      </p:ext>
    </p:extLst>
  </p:cSld>
</p:sld>
</file>

<file path=ppt/slides/slide18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EE0EF6A2-E48A-4E52-8085-37F9143A4A5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BUSINESS AND FEASIBILITY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426C9A6-FE66-4C44-95C5-BEEA67CEBE6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21914"/>
                </a:solidFill>
              </a:defRPr>
            </a:pPr>
            <a:r>
              <a:rPr sz="2925" b="1" i="0">
                <a:solidFill>
                  <a:srgbClr val="121914"/>
                </a:solidFill>
              </a:rPr>
              <a:t>Likely questions about value, rollout and adoption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3541A1DC-1CCC-4D98-BC5E-EA469FDD6143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CB49EC29-B244-4200-8C2C-2D2230069D8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18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B4EB5EFD-9895-44E9-B913-B7535435E3E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C291BF25-F539-412F-ABD0-1AB0F618016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A67769AA-EB0C-48F1-BD17-DDB4F13E993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41E4FE11-C24F-449F-9A1F-8AC541954CF1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9DDC1739-D005-4FE9-A031-945F1690573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Who pays and why?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9B5DC752-0680-4E0C-B35A-5B9228D0B4A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A bank complaints operation pays to reduce handling time and deadline risk while preserving review, audit and existing control ownership.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A7249980-EA79-46B3-B560-7A4EBD89D99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861DA34E-DE18-49FF-99DD-64090852307C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EF23F33B-0D57-46DA-B8D6-5610DE3796F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Is 20 seconds realistic?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F37E88E8-A09A-4617-8DD7-928E8352CEB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It is the measured synthetic production run time, not a promise for every real case. Network, evidence and human review can make cases longer.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E7EE2D97-4029-4603-A480-3ECC341F85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39A9DD07-E516-4FB6-A7A5-2DA6AA9B18F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B24C9512-35E9-46CA-BFE6-115D6F3312F2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How would rollout start?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DD382A8D-C302-461E-93FA-4F1B50A912B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Synthetic cases first, then a staff-reviewed pilot for two high-volume categories, then controlled integration after compliance and security approval.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517497A4-C178-4395-AD73-43DA3465464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4077CBBF-A548-4CC2-8339-8ABF6D6AA42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E8A9B27F-7849-4634-B504-816D4D3E2AE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What still belongs to the bank?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C57A0534-2921-4569-9193-F7115BF5EA6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Core and CRM credentials, mailbox transport, operator identities, approval limits, policy ownership, compliance sign-off and production security.</a:t>
            </a:r>
          </a:p>
        </p:txBody>
      </p:sp>
    </p:spTree>
    <p:extLst>
      <p:ext uri="{BB962C8B-B14F-4D97-AF65-F5344CB8AC3E}">
        <p14:creationId xmlns:p14="http://schemas.microsoft.com/office/powerpoint/2010/main" val="774666683"/>
      </p:ext>
    </p:extLst>
  </p:cSld>
</p:sld>
</file>

<file path=ppt/slides/slide19.xml><?xml version="1.0" encoding="utf-8"?>
<p:sld xmlns:p="http://schemas.openxmlformats.org/presentationml/2006/main">
  <p:cSld>
    <p:bg>
      <p:bgPr>
        <a:solidFill xmlns:a="http://schemas.openxmlformats.org/drawingml/2006/main">
          <a:srgbClr val="E4EAE5"/>
        </a:solidFill>
      </p:bgPr>
    </p:bg>
    <p:spTree>
      <p:nvGrpSpPr>
        <p:cNvPr id="1" name=""/>
        <p:cNvGrpSpPr/>
        <p:nvPr/>
      </p:nvGrpSpPr>
      <p:grpSpPr>
        <a:xfrm xmlns:a="http://schemas.openxmlformats.org/drawingml/2006/main"/>
      </p:grpSpPr>
      <p:sp>
        <p:nvSpPr>
          <p:cNvPr id="23" name="">
            <a:extLst xmlns:a="http://schemas.openxmlformats.org/drawingml/2006/main">
              <a:ext uri="{FF2B5EF4-FFF2-40B4-BE49-F238E27FC236}">
                <a16:creationId xmlns:a16="http://schemas.microsoft.com/office/drawing/2014/main" id="{43564A6A-A80E-46B5-8587-DCFF0AC133E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400050"/>
            <a:ext cx="5810250" cy="1905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825" b="1" i="0">
                <a:solidFill>
                  <a:srgbClr val="98263A"/>
                </a:solidFill>
              </a:defRPr>
            </a:pPr>
            <a:r>
              <a:rPr sz="825" b="1" i="0">
                <a:solidFill>
                  <a:srgbClr val="98263A"/>
                </a:solidFill>
              </a:rPr>
              <a:t>APPENDIX · PRODUCT, PROOF AND UX</a:t>
            </a:r>
          </a:p>
        </p:txBody>
      </p:sp>
      <p:sp>
        <p:nvSpPr>
          <p:cNvPr id="2" name="">
            <a:extLst xmlns:a="http://schemas.openxmlformats.org/drawingml/2006/main">
              <a:ext uri="{FF2B5EF4-FFF2-40B4-BE49-F238E27FC236}">
                <a16:creationId xmlns:a16="http://schemas.microsoft.com/office/drawing/2014/main" id="{DB099AEA-F272-4FDC-9E01-F45470DCFEDB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704850"/>
            <a:ext cx="10934700" cy="6667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2925" b="1" i="0">
                <a:solidFill>
                  <a:srgbClr val="121914"/>
                </a:solidFill>
              </a:defRPr>
            </a:pPr>
            <a:r>
              <a:rPr sz="2925" b="1" i="0">
                <a:solidFill>
                  <a:srgbClr val="121914"/>
                </a:solidFill>
              </a:rPr>
              <a:t>Likely questions about the demo and technical proof</a:t>
            </a:r>
          </a:p>
        </p:txBody>
      </p:sp>
      <p:sp>
        <p:nvSpPr>
          <p:cNvPr id="3" name="">
            <a:extLst xmlns:a="http://schemas.openxmlformats.org/drawingml/2006/main">
              <a:ext uri="{FF2B5EF4-FFF2-40B4-BE49-F238E27FC236}">
                <a16:creationId xmlns:a16="http://schemas.microsoft.com/office/drawing/2014/main" id="{CD6EB7EB-C12F-489F-8B16-2CD3490942C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6457950"/>
            <a:ext cx="4953000" cy="152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675" b="1" i="0">
                <a:solidFill>
                  <a:srgbClr val="566159"/>
                </a:solidFill>
              </a:defRPr>
            </a:pPr>
            <a:r>
              <a:rPr sz="675" b="1" i="0">
                <a:solidFill>
                  <a:srgbClr val="566159"/>
                </a:solidFill>
              </a:rPr>
              <a:t>AXIOM BY CASEZERO  ·  APPENDIX / Q&amp;A</a:t>
            </a:r>
          </a:p>
        </p:txBody>
      </p:sp>
      <p:sp>
        <p:nvSpPr>
          <p:cNvPr id="4" name="">
            <a:extLst xmlns:a="http://schemas.openxmlformats.org/drawingml/2006/main">
              <a:ext uri="{FF2B5EF4-FFF2-40B4-BE49-F238E27FC236}">
                <a16:creationId xmlns:a16="http://schemas.microsoft.com/office/drawing/2014/main" id="{497A900D-F04C-42D3-B6FD-22BC9CD4A56D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11144250" y="6438900"/>
            <a:ext cx="419100" cy="171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r">
              <a:defRPr sz="750" b="1" i="0">
                <a:solidFill>
                  <a:srgbClr val="566159"/>
                </a:solidFill>
              </a:defRPr>
            </a:pPr>
            <a:r>
              <a:rPr sz="750" b="1" i="0">
                <a:solidFill>
                  <a:srgbClr val="566159"/>
                </a:solidFill>
              </a:rPr>
              <a:t>19</a:t>
            </a:r>
          </a:p>
        </p:txBody>
      </p:sp>
      <p:sp>
        <p:nvSpPr>
          <p:cNvPr id="5" name="">
            <a:extLst xmlns:a="http://schemas.openxmlformats.org/drawingml/2006/main">
              <a:ext uri="{FF2B5EF4-FFF2-40B4-BE49-F238E27FC236}">
                <a16:creationId xmlns:a16="http://schemas.microsoft.com/office/drawing/2014/main" id="{0A7FD147-9000-4C3F-B67B-660DD5038A0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686800" y="419100"/>
            <a:ext cx="2857500" cy="266700"/>
          </a:xfrm>
          <a:prstGeom xmlns:a="http://schemas.openxmlformats.org/drawingml/2006/main" prst="roundRect">
            <a:avLst>
              <a:gd name="adj" fmla="val 28571"/>
            </a:avLst>
          </a:prstGeom>
          <a:solidFill xmlns:a="http://schemas.openxmlformats.org/drawingml/2006/main">
            <a:srgbClr val="0A100C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6" name="">
            <a:extLst xmlns:a="http://schemas.openxmlformats.org/drawingml/2006/main">
              <a:ext uri="{FF2B5EF4-FFF2-40B4-BE49-F238E27FC236}">
                <a16:creationId xmlns:a16="http://schemas.microsoft.com/office/drawing/2014/main" id="{2DD815E0-4103-4200-BE49-0F83F1C780C7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763000" y="457200"/>
            <a:ext cx="2705100" cy="180975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ctr">
              <a:defRPr sz="750" b="1" i="0">
                <a:solidFill>
                  <a:srgbClr val="FFFFFF"/>
                </a:solidFill>
              </a:defRPr>
            </a:pPr>
            <a:r>
              <a:rPr sz="750" b="1" i="0">
                <a:solidFill>
                  <a:srgbClr val="FFFFFF"/>
                </a:solidFill>
              </a:rPr>
              <a:t>NOT PART OF THE FIVE-MINUTE RUN</a:t>
            </a:r>
          </a:p>
        </p:txBody>
      </p:sp>
      <p:sp>
        <p:nvSpPr>
          <p:cNvPr id="7" name="">
            <a:extLst xmlns:a="http://schemas.openxmlformats.org/drawingml/2006/main">
              <a:ext uri="{FF2B5EF4-FFF2-40B4-BE49-F238E27FC236}">
                <a16:creationId xmlns:a16="http://schemas.microsoft.com/office/drawing/2014/main" id="{48C99B62-C34D-49EE-B70A-DE18D3A146C5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8" name="">
            <a:extLst xmlns:a="http://schemas.openxmlformats.org/drawingml/2006/main">
              <a:ext uri="{FF2B5EF4-FFF2-40B4-BE49-F238E27FC236}">
                <a16:creationId xmlns:a16="http://schemas.microsoft.com/office/drawing/2014/main" id="{CB62C454-1D29-4E83-86F7-46F990ECA05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9" name="">
            <a:extLst xmlns:a="http://schemas.openxmlformats.org/drawingml/2006/main">
              <a:ext uri="{FF2B5EF4-FFF2-40B4-BE49-F238E27FC236}">
                <a16:creationId xmlns:a16="http://schemas.microsoft.com/office/drawing/2014/main" id="{6C703896-0085-4BF0-B7DA-3B8A66C561EE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Is the complaint prefilled?</a:t>
            </a:r>
          </a:p>
        </p:txBody>
      </p:sp>
      <p:sp>
        <p:nvSpPr>
          <p:cNvPr id="10" name="">
            <a:extLst xmlns:a="http://schemas.openxmlformats.org/drawingml/2006/main">
              <a:ext uri="{FF2B5EF4-FFF2-40B4-BE49-F238E27FC236}">
                <a16:creationId xmlns:a16="http://schemas.microsoft.com/office/drawing/2014/main" id="{AF118322-AD19-4537-9700-5BF409A0963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No. Only the demo identity is fictional. Subject, words, amount, merchant and PDF come from the visitor and appear in the input receipt.</a:t>
            </a:r>
          </a:p>
        </p:txBody>
      </p:sp>
      <p:sp>
        <p:nvSpPr>
          <p:cNvPr id="11" name="">
            <a:extLst xmlns:a="http://schemas.openxmlformats.org/drawingml/2006/main">
              <a:ext uri="{FF2B5EF4-FFF2-40B4-BE49-F238E27FC236}">
                <a16:creationId xmlns:a16="http://schemas.microsoft.com/office/drawing/2014/main" id="{9BFF9E00-79B1-4191-AFDC-39EE8B665F2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2" name="">
            <a:extLst xmlns:a="http://schemas.openxmlformats.org/drawingml/2006/main">
              <a:ext uri="{FF2B5EF4-FFF2-40B4-BE49-F238E27FC236}">
                <a16:creationId xmlns:a16="http://schemas.microsoft.com/office/drawing/2014/main" id="{A2D7BDED-AC6B-4AF1-A74C-94277E9DFC3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17335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3" name="">
            <a:extLst xmlns:a="http://schemas.openxmlformats.org/drawingml/2006/main">
              <a:ext uri="{FF2B5EF4-FFF2-40B4-BE49-F238E27FC236}">
                <a16:creationId xmlns:a16="http://schemas.microsoft.com/office/drawing/2014/main" id="{C96A831A-3466-4C42-9F24-85EB69F68C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19240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How do you prove one result?</a:t>
            </a:r>
          </a:p>
        </p:txBody>
      </p:sp>
      <p:sp>
        <p:nvSpPr>
          <p:cNvPr id="14" name="">
            <a:extLst xmlns:a="http://schemas.openxmlformats.org/drawingml/2006/main">
              <a:ext uri="{FF2B5EF4-FFF2-40B4-BE49-F238E27FC236}">
                <a16:creationId xmlns:a16="http://schemas.microsoft.com/office/drawing/2014/main" id="{D0C01975-AFFB-4E38-865A-D909D3696F10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26098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The result includes the visitor-input receipt, agent handoffs, model and bank-tool receipts, balanced journal and a recomputed event chain.</a:t>
            </a:r>
          </a:p>
        </p:txBody>
      </p:sp>
      <p:sp>
        <p:nvSpPr>
          <p:cNvPr id="15" name="">
            <a:extLst xmlns:a="http://schemas.openxmlformats.org/drawingml/2006/main">
              <a:ext uri="{FF2B5EF4-FFF2-40B4-BE49-F238E27FC236}">
                <a16:creationId xmlns:a16="http://schemas.microsoft.com/office/drawing/2014/main" id="{BE5466E5-9AA3-454C-A585-87D9952B74B4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16" name="">
            <a:extLst xmlns:a="http://schemas.openxmlformats.org/drawingml/2006/main">
              <a:ext uri="{FF2B5EF4-FFF2-40B4-BE49-F238E27FC236}">
                <a16:creationId xmlns:a16="http://schemas.microsoft.com/office/drawing/2014/main" id="{DDEAE274-941B-482C-B294-316BC76608F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096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98263A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17" name="">
            <a:extLst xmlns:a="http://schemas.openxmlformats.org/drawingml/2006/main">
              <a:ext uri="{FF2B5EF4-FFF2-40B4-BE49-F238E27FC236}">
                <a16:creationId xmlns:a16="http://schemas.microsoft.com/office/drawing/2014/main" id="{7F8D346C-F18E-4318-8D1B-07F2C77CB996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How is it tested?</a:t>
            </a:r>
          </a:p>
        </p:txBody>
      </p:sp>
      <p:sp>
        <p:nvSpPr>
          <p:cNvPr id="18" name="">
            <a:extLst xmlns:a="http://schemas.openxmlformats.org/drawingml/2006/main">
              <a:ext uri="{FF2B5EF4-FFF2-40B4-BE49-F238E27FC236}">
                <a16:creationId xmlns:a16="http://schemas.microsoft.com/office/drawing/2014/main" id="{29B5BAE7-EC31-40C7-A62F-9B184D96907A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8572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The release gate passes 504 backend tests, 29 browser journeys, type checking, production build, slide/PDF rendering and dependency audit.</a:t>
            </a:r>
          </a:p>
        </p:txBody>
      </p:sp>
      <p:sp>
        <p:nvSpPr>
          <p:cNvPr id="19" name="">
            <a:extLst xmlns:a="http://schemas.openxmlformats.org/drawingml/2006/main">
              <a:ext uri="{FF2B5EF4-FFF2-40B4-BE49-F238E27FC236}">
                <a16:creationId xmlns:a16="http://schemas.microsoft.com/office/drawing/2014/main" id="{6BB92943-812A-4F17-8B5D-5F157D336AEF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5257800" cy="2019300"/>
          </a:xfrm>
          <a:prstGeom xmlns:a="http://schemas.openxmlformats.org/drawingml/2006/main" prst="roundRect">
            <a:avLst>
              <a:gd name="adj" fmla="val 3774"/>
            </a:avLst>
          </a:prstGeom>
          <a:solidFill xmlns:a="http://schemas.openxmlformats.org/drawingml/2006/main">
            <a:srgbClr val="F5F7F5"/>
          </a:solidFill>
          <a:ln xmlns:a="http://schemas.openxmlformats.org/drawingml/2006/main" w="9525">
            <a:solidFill>
              <a:srgbClr val="A8BFB0"/>
            </a:solidFill>
            <a:prstDash val="solid"/>
          </a:ln>
        </p:spPr>
      </p:sp>
      <p:sp>
        <p:nvSpPr>
          <p:cNvPr id="20" name="">
            <a:extLst xmlns:a="http://schemas.openxmlformats.org/drawingml/2006/main">
              <a:ext uri="{FF2B5EF4-FFF2-40B4-BE49-F238E27FC236}">
                <a16:creationId xmlns:a16="http://schemas.microsoft.com/office/drawing/2014/main" id="{FA96006A-75AE-452A-AB53-D528415CD998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172200" y="3943350"/>
            <a:ext cx="76200" cy="2019300"/>
          </a:xfrm>
          <a:prstGeom xmlns:a="http://schemas.openxmlformats.org/drawingml/2006/main" prst="rect">
            <a:avLst/>
          </a:prstGeom>
          <a:solidFill xmlns:a="http://schemas.openxmlformats.org/drawingml/2006/main">
            <a:srgbClr val="356148"/>
          </a:solidFill>
          <a:ln xmlns:a="http://schemas.openxmlformats.org/drawingml/2006/main" w="0">
            <a:noFill/>
            <a:prstDash val="solid"/>
          </a:ln>
        </p:spPr>
      </p:sp>
      <p:sp>
        <p:nvSpPr>
          <p:cNvPr id="21" name="">
            <a:extLst xmlns:a="http://schemas.openxmlformats.org/drawingml/2006/main">
              <a:ext uri="{FF2B5EF4-FFF2-40B4-BE49-F238E27FC236}">
                <a16:creationId xmlns:a16="http://schemas.microsoft.com/office/drawing/2014/main" id="{33987009-A95A-4157-8E30-53449FD144C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133850"/>
            <a:ext cx="4762500" cy="55245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425" b="1" i="0">
                <a:solidFill>
                  <a:srgbClr val="121914"/>
                </a:solidFill>
              </a:defRPr>
            </a:pPr>
            <a:r>
              <a:rPr sz="1425" b="1" i="0">
                <a:solidFill>
                  <a:srgbClr val="121914"/>
                </a:solidFill>
              </a:rPr>
              <a:t>Is the interface accessible?</a:t>
            </a:r>
          </a:p>
        </p:txBody>
      </p:sp>
      <p:sp>
        <p:nvSpPr>
          <p:cNvPr id="22" name="">
            <a:extLst xmlns:a="http://schemas.openxmlformats.org/drawingml/2006/main">
              <a:ext uri="{FF2B5EF4-FFF2-40B4-BE49-F238E27FC236}">
                <a16:creationId xmlns:a16="http://schemas.microsoft.com/office/drawing/2014/main" id="{479EC9C6-0703-497C-85B0-5832D93CBCA9}"/>
              </a:ext>
            </a:extLst>
          </p:cNvPr>
          <p:cNvSpPr>
            <a:spLocks xmlns:a="http://schemas.openxmlformats.org/drawingml/2006/main" noGrp="1"/>
          </p:cNvSpPr>
          <p:nvPr/>
        </p:nvSpPr>
        <p:spPr>
          <a:xfrm xmlns:a="http://schemas.openxmlformats.org/drawingml/2006/main">
            <a:off x="6419850" y="4819650"/>
            <a:ext cx="4762500" cy="914400"/>
          </a:xfrm>
          <a:prstGeom xmlns:a="http://schemas.openxmlformats.org/drawingml/2006/main" prst="rect">
            <a:avLst/>
          </a:prstGeom>
          <a:noFill xmlns:a="http://schemas.openxmlformats.org/drawingml/2006/main"/>
          <a:ln xmlns:a="http://schemas.openxmlformats.org/drawingml/2006/main" w="0">
            <a:noFill/>
            <a:prstDash val="solid"/>
          </a:ln>
        </p:spPr>
        <p:txBody>
          <a:bodyPr xmlns:a="http://schemas.openxmlformats.org/drawingml/2006/main"/>
          <a:lstStyle xmlns:a="http://schemas.openxmlformats.org/drawingml/2006/main"/>
          <a:p xmlns:a="http://schemas.openxmlformats.org/drawingml/2006/main">
            <a:pPr algn="l">
              <a:defRPr sz="1125" b="0" i="0">
                <a:solidFill>
                  <a:srgbClr val="566159"/>
                </a:solidFill>
              </a:defRPr>
            </a:pPr>
            <a:r>
              <a:rPr sz="1125" b="0" i="0">
                <a:solidFill>
                  <a:srgbClr val="566159"/>
                </a:solidFill>
              </a:rPr>
              <a:t>The live path supports keyboard use, visible focus, reduced motion, readable refusal states and zero horizontal overflow at 390 pixels.</a:t>
            </a:r>
          </a:p>
        </p:txBody>
      </p:sp>
    </p:spTree>
    <p:extLst>
      <p:ext uri="{BB962C8B-B14F-4D97-AF65-F5344CB8AC3E}">
        <p14:creationId xmlns:p14="http://schemas.microsoft.com/office/powerpoint/2010/main" val="402226095"/>
      </p:ext>
    </p:extLst>
  </p:cSld>
</p:sld>
</file>

<file path=ppt/theme/theme1.xml><?xml version="1.0" encoding="utf-8"?>
<a:theme xmlns:a="http://schemas.openxmlformats.org/drawingml/2006/main" name="ChatGPT">
  <a:themeElements>
    <a:clrScheme name="ChatGPT">
      <a:dk1>
        <a:srgbClr val="000000"/>
      </a:dk1>
      <a:lt1>
        <a:srgbClr val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Calibri Light"/>
        <a:ea typeface="Calibri Light"/>
        <a:cs typeface="Calibri Light"/>
      </a:majorFont>
      <a:minorFont>
        <a:latin typeface="Calibri"/>
        <a:ea typeface="Calibri"/>
        <a:cs typeface="Calibri"/>
      </a:minorFont>
    </a:fontScheme>
    <a:fmtScheme name="ChatGPT">
      <a:fillStyleLst>
        <a:solidFill>
          <a:schemeClr val="phClr"/>
        </a:solidFill>
        <a:gradFill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19050" dist="9525" dir="5400000">
              <a:srgbClr val="000000">
                <a:alpha val="6000"/>
              </a:srgbClr>
            </a:outerShdw>
          </a:effectLst>
        </a:effectStyle>
        <a:effectStyle>
          <a:effectLst>
            <a:outerShdw blurRad="28575" dist="9525" dir="5400000">
              <a:srgbClr val="000000">
                <a:alpha val="8000"/>
              </a:srgbClr>
            </a:outerShdw>
          </a:effectLst>
        </a:effectStyle>
        <a:effectStyle>
          <a:effectLst>
            <a:outerShdw blurRad="57150" dist="19050" dir="5400000">
              <a:srgbClr val="000000">
                <a:alpha val="10000"/>
              </a:srgbClr>
            </a:outerShdw>
          </a:effectLst>
        </a:effectStyle>
        <a:effectStyle>
          <a:effectLst>
            <a:outerShdw blurRad="114300" dist="38100" dir="5400000">
              <a:srgbClr val="000000">
                <a:alpha val="12000"/>
              </a:srgbClr>
            </a:outerShdw>
          </a:effectLst>
        </a:effectStyle>
        <a:effectStyle>
          <a:effectLst>
            <a:outerShdw blurRad="171450" dist="57150" dir="5400000">
              <a:srgbClr val="000000">
                <a:alpha val="16000"/>
              </a:srgbClr>
            </a:outerShdw>
          </a:effectLst>
        </a:effectStyle>
        <a:effectStyle>
          <a:effectLst>
            <a:outerShdw blurRad="266700" dist="95250" dir="5400000">
              <a:srgbClr val="000000">
                <a:alpha val="24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</a:theme>
</file>

<file path=docProps/app.xml><?xml version="1.0" encoding="utf-8"?>
<ap:Properties xmlns:ap="http://schemas.openxmlformats.org/officeDocument/2006/extended-properties">
  <ap:Application>Walnut Exporter</ap:Application>
  <ap:PresentationFormat>Converted Presentation</ap:PresentationFormat>
  <ap:Slides>0</ap:Slides>
  <ap:Notes>0</ap:Notes>
  <ap:HiddenSlides>0</ap:HiddenSlides>
  <ap:SharedDoc>false</ap:SharedDoc>
  <ap:DocSecurity>0</ap:DocSecurity>
</ap:Properties>
</file>

<file path=docProps/core.xml><?xml version="1.0" encoding="utf-8"?>
<coreProperties xmlns:dc="http://purl.org/dc/elements/1.1/" xmlns:dcterms="http://purl.org/dc/terms/" xmlns:xsi="http://www.w3.org/2001/XMLSchema-instance" xmlns="http://schemas.openxmlformats.org/package/2006/metadata/core-properties">
  <dc:creator>Walnut Exporter</dc:creator>
  <lastModifiedBy>Walnut Exporter</lastModifiedBy>
  <dc:title>Presentation</dc:title>
  <dcterms:created xsi:type="dcterms:W3CDTF">2026-08-11T19:39:25.6300000Z</dcterms:created>
  <dcterms:modified xsi:type="dcterms:W3CDTF">2026-08-11T19:39:25.6300000Z</dcterms:modified>
</coreProperties>
</file>