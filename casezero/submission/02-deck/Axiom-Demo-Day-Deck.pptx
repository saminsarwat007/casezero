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bf9898b9214cb2" /><Relationship Type="http://schemas.openxmlformats.org/officeDocument/2006/relationships/extended-properties" Target="/docProps/app.xml" Id="R09fd410ba22145f5" /><Relationship Type="http://schemas.openxmlformats.org/officeDocument/2006/relationships/officeDocument" Target="/ppt/presentation.xml" Id="Re737fd236a2640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c0724ff833481d"/>
  </p:sldMasterIdLst>
  <p:notesMasterIdLst>
    <p:notesMasterId xmlns:r="http://schemas.openxmlformats.org/officeDocument/2006/relationships" r:id="R38b80c1218024382"/>
  </p:notesMasterIdLst>
  <p:sldIdLst>
    <p:sldId xmlns:r="http://schemas.openxmlformats.org/officeDocument/2006/relationships" id="256" r:id="Ref846723b2eb4352"/>
    <p:sldId xmlns:r="http://schemas.openxmlformats.org/officeDocument/2006/relationships" id="257" r:id="R5986fd15b6414ff0"/>
    <p:sldId xmlns:r="http://schemas.openxmlformats.org/officeDocument/2006/relationships" id="258" r:id="R8241f62854ff4e37"/>
    <p:sldId xmlns:r="http://schemas.openxmlformats.org/officeDocument/2006/relationships" id="259" r:id="R88979e8f60f24d4d"/>
    <p:sldId xmlns:r="http://schemas.openxmlformats.org/officeDocument/2006/relationships" id="260" r:id="R268d9c2cba4c448c"/>
    <p:sldId xmlns:r="http://schemas.openxmlformats.org/officeDocument/2006/relationships" id="261" r:id="R99b18fb3c1f94c68"/>
    <p:sldId xmlns:r="http://schemas.openxmlformats.org/officeDocument/2006/relationships" id="262" r:id="Rdd7897e2a1d44290"/>
    <p:sldId xmlns:r="http://schemas.openxmlformats.org/officeDocument/2006/relationships" id="263" r:id="Rcf661fa9c5bc4187"/>
    <p:sldId xmlns:r="http://schemas.openxmlformats.org/officeDocument/2006/relationships" id="264" r:id="R9c331b7ee29a4a6b"/>
    <p:sldId xmlns:r="http://schemas.openxmlformats.org/officeDocument/2006/relationships" id="265" r:id="R132934ff75ba43b4"/>
    <p:sldId xmlns:r="http://schemas.openxmlformats.org/officeDocument/2006/relationships" id="266" r:id="Ra88f929693374889"/>
    <p:sldId xmlns:r="http://schemas.openxmlformats.org/officeDocument/2006/relationships" id="267" r:id="Re7baf2c11ce64663"/>
    <p:sldId xmlns:r="http://schemas.openxmlformats.org/officeDocument/2006/relationships" id="268" r:id="R9e9211ce62574cbc"/>
    <p:sldId xmlns:r="http://schemas.openxmlformats.org/officeDocument/2006/relationships" id="269" r:id="Rd65dea187aff47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5045bb44654791" /><Relationship Type="http://schemas.openxmlformats.org/officeDocument/2006/relationships/slideMaster" Target="/ppt/slideMasters/slideMaster1.xml" Id="R27c0724ff833481d" /><Relationship Type="http://schemas.openxmlformats.org/officeDocument/2006/relationships/notesMaster" Target="/ppt/notesMasters/notesMaster1.xml" Id="R38b80c1218024382" /><Relationship Type="http://schemas.openxmlformats.org/officeDocument/2006/relationships/presProps" Target="/ppt/presProps.xml" Id="R5eb092ad11cf4e45" /><Relationship Type="http://schemas.openxmlformats.org/officeDocument/2006/relationships/tableStyles" Target="/ppt/tableStyles.xml" Id="R848bd16c013848bf" /><Relationship Type="http://schemas.openxmlformats.org/officeDocument/2006/relationships/slide" Target="/ppt/slides/slide1.xml" Id="Ref846723b2eb4352" /><Relationship Type="http://schemas.openxmlformats.org/officeDocument/2006/relationships/slide" Target="/ppt/slides/slide2.xml" Id="R5986fd15b6414ff0" /><Relationship Type="http://schemas.openxmlformats.org/officeDocument/2006/relationships/slide" Target="/ppt/slides/slide3.xml" Id="R8241f62854ff4e37" /><Relationship Type="http://schemas.openxmlformats.org/officeDocument/2006/relationships/slide" Target="/ppt/slides/slide4.xml" Id="R88979e8f60f24d4d" /><Relationship Type="http://schemas.openxmlformats.org/officeDocument/2006/relationships/slide" Target="/ppt/slides/slide5.xml" Id="R268d9c2cba4c448c" /><Relationship Type="http://schemas.openxmlformats.org/officeDocument/2006/relationships/slide" Target="/ppt/slides/slide6.xml" Id="R99b18fb3c1f94c68" /><Relationship Type="http://schemas.openxmlformats.org/officeDocument/2006/relationships/slide" Target="/ppt/slides/slide7.xml" Id="Rdd7897e2a1d44290" /><Relationship Type="http://schemas.openxmlformats.org/officeDocument/2006/relationships/slide" Target="/ppt/slides/slide8.xml" Id="Rcf661fa9c5bc4187" /><Relationship Type="http://schemas.openxmlformats.org/officeDocument/2006/relationships/slide" Target="/ppt/slides/slide9.xml" Id="R9c331b7ee29a4a6b" /><Relationship Type="http://schemas.openxmlformats.org/officeDocument/2006/relationships/slide" Target="/ppt/slides/slide10.xml" Id="R132934ff75ba43b4" /><Relationship Type="http://schemas.openxmlformats.org/officeDocument/2006/relationships/slide" Target="/ppt/slides/slide11.xml" Id="Ra88f929693374889" /><Relationship Type="http://schemas.openxmlformats.org/officeDocument/2006/relationships/slide" Target="/ppt/slides/slide12.xml" Id="Re7baf2c11ce64663" /><Relationship Type="http://schemas.openxmlformats.org/officeDocument/2006/relationships/slide" Target="/ppt/slides/slide13.xml" Id="R9e9211ce62574cbc" /><Relationship Type="http://schemas.openxmlformats.org/officeDocument/2006/relationships/slide" Target="/ppt/slides/slide14.xml" Id="Rd65dea187aff47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a98cabc2af49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1f1627ce7d4011" /><Relationship Type="http://schemas.openxmlformats.org/officeDocument/2006/relationships/notesMaster" Target="/ppt/notesMasters/notesMaster1.xml" Id="R86e1bc74496641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22b45290e24bc3" /><Relationship Type="http://schemas.openxmlformats.org/officeDocument/2006/relationships/notesMaster" Target="/ppt/notesMasters/notesMaster1.xml" Id="Re5a7381a606845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079b681df842e1" /><Relationship Type="http://schemas.openxmlformats.org/officeDocument/2006/relationships/notesMaster" Target="/ppt/notesMasters/notesMaster1.xml" Id="Rcdd5cc681ff343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49895ed09645d5" /><Relationship Type="http://schemas.openxmlformats.org/officeDocument/2006/relationships/notesMaster" Target="/ppt/notesMasters/notesMaster1.xml" Id="Reb7645535f9d43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a0c6bed018493d" /><Relationship Type="http://schemas.openxmlformats.org/officeDocument/2006/relationships/notesMaster" Target="/ppt/notesMasters/notesMaster1.xml" Id="Re2ca82ce8d6045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6aed613afe4808" /><Relationship Type="http://schemas.openxmlformats.org/officeDocument/2006/relationships/notesMaster" Target="/ppt/notesMasters/notesMaster1.xml" Id="R768cd6bb336548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3735354f9544e8" /><Relationship Type="http://schemas.openxmlformats.org/officeDocument/2006/relationships/notesMaster" Target="/ppt/notesMasters/notesMaster1.xml" Id="R3124959ec0de45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97c026d01042eb" /><Relationship Type="http://schemas.openxmlformats.org/officeDocument/2006/relationships/notesMaster" Target="/ppt/notesMasters/notesMaster1.xml" Id="Re57965690b6f46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48a51aff084483" /><Relationship Type="http://schemas.openxmlformats.org/officeDocument/2006/relationships/notesMaster" Target="/ppt/notesMasters/notesMaster1.xml" Id="Re9d63a8d429641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6a7f07e7604700" /><Relationship Type="http://schemas.openxmlformats.org/officeDocument/2006/relationships/notesMaster" Target="/ppt/notesMasters/notesMaster1.xml" Id="Rfaef1cc48e1d4c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be3e32a5a14379" /><Relationship Type="http://schemas.openxmlformats.org/officeDocument/2006/relationships/notesMaster" Target="/ppt/notesMasters/notesMaster1.xml" Id="R578f37c7171a4e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0ad711b84d4205" /><Relationship Type="http://schemas.openxmlformats.org/officeDocument/2006/relationships/notesMaster" Target="/ppt/notesMasters/notesMaster1.xml" Id="R07ce083573ff46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f9e39899214465" /><Relationship Type="http://schemas.openxmlformats.org/officeDocument/2006/relationships/notesMaster" Target="/ppt/notesMasters/notesMaster1.xml" Id="R43fec9494d514c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d00c51fdd74dfd" /><Relationship Type="http://schemas.openxmlformats.org/officeDocument/2006/relationships/notesMaster" Target="/ppt/notesMasters/notesMaster1.xml" Id="R17a789355c5d43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0:00–0:20 (20 seconds).</a:t>
            </a:r>
          </a:p>
          <a:p xmlns:a="http://schemas.openxmlformats.org/drawingml/2006/main">
            <a:r>
              <a:t>Talk track: ‘A complaint should not disappear between desks. Today I’ll show one customer-written complaint become a visible, governed bank outcome.’</a:t>
            </a:r>
          </a:p>
          <a:p xmlns:a="http://schemas.openxmlformats.org/drawingml/2006/main">
            <a:r>
              <a:t>Pause after ‘between desks’; then move directly to the human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 Demo Day Guideline supplied by the user, 12 Aug 2026.</a:t>
            </a:r>
          </a:p>
          <a:p xmlns:a="http://schemas.openxmlformats.org/drawingml/2006/main">
            <a:r>
              <a:t>- submission/01-project-copy/PROJECT_DESCRIPTION.md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0:20–0:50 (30 seconds).</a:t>
            </a:r>
          </a:p>
          <a:p xmlns:a="http://schemas.openxmlformats.org/drawingml/2006/main">
            <a:r>
              <a:t>Talk track: ‘This case-study bank serves 1.8 million customers. A complaint takes 90 minutes, and 11% of deadlines are missed. The harder problem is that evidence, ownership and deadlines drift between desks.’</a:t>
            </a:r>
          </a:p>
          <a:p xmlns:a="http://schemas.openxmlformats.org/drawingml/2006/main">
            <a:r>
              <a:t>The three figures are case-study baselines, not claims from the live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Real-world scenario insight.</a:t>
            </a:r>
          </a:p>
          <a:p xmlns:a="http://schemas.openxmlformats.org/drawingml/2006/main">
            <a:r>
              <a:t>- submission/01-project-copy/RUBRIC_MAP.md — Impact &amp; Relevance.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0:50–1:20 (30 seconds).</a:t>
            </a:r>
          </a:p>
          <a:p xmlns:a="http://schemas.openxmlformats.org/drawingml/2006/main">
            <a:r>
              <a:t>Talk track: ‘CaseZero keeps the whole journey in one visible room. The customer writes. A specialist team checks. The system then signs a safe outcome. AI helps with meaning; bank rules own the irreversible decisions.’</a:t>
            </a:r>
          </a:p>
          <a:p xmlns:a="http://schemas.openxmlformats.org/drawingml/2006/main">
            <a:r>
              <a:t>This slide is the map for the live demo. Do not explain implementation details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Comprehensive solution design.</a:t>
            </a:r>
          </a:p>
          <a:p xmlns:a="http://schemas.openxmlformats.org/drawingml/2006/main">
            <a:r>
              <a:t>- submission/01-project-copy/RUBRIC_MAP.md — Human-Centered Design and AI Interaction.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1:20–2:30 (70 seconds including interaction).</a:t>
            </a:r>
          </a:p>
          <a:p xmlns:a="http://schemas.openxmlformats.org/drawingml/2006/main">
            <a:r>
              <a:t>Live-demo cue: open https://casezero-alpha.vercel.app/live, select a fictional persona, type a short complaint, enter the PDF amount and merchant, attach a PDF, then select ‘Run my complaint’.</a:t>
            </a:r>
          </a:p>
          <a:p xmlns:a="http://schemas.openxmlformats.org/drawingml/2006/main">
            <a:r>
              <a:t>Say: ‘The identity is fictional so nobody needs real bank data. The complaint, amount, merchant and PDF are mine. There is no prefilled complaint.’</a:t>
            </a:r>
          </a:p>
          <a:p xmlns:a="http://schemas.openxmlformats.org/drawingml/2006/main">
            <a:r>
              <a:t>While the run is processing, point to the visible handoff rail and explain that each specialist leaves a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dashboard/app/live/page.tsx — stakeholder composer and fictional-identity disclosure.</a:t>
            </a:r>
          </a:p>
          <a:p xmlns:a="http://schemas.openxmlformats.org/drawingml/2006/main">
            <a:r>
              <a:t>- dashboard/e2e/live.spec.ts — visitor subject, body and PDF assertions.</a:t>
            </a:r>
          </a:p>
          <a:p xmlns:a="http://schemas.openxmlformats.org/drawingml/2006/main">
            <a:r>
              <a:t>- submission/assets/deck/composer.png — fresh local browser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2:30–3:10 (40 seconds).</a:t>
            </a:r>
          </a:p>
          <a:p xmlns:a="http://schemas.openxmlformats.org/drawingml/2006/main">
            <a:r>
              <a:t>Live-demo cue: when the run completes, point first to ‘This result starts with what you submitted’. Confirm the subject, amount, merchant, PDF name and body fingerprint on screen.</a:t>
            </a:r>
          </a:p>
          <a:p xmlns:a="http://schemas.openxmlformats.org/drawingml/2006/main">
            <a:r>
              <a:t>Then point to the verified result, the linked event count and the balanced journal. Avoid reading every receipt; the judges only need to see the proof is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api/main.py — stakeholder-authored proof input and execution evidence.</a:t>
            </a:r>
          </a:p>
          <a:p xmlns:a="http://schemas.openxmlformats.org/drawingml/2006/main">
            <a:r>
              <a:t>- api/tests/test_api.py — custom visitor complaint/PDF integration test.</a:t>
            </a:r>
          </a:p>
          <a:p xmlns:a="http://schemas.openxmlformats.org/drawingml/2006/main">
            <a:r>
              <a:t>- submission/assets/deck/input-receipt.png — fresh local browser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3:10–3:45 (35 seconds).</a:t>
            </a:r>
          </a:p>
          <a:p xmlns:a="http://schemas.openxmlformats.org/drawingml/2006/main">
            <a:r>
              <a:t>Talk track: ‘A fast wrong answer is still wrong. Models help interpret. Deterministic bank rules decide the irreversible parts. If an upload contains prompt injection or a foreign identity, CaseZero refuses it before the first model call and explains what a person should do next.’</a:t>
            </a:r>
          </a:p>
          <a:p xmlns:a="http://schemas.openxmlformats.org/drawingml/2006/main">
            <a:r>
              <a:t>If time permits, use the sample-run refusal control; otherwise use this slide as the refusal proof.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responsible-AI controls.</a:t>
            </a:r>
          </a:p>
          <a:p xmlns:a="http://schemas.openxmlformats.org/drawingml/2006/main">
            <a:r>
              <a:t>- submission/01-project-copy/RUBRIC_MAP.md — Responsible AI &amp; Ethics.</a:t>
            </a:r>
          </a:p>
          <a:p xmlns:a="http://schemas.openxmlformats.org/drawingml/2006/main">
            <a:r>
              <a:t>- submission/assets/deck/boardroom-refused.png — fresh local browser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3:45–4:25 (40 seconds).</a:t>
            </a:r>
          </a:p>
          <a:p xmlns:a="http://schemas.openxmlformats.org/drawingml/2006/main">
            <a:r>
              <a:t>Talk track: ‘The case-study baseline is 90 minutes. Our current public proof completes in under 30 seconds. We start with unauthorized transactions and billing errors—57% of stated volume—then integrate bank-owned systems only after compliance and security approval.’</a:t>
            </a:r>
          </a:p>
          <a:p xmlns:a="http://schemas.openxmlformats.org/drawingml/2006/main">
            <a:r>
              <a:t>Important: call 90 minutes a baseline and under 30 seconds a measured public-run result. The 57% is a case-study rollout assumption.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Business value and feasibility caveat.</a:t>
            </a:r>
          </a:p>
          <a:p xmlns:a="http://schemas.openxmlformats.org/drawingml/2006/main">
            <a:r>
              <a:t>- Public production proof recorded by the CaseZero API; exact run ID is refreshed during final deployment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4:25–4:40 (15 seconds). Keep the remaining twenty seconds as demo buffer.</a:t>
            </a:r>
          </a:p>
          <a:p xmlns:a="http://schemas.openxmlformats.org/drawingml/2006/main">
            <a:r>
              <a:t>Talk track: ‘Give us one complaint. We’ll give every customer, operator and auditor the same provable story. CaseZero turns trust from a promise into something you can inspect.’</a:t>
            </a:r>
          </a:p>
          <a:p xmlns:a="http://schemas.openxmlformats.org/drawingml/2006/main">
            <a:r>
              <a:t>End on the URL. Do not add a new feature list. Invite questions and jump to the relevant appendix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 Demo Day Guideline supplied by the user, 12 Aug 2026.</a:t>
            </a:r>
          </a:p>
          <a:p xmlns:a="http://schemas.openxmlformats.org/drawingml/2006/main">
            <a:r>
              <a:t>- Live URL: https://casezero-alpha.vercel.app/live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use only. Do not present this slide in the timed five-minute run.</a:t>
            </a:r>
          </a:p>
          <a:p xmlns:a="http://schemas.openxmlformats.org/drawingml/2006/main">
            <a:r>
              <a:t>Click to this slide only when a judge asks a related question. Start with the one-sentence answer shown; add detail only if requested.</a:t>
            </a:r>
          </a:p>
          <a:p xmlns:a="http://schemas.openxmlformats.org/drawingml/2006/main">
            <a:r>
              <a:t>Questions covered: Who is the primary user? | What changes for the customer? | What changes for the bank? | How do you measure value?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UI_UX_AUDIT.md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use only. Do not present this slide in the timed five-minute run.</a:t>
            </a:r>
          </a:p>
          <a:p xmlns:a="http://schemas.openxmlformats.org/drawingml/2006/main">
            <a:r>
              <a:t>Click to this slide only when a judge asks a related question. Start with the one-sentence answer shown; add detail only if requested.</a:t>
            </a:r>
          </a:p>
          <a:p xmlns:a="http://schemas.openxmlformats.org/drawingml/2006/main">
            <a:r>
              <a:t>Questions covered: Where is AI used? | What does AI never decide? | What makes CaseZero different? | Why six specialists?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UI_UX_AUDIT.md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use only. Do not present this slide in the timed five-minute run.</a:t>
            </a:r>
          </a:p>
          <a:p xmlns:a="http://schemas.openxmlformats.org/drawingml/2006/main">
            <a:r>
              <a:t>Click to this slide only when a judge asks a related question. Start with the one-sentence answer shown; add detail only if requested.</a:t>
            </a:r>
          </a:p>
          <a:p xmlns:a="http://schemas.openxmlformats.org/drawingml/2006/main">
            <a:r>
              <a:t>Questions covered: What happens if the AI is uncertain? | How do you handle prompt injection? | How is personal data protected? | Can staff override the system?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UI_UX_AUDIT.md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use only. Do not present this slide in the timed five-minute run.</a:t>
            </a:r>
          </a:p>
          <a:p xmlns:a="http://schemas.openxmlformats.org/drawingml/2006/main">
            <a:r>
              <a:t>Click to this slide only when a judge asks a related question. Start with the one-sentence answer shown; add detail only if requested.</a:t>
            </a:r>
          </a:p>
          <a:p xmlns:a="http://schemas.openxmlformats.org/drawingml/2006/main">
            <a:r>
              <a:t>Questions covered: Is this only a prototype? | What still needs the bank? | How would you start? | What if a bank already has a case system?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UI_UX_AUDIT.md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use only. Do not present this slide in the timed five-minute run.</a:t>
            </a:r>
          </a:p>
          <a:p xmlns:a="http://schemas.openxmlformats.org/drawingml/2006/main">
            <a:r>
              <a:t>Click to this slide only when a judge asks a related question. Start with the one-sentence answer shown; add detail only if requested.</a:t>
            </a:r>
          </a:p>
          <a:p xmlns:a="http://schemas.openxmlformats.org/drawingml/2006/main">
            <a:r>
              <a:t>Questions covered: Is the complaint prefilled? | Does the PDF really matter? | What if the PDF is scanned? | Is it accessible on mobile?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UI_UX_AUDIT.md</a:t>
            </a:r>
          </a:p>
          <a:p xmlns:a="http://schemas.openxmlformats.org/drawingml/2006/main">
            <a:r>
              <a:t>- dashboard/app/live/page.tsx and dashboard/e2e/live.spec.ts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use only. Do not present this slide in the timed five-minute run.</a:t>
            </a:r>
          </a:p>
          <a:p xmlns:a="http://schemas.openxmlformats.org/drawingml/2006/main">
            <a:r>
              <a:t>Click to this slide only when a judge asks a related question. Start with the one-sentence answer shown; add detail only if requested.</a:t>
            </a:r>
          </a:p>
          <a:p xmlns:a="http://schemas.openxmlformats.org/drawingml/2006/main">
            <a:r>
              <a:t>Questions covered: What proof does one run leave? | Can a model fake a successful result? | How is it tested? | What should we verify live?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UI_UX_AUDIT.md</a:t>
            </a:r>
          </a:p>
          <a:p xmlns:a="http://schemas.openxmlformats.org/drawingml/2006/main">
            <a:r>
              <a:t>- api/main.py and api/tests/test_api.py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353b92baf743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322ef44faa4e1f" /><Relationship Type="http://schemas.openxmlformats.org/officeDocument/2006/relationships/slideLayout" Target="/ppt/slideLayouts/slideLayout1.xml" Id="Rede5e012705045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e5e012705045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4d4981d314040" /><Relationship Type="http://schemas.openxmlformats.org/officeDocument/2006/relationships/notesSlide" Target="/ppt/notesSlides/notesSlide1.xml" Id="R0288df79219b4b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c6a391fc84554" /><Relationship Type="http://schemas.openxmlformats.org/officeDocument/2006/relationships/notesSlide" Target="/ppt/notesSlides/notesSlide2.xml" Id="R18cb71954dfb4c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d8450b3d64e65" /><Relationship Type="http://schemas.openxmlformats.org/officeDocument/2006/relationships/notesSlide" Target="/ppt/notesSlides/notesSlide3.xml" Id="Re6c47a2c61e14b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9c95ddd4b4b29" /><Relationship Type="http://schemas.openxmlformats.org/officeDocument/2006/relationships/image" Target="/ppt/media/image.png" Id="Rbb4111933e8944bd" /><Relationship Type="http://schemas.openxmlformats.org/officeDocument/2006/relationships/notesSlide" Target="/ppt/notesSlides/notesSlide4.xml" Id="R1f444643754d4f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fb7eba3f24488" /><Relationship Type="http://schemas.openxmlformats.org/officeDocument/2006/relationships/image" Target="/ppt/media/image2.png" Id="Rc00e950668c746b2" /><Relationship Type="http://schemas.openxmlformats.org/officeDocument/2006/relationships/notesSlide" Target="/ppt/notesSlides/notesSlide5.xml" Id="R4a1d6bfe3fd449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cc3c825f143e4" /><Relationship Type="http://schemas.openxmlformats.org/officeDocument/2006/relationships/image" Target="/ppt/media/image3.png" Id="Ra547890c625e45dd" /><Relationship Type="http://schemas.openxmlformats.org/officeDocument/2006/relationships/notesSlide" Target="/ppt/notesSlides/notesSlide6.xml" Id="R59730c5973d949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26ef48efe4fea" /><Relationship Type="http://schemas.openxmlformats.org/officeDocument/2006/relationships/notesSlide" Target="/ppt/notesSlides/notesSlide7.xml" Id="R2828a6b2d9b445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6abbcda8e4967" /><Relationship Type="http://schemas.openxmlformats.org/officeDocument/2006/relationships/notesSlide" Target="/ppt/notesSlides/notesSlide8.xml" Id="Rac66bb0321ea4b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5058b588f40a6" /><Relationship Type="http://schemas.openxmlformats.org/officeDocument/2006/relationships/notesSlide" Target="/ppt/notesSlides/notesSlide9.xml" Id="R1b746228cc2343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293fdf7244ddc" /><Relationship Type="http://schemas.openxmlformats.org/officeDocument/2006/relationships/notesSlide" Target="/ppt/notesSlides/notesSlide10.xml" Id="R068d090c0c784d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9fe9ced1a4180" /><Relationship Type="http://schemas.openxmlformats.org/officeDocument/2006/relationships/notesSlide" Target="/ppt/notesSlides/notesSlide11.xml" Id="Rb658d1f8035b49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a8cd6714bf4432" /><Relationship Type="http://schemas.openxmlformats.org/officeDocument/2006/relationships/notesSlide" Target="/ppt/notesSlides/notesSlide12.xml" Id="R4f2236a0538645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c90eaab984995" /><Relationship Type="http://schemas.openxmlformats.org/officeDocument/2006/relationships/notesSlide" Target="/ppt/notesSlides/notesSlide13.xml" Id="Rc31aaa4d9acf49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70e71dd99496f" /><Relationship Type="http://schemas.openxmlformats.org/officeDocument/2006/relationships/notesSlide" Target="/ppt/notesSlides/notesSlide14.xml" Id="R4b08f913bb8b46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78576-4DDD-48F0-B2A5-7EC73D68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BFB0"/>
                </a:solidFill>
              </a:defRPr>
            </a:pPr>
            <a:r>
              <a:rPr sz="900" b="1" i="0">
                <a:solidFill>
                  <a:srgbClr val="A8BFB0"/>
                </a:solidFill>
              </a:rPr>
              <a:t>CASEZERO  /  DEMO 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3878E-D248-4AD3-A7F7-98E28ED3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8096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FFFFFF"/>
                </a:solidFill>
              </a:defRPr>
            </a:pPr>
            <a:r>
              <a:rPr sz="4650" b="1" i="0">
                <a:solidFill>
                  <a:srgbClr val="FFFFFF"/>
                </a:solidFill>
              </a:rPr>
              <a:t>A complaint should not disappear between desks.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A714C-B2C6-4201-8D08-FBFA4748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A8BFB0"/>
                </a:solidFill>
              </a:defRPr>
            </a:pPr>
            <a:r>
              <a:rPr sz="1725" b="0" i="0">
                <a:solidFill>
                  <a:srgbClr val="A8BFB0"/>
                </a:solidFill>
              </a:rPr>
              <a:t>Axiom turns one customer email and PDF into a visible, governed outcome — in minutes, not hours.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123AE-A311-4462-ABFC-6E917890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257300"/>
            <a:ext cx="2667000" cy="37338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11813"/>
          </a:solidFill>
          <a:ln xmlns:a="http://schemas.openxmlformats.org/drawingml/2006/main" w="19050">
            <a:solidFill>
              <a:srgbClr val="365F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46901F-573E-4FEA-8504-FD5D8B7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8B2333"/>
                </a:solidFill>
              </a:defRPr>
            </a:pPr>
            <a:r>
              <a:rPr sz="3150" b="1" i="0">
                <a:solidFill>
                  <a:srgbClr val="8B2333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C0987F-B78C-41DC-A483-4C5422A1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479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CUSTOMER</a:t>
            </a:r>
          </a:p>
          <a:p xmlns:a="http://schemas.openxmlformats.org/drawingml/2006/main">
            <a:pPr algn="l"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4D771-E5FC-4189-9125-99E75A33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05150"/>
            <a:ext cx="167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AE1F9-F7D9-4A17-9A56-7A4B33AF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8B2333"/>
                </a:solidFill>
              </a:defRPr>
            </a:pPr>
            <a:r>
              <a:rPr sz="3150" b="1" i="0">
                <a:solidFill>
                  <a:srgbClr val="8B2333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1F2CD-9CF2-4692-A994-81CCFD4A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0050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BANK</a:t>
            </a:r>
          </a:p>
          <a:p xmlns:a="http://schemas.openxmlformats.org/drawingml/2006/main">
            <a:pPr algn="l"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PROVES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1A031F-F574-4550-BF8B-6D680C2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AD9F"/>
                </a:solidFill>
              </a:defRPr>
            </a:pPr>
            <a:r>
              <a:rPr sz="750" b="1" i="0">
                <a:solidFill>
                  <a:srgbClr val="9BAD9F"/>
                </a:solidFill>
              </a:rPr>
              <a:t>AXIOM BY CASEZERO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16CB4-744D-4484-B66C-8A7F6A21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9BAD9F"/>
                </a:solidFill>
              </a:defRPr>
            </a:pPr>
            <a:r>
              <a:rPr sz="825" b="1" i="0">
                <a:solidFill>
                  <a:srgbClr val="9BAD9F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600158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08054-2ED5-466C-A503-5DE9A484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THE HUMAN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2C851-5F11-4250-8079-2DA0BA75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1A15"/>
                </a:solidFill>
              </a:defRPr>
            </a:pPr>
            <a:r>
              <a:rPr sz="3600" b="1" i="0">
                <a:solidFill>
                  <a:srgbClr val="131A15"/>
                </a:solidFill>
              </a:rPr>
              <a:t>The customer waits. The bank loses the thread.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83B3D-93BE-43FD-A8F3-8EFD793C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41159-6F30-47B1-BC33-ECCDA4EA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33AA7-EFFF-4679-945E-F664AFF3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31A15"/>
                </a:solidFill>
              </a:defRPr>
            </a:pPr>
            <a:r>
              <a:rPr sz="4050" b="1" i="0">
                <a:solidFill>
                  <a:srgbClr val="131A15"/>
                </a:solidFill>
              </a:rPr>
              <a:t>90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613BF-A548-4B63-B037-D17C2FBE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baseline handling time</a:t>
            </a:r>
          </a:p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per complaint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09923C-D79A-49A1-A8C8-D226291A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00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8B2333"/>
                </a:solidFill>
              </a:defRPr>
            </a:pPr>
            <a:r>
              <a:rPr sz="4050" b="1" i="0">
                <a:solidFill>
                  <a:srgbClr val="8B2333"/>
                </a:solidFill>
              </a:rPr>
              <a:t>11%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FFD0F6-04E2-472E-8B72-53B15DAD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718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regulatory deadlines</a:t>
            </a:r>
          </a:p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missed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A728F-4F6F-4A24-BB0F-D80D9510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003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31A15"/>
                </a:solidFill>
              </a:defRPr>
            </a:pPr>
            <a:r>
              <a:rPr sz="4050" b="1" i="0">
                <a:solidFill>
                  <a:srgbClr val="131A15"/>
                </a:solidFill>
              </a:rPr>
              <a:t>1.8M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29DF1-5BA1-463A-8431-2331BBD6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7180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retail and SME</a:t>
            </a:r>
          </a:p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customers affected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16D2B1-415B-4858-AA38-0650B86F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33600"/>
            <a:ext cx="1885950" cy="20764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9525">
            <a:solidFill>
              <a:srgbClr val="0B0F0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F7230-8AB5-43C9-8DC3-58FAD7A5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8BFB0"/>
                </a:solidFill>
              </a:defRPr>
            </a:pPr>
            <a:r>
              <a:rPr sz="1125" b="1" i="0">
                <a:solidFill>
                  <a:srgbClr val="A8BFB0"/>
                </a:solidFill>
              </a:rPr>
              <a:t>The real failure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FC9CD-7A72-4FF6-9A78-E79D78D3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95600"/>
            <a:ext cx="1390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Evidence, ownership and deadlines drift between teams.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3DD50-F0F4-4DBB-A768-C883E832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220687-B0BE-4F13-BB19-D9E914EE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942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1A15"/>
                </a:solidFill>
              </a:defRPr>
            </a:pPr>
            <a:r>
              <a:rPr sz="1800" b="1" i="0">
                <a:solidFill>
                  <a:srgbClr val="131A15"/>
                </a:solidFill>
              </a:rPr>
              <a:t>So speed alone is not enough. Every handoff must stay understandable, safe and provable.</a:t>
            </a:r>
          </a:p>
        </p:txBody>
      </p:sp>
    </p:spTree>
    <p:extLst>
      <p:ext uri="{BB962C8B-B14F-4D97-AF65-F5344CB8AC3E}">
        <p14:creationId xmlns:p14="http://schemas.microsoft.com/office/powerpoint/2010/main" val="16292183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6450D4-BC86-496E-8973-8CC509C4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THE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E725C-0C2A-43F6-A660-6AFFD1C8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1A15"/>
                </a:solidFill>
              </a:defRPr>
            </a:pPr>
            <a:r>
              <a:rPr sz="3600" b="1" i="0">
                <a:solidFill>
                  <a:srgbClr val="131A15"/>
                </a:solidFill>
              </a:rPr>
              <a:t>One complaint. One visible team. One signed outcome.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287BD-D7BB-4765-A902-D3DCD9D5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77AC6-D796-471F-ACF9-16A88C87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981B9-A309-48DE-98EF-0E0DA625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0A190-86D2-4C57-B39C-A12507C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8B2333"/>
                </a:solidFill>
              </a:defRPr>
            </a:pPr>
            <a:r>
              <a:rPr sz="2100" b="1" i="0">
                <a:solidFill>
                  <a:srgbClr val="8B2333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20428-1BCE-41F9-9CF7-40BC2010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1A15"/>
                </a:solidFill>
              </a:defRPr>
            </a:pPr>
            <a:r>
              <a:rPr sz="1875" b="1" i="0">
                <a:solidFill>
                  <a:srgbClr val="131A15"/>
                </a:solidFill>
              </a:rPr>
              <a:t>Customer writes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2210D-F764-46AA-863F-34C7670C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2819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56158"/>
                </a:solidFill>
              </a:defRPr>
            </a:pPr>
            <a:r>
              <a:rPr sz="1350" b="0" i="0">
                <a:solidFill>
                  <a:srgbClr val="556158"/>
                </a:solidFill>
              </a:rPr>
              <a:t>Their own words and PDF become the case input.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97FB36-00F9-4F11-8BD3-E4029412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3850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8B2333"/>
                </a:solidFill>
              </a:defRPr>
            </a:pPr>
            <a:r>
              <a:rPr sz="2250" b="1" i="0">
                <a:solidFill>
                  <a:srgbClr val="8B2333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02483E-E7F1-4F4F-8EFE-7C024BF1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4C77C-DADB-466C-8073-E4558B58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431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8B2333"/>
                </a:solidFill>
              </a:defRPr>
            </a:pPr>
            <a:r>
              <a:rPr sz="2100" b="1" i="0">
                <a:solidFill>
                  <a:srgbClr val="8B2333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4BE2A2-3447-488F-8C65-3B2AB881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1A15"/>
                </a:solidFill>
              </a:defRPr>
            </a:pPr>
            <a:r>
              <a:rPr sz="1875" b="1" i="0">
                <a:solidFill>
                  <a:srgbClr val="131A15"/>
                </a:solidFill>
              </a:rPr>
              <a:t>A visible team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2134A4-377B-4850-931C-B2C16227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14750"/>
            <a:ext cx="2819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56158"/>
                </a:solidFill>
              </a:defRPr>
            </a:pPr>
            <a:r>
              <a:rPr sz="1350" b="0" i="0">
                <a:solidFill>
                  <a:srgbClr val="556158"/>
                </a:solidFill>
              </a:rPr>
              <a:t>Every handoff shows who acted and what they found.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194C8-5BF3-44EA-9C68-1EB2E7AA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8B2333"/>
                </a:solidFill>
              </a:defRPr>
            </a:pPr>
            <a:r>
              <a:rPr sz="2250" b="1" i="0">
                <a:solidFill>
                  <a:srgbClr val="8B2333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7E23F3-7BF6-4322-9EB0-AEBA2D17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336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9525">
            <a:solidFill>
              <a:srgbClr val="0B0F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17C05F-4456-43A2-AD41-4960C376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431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8B2333"/>
                </a:solidFill>
              </a:defRPr>
            </a:pPr>
            <a:r>
              <a:rPr sz="2100" b="1" i="0">
                <a:solidFill>
                  <a:srgbClr val="8B2333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37941B-9949-431D-A5A7-8055C4C9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527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Rules protect the outcome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7276F-B4D6-4CBE-B8C6-ECA25ED7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2819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A8BFB0"/>
                </a:solidFill>
              </a:defRPr>
            </a:pPr>
            <a:r>
              <a:rPr sz="1350" b="0" i="0">
                <a:solidFill>
                  <a:srgbClr val="A8BFB0"/>
                </a:solidFill>
              </a:rPr>
              <a:t>AI may suggest; bank rules decide money, deadlines and disclosures.</a:t>
            </a:r>
          </a:p>
        </p:txBody>
      </p:sp>
    </p:spTree>
    <p:extLst>
      <p:ext uri="{BB962C8B-B14F-4D97-AF65-F5344CB8AC3E}">
        <p14:creationId xmlns:p14="http://schemas.microsoft.com/office/powerpoint/2010/main" val="7449800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BF8A2-8B27-445D-B76F-18EB024E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LIVE DEMO · STEP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99979-A980-42CD-A628-2442FA5E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04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31A15"/>
                </a:solidFill>
              </a:defRPr>
            </a:pPr>
            <a:r>
              <a:rPr sz="3300" b="1" i="0">
                <a:solidFill>
                  <a:srgbClr val="131A15"/>
                </a:solidFill>
              </a:rPr>
              <a:t>Nothing is pre-written except the fictional identity.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97B1D-5DEC-4E41-8A04-739CAF46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27F8E-4BFB-4D60-8DCA-38287657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B21A8-8494-4322-8E35-DFD55767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2573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DE1FC-BA91-44F0-A6DE-35B2B0A3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57375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VISITOR 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F8927-D921-4A8D-B271-CEC838F0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31A15"/>
                </a:solidFill>
              </a:defRPr>
            </a:pPr>
            <a:r>
              <a:rPr sz="2025" b="1" i="0">
                <a:solidFill>
                  <a:srgbClr val="131A15"/>
                </a:solidFill>
              </a:rPr>
              <a:t>Type any complaint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D40DB-881C-411B-AF39-F057E0ED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56158"/>
                </a:solidFill>
              </a:defRPr>
            </a:pPr>
            <a:r>
              <a:rPr sz="1350" b="0" i="0">
                <a:solidFill>
                  <a:srgbClr val="556158"/>
                </a:solidFill>
              </a:rPr>
              <a:t>Use your own subject and words.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FCC48-B0F9-43BD-8A51-E09C5267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31A15"/>
                </a:solidFill>
              </a:defRPr>
            </a:pPr>
            <a:r>
              <a:rPr sz="2025" b="1" i="0">
                <a:solidFill>
                  <a:srgbClr val="131A15"/>
                </a:solidFill>
              </a:rPr>
              <a:t>Upload your 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60C40-185F-45E4-B9EC-01806A6E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24300"/>
            <a:ext cx="3295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56158"/>
                </a:solidFill>
              </a:defRPr>
            </a:pPr>
            <a:r>
              <a:rPr sz="1350" b="0" i="0">
                <a:solidFill>
                  <a:srgbClr val="556158"/>
                </a:solidFill>
              </a:rPr>
              <a:t>The amount, merchant and evidence filename follow what you submit.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09399-402F-4F43-B179-C7FC56C2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323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FF29F-3996-467E-B02C-2037001D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8B2333"/>
                </a:solidFill>
              </a:defRPr>
            </a:pPr>
            <a:r>
              <a:rPr sz="1050" b="1" i="0">
                <a:solidFill>
                  <a:srgbClr val="8B2333"/>
                </a:solidFill>
              </a:rPr>
              <a:t>Demo 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BF2CFC-FF60-4042-9D0A-3D8ACFF4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292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31A15"/>
                </a:solidFill>
              </a:defRPr>
            </a:pPr>
            <a:r>
              <a:rPr sz="1275" b="0" i="0">
                <a:solidFill>
                  <a:srgbClr val="131A15"/>
                </a:solidFill>
              </a:rPr>
              <a:t>Only the customer name, email and account are fictional.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A7872-DBC9-4F81-BA4F-C5C52BFD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52600"/>
            <a:ext cx="702945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111933e8944bd"/>
          <a:stretch xmlns:a="http://schemas.openxmlformats.org/drawingml/2006/main"/>
        </p:blipFill>
        <p:spPr>
          <a:xfrm xmlns:a="http://schemas.openxmlformats.org/drawingml/2006/main">
            <a:off x="7139159" y="1924050"/>
            <a:ext cx="1780833" cy="3867150"/>
          </a:xfrm>
          <a:prstGeom xmlns:a="http://schemas.openxmlformats.org/drawingml/2006/main" prst="roundRect">
            <a:avLst>
              <a:gd name="adj" fmla="val 2956"/>
            </a:avLst>
          </a:prstGeom>
        </p:spPr>
      </p:pic>
    </p:spTree>
    <p:extLst>
      <p:ext uri="{BB962C8B-B14F-4D97-AF65-F5344CB8AC3E}">
        <p14:creationId xmlns:p14="http://schemas.microsoft.com/office/powerpoint/2010/main" val="3848774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CE1DC2-D758-44E5-825A-C1710D64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LIVE DEMO · STEP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A7BB9-9154-4FB2-BCA3-1686F330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31A15"/>
                </a:solidFill>
              </a:defRPr>
            </a:pPr>
            <a:r>
              <a:rPr sz="3300" b="1" i="0">
                <a:solidFill>
                  <a:srgbClr val="131A15"/>
                </a:solidFill>
              </a:rPr>
              <a:t>The screen gives the visitor their input receipt.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0993D-3A25-4EFC-8376-35C96CDB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290B8-2BDD-48F1-8766-7BEA2341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326E3-BB07-401C-85AE-9B794516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7696200" cy="4019550"/>
          </a:xfrm>
          <a:prstGeom xmlns:a="http://schemas.openxmlformats.org/drawingml/2006/main" prst="roundRect">
            <a:avLst>
              <a:gd name="adj" fmla="val 1896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e950668c746b2"/>
          <a:stretch xmlns:a="http://schemas.openxmlformats.org/drawingml/2006/main"/>
        </p:blipFill>
        <p:spPr>
          <a:xfrm xmlns:a="http://schemas.openxmlformats.org/drawingml/2006/main">
            <a:off x="800100" y="2933787"/>
            <a:ext cx="7353300" cy="1771477"/>
          </a:xfrm>
          <a:prstGeom xmlns:a="http://schemas.openxmlformats.org/drawingml/2006/main" prst="roundRect">
            <a:avLst>
              <a:gd name="adj" fmla="val 310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B324A-37B3-408E-AB01-13C92637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66900"/>
            <a:ext cx="1809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BF477-BB32-4D8A-88E4-32DA3C60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145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INPUT RECEIPT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1D703-160D-48F5-9378-88183E19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38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8B2333"/>
                </a:solidFill>
              </a:defRPr>
            </a:pPr>
            <a:r>
              <a:rPr sz="975" b="1" i="0">
                <a:solidFill>
                  <a:srgbClr val="8B2333"/>
                </a:solidFill>
              </a:rPr>
              <a:t>Subject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4F2BB-3F7B-4AFF-A844-B092327F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6700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31A15"/>
                </a:solidFill>
              </a:defRPr>
            </a:pPr>
            <a:r>
              <a:rPr sz="1350" b="1" i="0">
                <a:solidFill>
                  <a:srgbClr val="131A15"/>
                </a:solidFill>
              </a:rPr>
              <a:t>exact visitor 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05E416-D5DB-4D3C-8660-D634F57A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813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8B2333"/>
                </a:solidFill>
              </a:defRPr>
            </a:pPr>
            <a:r>
              <a:rPr sz="975" b="1" i="0">
                <a:solidFill>
                  <a:srgbClr val="8B2333"/>
                </a:solidFill>
              </a:rPr>
              <a:t>Claim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B5E2E-C81A-4C13-B10C-D28BA2A8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09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31A15"/>
                </a:solidFill>
              </a:defRPr>
            </a:pPr>
            <a:r>
              <a:rPr sz="1350" b="1" i="0">
                <a:solidFill>
                  <a:srgbClr val="131A15"/>
                </a:solidFill>
              </a:rPr>
              <a:t>amount + merchant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FA5CB-982B-44FF-8B71-B03C9221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8B2333"/>
                </a:solidFill>
              </a:defRPr>
            </a:pPr>
            <a:r>
              <a:rPr sz="975" b="1" i="0">
                <a:solidFill>
                  <a:srgbClr val="8B2333"/>
                </a:solidFill>
              </a:rPr>
              <a:t>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EC215-B464-4686-9AA5-04A476B8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5290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31A15"/>
                </a:solidFill>
              </a:defRPr>
            </a:pPr>
            <a:r>
              <a:rPr sz="1350" b="1" i="0">
                <a:solidFill>
                  <a:srgbClr val="131A15"/>
                </a:solidFill>
              </a:rPr>
              <a:t>chosen PDF + read method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0959D-6706-4518-9335-14A01698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672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8B2333"/>
                </a:solidFill>
              </a:defRPr>
            </a:pPr>
            <a:r>
              <a:rPr sz="975" b="1" i="0">
                <a:solidFill>
                  <a:srgbClr val="8B2333"/>
                </a:solidFill>
              </a:rPr>
              <a:t>Body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B9E5D2-71A1-45B3-8255-9C75141B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31A15"/>
                </a:solidFill>
              </a:defRPr>
            </a:pPr>
            <a:r>
              <a:rPr sz="1350" b="1" i="0">
                <a:solidFill>
                  <a:srgbClr val="131A15"/>
                </a:solidFill>
              </a:rPr>
              <a:t>length + unique fingerprint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1D596-6545-481E-8B0E-86BD5AC3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46735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Then the result shows the final state, event chain and balanced journal.</a:t>
            </a:r>
          </a:p>
        </p:txBody>
      </p:sp>
    </p:spTree>
    <p:extLst>
      <p:ext uri="{BB962C8B-B14F-4D97-AF65-F5344CB8AC3E}">
        <p14:creationId xmlns:p14="http://schemas.microsoft.com/office/powerpoint/2010/main" val="2339969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8C1055-C3C8-4862-9E29-47E8D97F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BFB0"/>
                </a:solidFill>
              </a:defRPr>
            </a:pPr>
            <a:r>
              <a:rPr sz="900" b="1" i="0">
                <a:solidFill>
                  <a:srgbClr val="A8BFB0"/>
                </a:solidFill>
              </a:rPr>
              <a:t>RESPONSIBLE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C266B-DA9C-43E4-92EE-A439B1C1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The most important feature is a safe ‘no’.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237B83-BE81-4750-BA18-C35BA40E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AD9F"/>
                </a:solidFill>
              </a:defRPr>
            </a:pPr>
            <a:r>
              <a:rPr sz="750" b="1" i="0">
                <a:solidFill>
                  <a:srgbClr val="9BAD9F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97AA4-FEC4-482E-9E1E-66B0A89F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9BAD9F"/>
                </a:solidFill>
              </a:defRPr>
            </a:pPr>
            <a:r>
              <a:rPr sz="825" b="1" i="0">
                <a:solidFill>
                  <a:srgbClr val="9BAD9F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15D2E3-6DA5-4A91-AA38-A5B1B8A6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AI interprets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0C3A9-D2E0-4A3A-9039-16178C5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A8BFB0"/>
                </a:solidFill>
              </a:defRPr>
            </a:pPr>
            <a:r>
              <a:rPr sz="1350" b="0" i="0">
                <a:solidFill>
                  <a:srgbClr val="A8BFB0"/>
                </a:solidFill>
              </a:rPr>
              <a:t>the complaint, category and customer explanation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C025C-4C66-43A5-B51D-D398889A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Rules decide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2354A-D0EC-4B87-B140-F4B2A34D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A8BFB0"/>
                </a:solidFill>
              </a:defRPr>
            </a:pPr>
            <a:r>
              <a:rPr sz="1350" b="0" i="0">
                <a:solidFill>
                  <a:srgbClr val="A8BFB0"/>
                </a:solidFill>
              </a:rPr>
              <a:t>money movement, deadlines, authority and mandatory disclosures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8E8327-32B1-4339-A18F-C35CB790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2000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0E8BE-849D-4823-90EF-0C1A628B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BLOCKED BEFORE 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DD83B-51A8-481A-85DE-AB439485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7315200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111813"/>
          </a:solidFill>
          <a:ln xmlns:a="http://schemas.openxmlformats.org/drawingml/2006/main" w="9525">
            <a:solidFill>
              <a:srgbClr val="365F48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7890c625e45dd"/>
          <a:stretch xmlns:a="http://schemas.openxmlformats.org/drawingml/2006/main"/>
        </p:blipFill>
        <p:spPr>
          <a:xfrm xmlns:a="http://schemas.openxmlformats.org/drawingml/2006/main">
            <a:off x="6173734" y="1924050"/>
            <a:ext cx="3425932" cy="3867150"/>
          </a:xfrm>
          <a:prstGeom xmlns:a="http://schemas.openxmlformats.org/drawingml/2006/main" prst="roundRect">
            <a:avLst>
              <a:gd name="adj" fmla="val 2956"/>
            </a:avLst>
          </a:prstGeom>
        </p:spPr>
      </p:pic>
    </p:spTree>
    <p:extLst>
      <p:ext uri="{BB962C8B-B14F-4D97-AF65-F5344CB8AC3E}">
        <p14:creationId xmlns:p14="http://schemas.microsoft.com/office/powerpoint/2010/main" val="9381942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114F7-16EF-4818-8C64-DA4F0677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IMPACT AND FEASIBILITY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B8CDF-FA78-48CA-A733-C2EAEAF6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1A15"/>
                </a:solidFill>
              </a:defRPr>
            </a:pPr>
            <a:r>
              <a:rPr sz="3600" b="1" i="0">
                <a:solidFill>
                  <a:srgbClr val="131A15"/>
                </a:solidFill>
              </a:rPr>
              <a:t>Start where the value is high and the path is real.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FA361-37F8-405F-85E8-405E5A95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3AD33-9FE5-4469-B5AC-BAA9B6C0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B87DD-3B10-4B3D-8A1A-F54C40E5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31A15"/>
                </a:solidFill>
              </a:defRPr>
            </a:pPr>
            <a:r>
              <a:rPr sz="3750" b="1" i="0">
                <a:solidFill>
                  <a:srgbClr val="131A15"/>
                </a:solidFill>
              </a:rPr>
              <a:t>90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0ED04-D287-4D7A-962A-94088F3B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case-study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75C91-717B-4A1F-8F04-6E0574A2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431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 i="0">
                <a:solidFill>
                  <a:srgbClr val="8B2333"/>
                </a:solidFill>
              </a:defRPr>
            </a:pPr>
            <a:r>
              <a:rPr sz="3000" b="1" i="0">
                <a:solidFill>
                  <a:srgbClr val="8B2333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6AE09-5F7B-409F-89E8-1DC2935A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2479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365F48"/>
                </a:solidFill>
              </a:defRPr>
            </a:pPr>
            <a:r>
              <a:rPr sz="3750" b="1" i="0">
                <a:solidFill>
                  <a:srgbClr val="365F48"/>
                </a:solidFill>
              </a:rPr>
              <a:t>&lt; 30 sec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7551E0-872F-4020-9DC3-6E6CE714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19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latest verified public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A0EC6-26A5-4AD6-8219-A67ED5B3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81200"/>
            <a:ext cx="4038600" cy="19240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9525">
            <a:solidFill>
              <a:srgbClr val="0B0F0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DDAD09-B897-4542-BDBD-73E2F023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4790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57%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256AB-3B3F-4311-BB00-CC02FB6E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93370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A8BFB0"/>
                </a:solidFill>
              </a:defRPr>
            </a:pPr>
            <a:r>
              <a:rPr sz="1500" b="0" i="0">
                <a:solidFill>
                  <a:srgbClr val="A8BFB0"/>
                </a:solidFill>
              </a:rPr>
              <a:t>of stated volume in the first rollout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7BB7BC-3CBD-4B74-B1D7-DCC476AA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B2FD48-F795-4DF9-89ED-B98CA860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B2333"/>
                </a:solidFill>
              </a:defRPr>
            </a:pPr>
            <a:r>
              <a:rPr sz="825" b="1" i="0">
                <a:solidFill>
                  <a:srgbClr val="8B2333"/>
                </a:solidFill>
              </a:rPr>
              <a:t>NOW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EAF163-8BDC-438D-9EC8-154449D9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1A15"/>
                </a:solidFill>
              </a:defRPr>
            </a:pPr>
            <a:r>
              <a:rPr sz="1575" b="1" i="0">
                <a:solidFill>
                  <a:srgbClr val="131A15"/>
                </a:solidFill>
              </a:rPr>
              <a:t>Synthetic pilot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72421B-6083-498B-87D2-DEA9C81A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56158"/>
                </a:solidFill>
              </a:defRPr>
            </a:pPr>
            <a:r>
              <a:rPr sz="1125" b="0" i="0">
                <a:solidFill>
                  <a:srgbClr val="556158"/>
                </a:solidFill>
              </a:rPr>
              <a:t>Deployed app, real models, bank-tool simulators and database proof.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EA3B74-4A3C-49A0-A3DF-849B2C56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434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B2333"/>
                </a:solidFill>
              </a:defRPr>
            </a:pPr>
            <a:r>
              <a:rPr sz="825" b="1" i="0">
                <a:solidFill>
                  <a:srgbClr val="8B2333"/>
                </a:solidFill>
              </a:rPr>
              <a:t>NEXT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8646CC-39D3-4B4C-BDCD-9E43B33E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29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1A15"/>
                </a:solidFill>
              </a:defRPr>
            </a:pPr>
            <a:r>
              <a:rPr sz="1575" b="1" i="0">
                <a:solidFill>
                  <a:srgbClr val="131A15"/>
                </a:solidFill>
              </a:rPr>
              <a:t>Controlled rollout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F1694E-6843-47A0-BBD1-5B1B104D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56158"/>
                </a:solidFill>
              </a:defRPr>
            </a:pPr>
            <a:r>
              <a:rPr sz="1125" b="0" i="0">
                <a:solidFill>
                  <a:srgbClr val="556158"/>
                </a:solidFill>
              </a:rPr>
              <a:t>Two high-volume dispute types with staff review.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C01C-8A73-4057-A40C-FD3F821E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434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B2333"/>
                </a:solidFill>
              </a:defRPr>
            </a:pPr>
            <a:r>
              <a:rPr sz="825" b="1" i="0">
                <a:solidFill>
                  <a:srgbClr val="8B2333"/>
                </a:solidFill>
              </a:rPr>
              <a:t>THEN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2A651D-802E-4FA9-9ED5-197A6321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29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31A15"/>
                </a:solidFill>
              </a:defRPr>
            </a:pPr>
            <a:r>
              <a:rPr sz="1575" b="1" i="0">
                <a:solidFill>
                  <a:srgbClr val="131A15"/>
                </a:solidFill>
              </a:rPr>
              <a:t>Bank integration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1E032-C562-43C3-A112-BFBA7D24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9115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56158"/>
                </a:solidFill>
              </a:defRPr>
            </a:pPr>
            <a:r>
              <a:rPr sz="1125" b="0" i="0">
                <a:solidFill>
                  <a:srgbClr val="556158"/>
                </a:solidFill>
              </a:rPr>
              <a:t>Bank credentials, compliance sign-off and security approval.</a:t>
            </a:r>
          </a:p>
        </p:txBody>
      </p:sp>
    </p:spTree>
    <p:extLst>
      <p:ext uri="{BB962C8B-B14F-4D97-AF65-F5344CB8AC3E}">
        <p14:creationId xmlns:p14="http://schemas.microsoft.com/office/powerpoint/2010/main" val="12275166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8B23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BEAE6-0520-48D8-B38F-456010FA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1DDE1"/>
                </a:solidFill>
              </a:defRPr>
            </a:pPr>
            <a:r>
              <a:rPr sz="900" b="1" i="0">
                <a:solidFill>
                  <a:srgbClr val="F1DDE1"/>
                </a:solidFill>
              </a:rPr>
              <a:t>THE 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C94C70-7EB8-4BA3-B5AC-8934D2A3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Give us one complaint.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8889D-6133-4363-B65E-EB82C793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8477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5E8EB"/>
                </a:solidFill>
              </a:defRPr>
            </a:pPr>
            <a:r>
              <a:rPr sz="2325" b="1" i="0">
                <a:solidFill>
                  <a:srgbClr val="F5E8EB"/>
                </a:solidFill>
              </a:rPr>
              <a:t>We’ll give every customer, operator and auditor the same provable story.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7F7E7-BB80-4B93-9FB3-C49E9C15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0744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9525">
            <a:solidFill>
              <a:srgbClr val="0B0F0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BDDEA-59D5-4832-9432-6567F57F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101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casezero-alpha.vercel.app/live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107F4-56A5-4936-B91B-8E017CC5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673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A8BFB0"/>
                </a:solidFill>
              </a:defRPr>
            </a:pPr>
            <a:r>
              <a:rPr sz="1125" b="0" i="0">
                <a:solidFill>
                  <a:srgbClr val="A8BFB0"/>
                </a:solidFill>
              </a:rPr>
              <a:t>Visitor-written complaint · Visitor-uploaded PDF · Fictional identity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8DAF5-A206-4498-B862-09EFD2C5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24400"/>
            <a:ext cx="1428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8B2333"/>
          </a:solidFill>
          <a:ln xmlns:a="http://schemas.openxmlformats.org/drawingml/2006/main" w="9525">
            <a:solidFill>
              <a:srgbClr val="D89BA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9A371-F897-44C2-9C4C-ADAE1ABB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720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Q&amp;A 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C55D8-7B72-46F0-A677-0A26366A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AD9F"/>
                </a:solidFill>
              </a:defRPr>
            </a:pPr>
            <a:r>
              <a:rPr sz="750" b="1" i="0">
                <a:solidFill>
                  <a:srgbClr val="9BAD9F"/>
                </a:solidFill>
              </a:rPr>
              <a:t>AXIOM BY CASEZERO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AC6E3-7260-4244-BEAF-D14EA0C0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9BAD9F"/>
                </a:solidFill>
              </a:defRPr>
            </a:pPr>
            <a:r>
              <a:rPr sz="825" b="1" i="0">
                <a:solidFill>
                  <a:srgbClr val="9BAD9F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299299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F93BB8-B669-4189-BD9B-B371C31E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APPENDIX 1 OF 6 · VALUE AND USERS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FD27B-997B-44AA-B9CF-4BAE5952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31A15"/>
                </a:solidFill>
              </a:defRPr>
            </a:pPr>
            <a:r>
              <a:rPr sz="3000" b="1" i="0">
                <a:solidFill>
                  <a:srgbClr val="131A15"/>
                </a:solidFill>
              </a:rPr>
              <a:t>Who benefits — and why should they care?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8F9F3-D2C2-429E-A39E-453AA1C6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9BF29-3252-42CB-90B5-256D4057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EBD8C-D8B6-46DD-B6B0-72D08507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6250"/>
            <a:ext cx="2838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815EC7-9B1A-4D73-83F4-AD47A04E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38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A4C3A-99E1-4A49-A244-8656BCFC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7F2C4-8B71-48AD-B9F6-4DC696E9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54597-A149-4C51-9991-9F16BEAD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Who is the primary user?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48D439-8D4F-4FED-822E-3CB52399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A small complaints team that needs one clear view of the customer, evidence, deadline and next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EA6F6-E9B3-4858-8796-BA5281DC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46252-A192-4F0C-AC70-D606A043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2D1A87-55E1-44FA-995E-8F904EEE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changes for the customer?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03AA5-5A42-410D-A284-655890A2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They get a faster, clearer answer and a traceable explanation instead of repeating their story across teams.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51545-F8FD-4274-A3A5-1CC2D49F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8A2EC2-EF90-45D7-92BA-BACAE174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24A55-13FC-44A3-AC43-05161DA7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changes for the bank?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5B2065-30FF-404F-B7CC-06DF2757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Less manual chasing, fewer missed deadlines and one auditable record from intake to final response.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D8182-7CEF-44D5-9222-EE143350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E525D-8240-4684-A333-0767809C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0CE4FF-E319-46FE-B849-2B54DAAD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How do you measure value?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6D0931-E1D7-4ABC-9C58-9270F27A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Handling time, deadline misses, first-time resolution, safe-refusal rate and staff time saved—reported separately as measured, baseline or assumption.</a:t>
            </a:r>
          </a:p>
        </p:txBody>
      </p:sp>
    </p:spTree>
    <p:extLst>
      <p:ext uri="{BB962C8B-B14F-4D97-AF65-F5344CB8AC3E}">
        <p14:creationId xmlns:p14="http://schemas.microsoft.com/office/powerpoint/2010/main" val="2903614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0D6E8-53A1-44BA-A82D-E1D6330D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APPENDIX 2 OF 6 · AI AND ORIGINALITY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5E0E0-F438-4801-9C2E-4C5AD273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31A15"/>
                </a:solidFill>
              </a:defRPr>
            </a:pPr>
            <a:r>
              <a:rPr sz="3000" b="1" i="0">
                <a:solidFill>
                  <a:srgbClr val="131A15"/>
                </a:solidFill>
              </a:rPr>
              <a:t>Where is AI meaningful — and what is new?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745F5-C6ED-45B2-8B25-83FF585E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D2C13-9EA6-4C89-B421-D9FEE2CC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8E51C-5501-427E-A527-745DF17F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6250"/>
            <a:ext cx="2838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A1352-940C-4B96-A6E6-1D2D5E3F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38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43DF1-502C-4D7C-8D55-29A7220E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91FC8-8705-47E5-98A4-404210C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802B1-A89A-4827-9B98-07D8EE8E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Where is AI used?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354F7-51A3-42C6-B7FE-09B60776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AI reads messy complaint language, classifies the issue, compares evidence and drafts a plain-language customer explanation.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495A8-EF96-423D-8A8F-510CABE0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D6A72F-8F55-4BCB-A668-5D5972C2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DEE81-AB13-48A9-933A-B40D68AA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does AI never decide?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1AB2C-B24F-40CD-973C-62DC5F84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It cannot move money, change a deadline, skip a required disclosure or grant itself authority.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730D1-97BD-4F6C-B201-8DB56335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BC34B7-A9EE-47E5-844E-C3FFA72D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E3B415-43D8-4B6F-82AF-2A8FD7FA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makes CaseZero different?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57BFC7-4335-43FC-BACE-0B31810C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Governance is visible product behavior: every handoff leaves a receipt, every write needs a scoped ticket, and safe refusal is treated as success.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1AD88B-9994-4AAA-B818-F9D8FF9C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48C94A-BCD8-4B55-BBBA-D699949D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F365A3-97A0-448C-9807-8B7EA6AC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Why six specialists?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C6033-B883-4CC9-990D-8BF62D76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Each specialist has one narrow job. That makes handoffs understandable and lets the bank improve or replace one part without hiding the whole decision.</a:t>
            </a:r>
          </a:p>
        </p:txBody>
      </p:sp>
    </p:spTree>
    <p:extLst>
      <p:ext uri="{BB962C8B-B14F-4D97-AF65-F5344CB8AC3E}">
        <p14:creationId xmlns:p14="http://schemas.microsoft.com/office/powerpoint/2010/main" val="16288701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C4EA02-7D75-45BA-91E3-C3E982C0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APPENDIX 3 OF 6 · SAFETY, PRIVACY AND ETHICS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93F5C-19E6-4F20-9F6C-CC9643C2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31A15"/>
                </a:solidFill>
              </a:defRPr>
            </a:pPr>
            <a:r>
              <a:rPr sz="3000" b="1" i="0">
                <a:solidFill>
                  <a:srgbClr val="131A15"/>
                </a:solidFill>
              </a:rPr>
              <a:t>How do you keep people and money safe?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E8482-3F28-4B25-B463-35CA9C11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C6557-BFC6-459C-B266-39CEB174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747E6-B450-40F4-A848-FBBB99E2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6250"/>
            <a:ext cx="2838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5F02F-21E1-46AE-A033-EEA433CB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38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3B5F6-53F5-42D3-8734-48C7BF26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5C6AD-402E-495C-8FCB-90615CBD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EF38B-BE62-4F22-9A10-A2DE7B92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happens if the AI is uncertain?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EBDAA-DB11-48AA-BF00-BB5BE321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 case stops for human review. It does not guess its way into a financial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EA98E9-BE9F-49BF-8941-33A28DB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117CC3-7A72-4ABC-8F42-EEEDB938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ADF0E-51CD-45C3-958E-31AEB3E8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How do you handle prompt injection?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8F2E48-1636-4DF6-B1A7-6FB53A9B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Suspicious instructions inside email or PDF evidence are blocked before any model is called.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87125-9DFE-462C-9521-02F8F7D9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AA173-6F32-4EEF-A61C-1C4FDB69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885FA-DDA5-4F73-B117-1CC540AD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How is personal data protected?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FEECFB-AAB0-43AA-ACFD-97DC8559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 public demo uses fictional identities. In deployment, identifiers are encrypted, redacted in views and restricted by role.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593401-716B-49A4-9388-3E81E4D5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60548-E07E-4182-98C8-78EE973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CECBF-BA5C-42F7-AA7F-AA99135A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Can staff override the system?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42764E-D884-4E9D-B8FA-0A9B68C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Authorized staff can review and resolve exceptions, but the action and reason remain visible in the audit trail.</a:t>
            </a:r>
          </a:p>
        </p:txBody>
      </p:sp>
    </p:spTree>
    <p:extLst>
      <p:ext uri="{BB962C8B-B14F-4D97-AF65-F5344CB8AC3E}">
        <p14:creationId xmlns:p14="http://schemas.microsoft.com/office/powerpoint/2010/main" val="13195851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505591-52BC-439D-A423-653451B6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APPENDIX 4 OF 6 · FEASIBILITY AND ROLLOUT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A6578-5619-422D-80C5-40456532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31A15"/>
                </a:solidFill>
              </a:defRPr>
            </a:pPr>
            <a:r>
              <a:rPr sz="3000" b="1" i="0">
                <a:solidFill>
                  <a:srgbClr val="131A15"/>
                </a:solidFill>
              </a:rPr>
              <a:t>Can a bank actually adopt this?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07797-126B-4CCA-B3F6-283FD779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C0B2A1-3272-48AE-9FAA-B9B76679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50E65-18AC-4E6A-B054-ED7979D7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6250"/>
            <a:ext cx="2838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905CD-7144-46C2-B6A6-85A3B233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38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6D8E24-0135-4E85-8651-41E69086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56DD7-6D1A-4305-B722-E7F442CC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51E2F-1DFA-4CAC-94ED-4580B34B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Is this only a prototype?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CD4DE-041A-4822-80C7-ACB70F25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 dashboard and API are deployed today with real model calls, a real database and controlled bank-tool simulations.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F9384-289C-49D9-BFE2-951A2AED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49E50-32E0-4E4B-8B55-E43455B8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99131-5321-4318-8E1C-9AB4E01B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still needs the bank?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7201C-22E7-4650-BF24-75399246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Core-system credentials, complaint-mailbox access, staff identities, compliance sign-off and production security approval.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1EA923-3ED0-48BC-B51E-3864CF0C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B4FCD6-7845-4EAE-9282-D35CF547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9189E2-1BDD-4459-9EDD-03E34525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How would you start?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3AFCED-52CF-4591-B808-A414CA3B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Begin with synthetic cases, then a staff-reviewed pilot for two high-volume dispute types before allowing controlled financial writes.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1F8658-4843-4EF8-8F95-7D49889C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7BA8F-335D-4395-BD1E-CBEE94D0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CE92C-96C3-4FBF-A6DE-08428226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if a bank already has a case system?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C3EF48-D6FB-48F6-AE4C-02A954C6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CaseZero can sit above existing systems as the governed workflow and proof layer instead of replacing everything at once.</a:t>
            </a:r>
          </a:p>
        </p:txBody>
      </p:sp>
    </p:spTree>
    <p:extLst>
      <p:ext uri="{BB962C8B-B14F-4D97-AF65-F5344CB8AC3E}">
        <p14:creationId xmlns:p14="http://schemas.microsoft.com/office/powerpoint/2010/main" val="408775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5BD896-3B56-4487-87A4-88C93DFC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APPENDIX 5 OF 6 · PRODUCT AND ACCESSIBILITY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08D6D-B52E-4564-BC60-28D39A2A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31A15"/>
                </a:solidFill>
              </a:defRPr>
            </a:pPr>
            <a:r>
              <a:rPr sz="3000" b="1" i="0">
                <a:solidFill>
                  <a:srgbClr val="131A15"/>
                </a:solidFill>
              </a:rPr>
              <a:t>What exactly can a visitor test?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98C12-4D9F-46C1-BE0B-9CD86D07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7E28D-40BC-43CE-9311-2FA2063D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7BFC6-120C-4BB9-AA0D-B6107160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6250"/>
            <a:ext cx="2838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489E8-F386-4471-A013-397A1360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38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D94150-CB04-42CD-ADA0-402889A6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8A8628-64FA-4AAC-9930-1EC12BE1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EAFBE-78B1-4FC8-95A4-CE26C796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Is the complaint prefilled?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C7473-6D47-42BA-AC40-C47E1FC5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No. Only a fictional identity is provided. The subject, complaint words, amount, merchant and uploaded PDF come from the visitor.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55C34-430F-4E01-977B-EBF2A4CA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12BF0-C58F-43E5-A692-FF51BA8F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38A2A-A439-4DA8-A854-765DFA4E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Does the PDF really matter?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72A19-1169-4CF9-B86B-CE2E9258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Yes. Its filename and read method appear in the input receipt, and its evidence is compared with the visitor’s claim.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FC5B0A-8CA5-41C8-83C0-07F5201E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5B19E4-4F20-4DBF-9C99-D06DEEB3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081F8-4075-45BB-9BD3-CBE1D1D1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if the PDF is scanned?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C04A8-F049-4969-B524-317BA2B1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 system can read scanned pages visually; if the evidence is unclear or inconsistent, it stops for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95F008-69EF-4F5D-8E12-C82C91D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CE281-502C-4666-8338-C8BE68B4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D91618-9AB5-4C7F-8EFB-2A20534C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Is it accessible on mobile?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25C061-1C26-4003-9A2B-26BF56A4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 live workspace is keyboard-operable, has visible focus, reduced-motion support, readable states and no horizontal overflow at 390px.</a:t>
            </a:r>
          </a:p>
        </p:txBody>
      </p:sp>
    </p:spTree>
    <p:extLst>
      <p:ext uri="{BB962C8B-B14F-4D97-AF65-F5344CB8AC3E}">
        <p14:creationId xmlns:p14="http://schemas.microsoft.com/office/powerpoint/2010/main" val="4720329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96384-9F57-40B4-B10E-B420D5CA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B2333"/>
                </a:solidFill>
              </a:defRPr>
            </a:pPr>
            <a:r>
              <a:rPr sz="900" b="1" i="0">
                <a:solidFill>
                  <a:srgbClr val="8B2333"/>
                </a:solidFill>
              </a:rPr>
              <a:t>APPENDIX 6 OF 6 · PROOF AND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10F68-818A-4F2F-A61D-520C8FCB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83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31A15"/>
                </a:solidFill>
              </a:defRPr>
            </a:pPr>
            <a:r>
              <a:rPr sz="3000" b="1" i="0">
                <a:solidFill>
                  <a:srgbClr val="131A15"/>
                </a:solidFill>
              </a:rPr>
              <a:t>How do you know the result is real?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75954-983C-480F-9A36-E9C98C35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556158"/>
                </a:solidFill>
              </a:defRPr>
            </a:pPr>
            <a:r>
              <a:rPr sz="750" b="1" i="0">
                <a:solidFill>
                  <a:srgbClr val="556158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F34AF-60B1-4C92-8686-26F73F01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556158"/>
                </a:solidFill>
              </a:defRPr>
            </a:pPr>
            <a:r>
              <a:rPr sz="825" b="1" i="0">
                <a:solidFill>
                  <a:srgbClr val="556158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02B65-0C9A-4632-A4AD-A2C5078A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6250"/>
            <a:ext cx="2838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B0F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1DEE4-B565-41F3-9C8E-9B1BA68D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3875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34620-E362-4F4D-9D18-7077F20D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965CA-5357-4A7B-8110-E6BB00C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7BCFE-D0A4-4D3E-87F4-F844019E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proof does one run leave?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BDD9B-C688-4097-8E95-65EA2982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A visitor-input receipt, specialist handoff receipts, a final verdict, a balanced journal and a linked event history.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3EAC1-E711-46E4-8D39-6C6B94B6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2B30E-59B0-44C4-B957-40737AD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526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A996EE-C9A5-449C-8D2E-F2EA7EE6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Can a model fake a successful result?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76647-8C94-4F35-AC51-D86F9B3C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No. The final state and money movement come from server-side rules and bank-tool responses, not from model wording.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BEFC9-6ACA-479E-B79A-DEE3ABD3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6C551-E27D-4E05-8C61-4A9DDBC0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AEE3F5-11D0-40E6-8107-61B2CF3C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How is it tested?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EAC81-EE94-462D-8CA4-B1E299BF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The release gate runs 500+ backend tests, 29 browser journeys, type checks, a production build and dependency security checks.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DB6BDE-F95D-48D0-8523-9C507937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7F4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4A7B21-13FD-4376-B306-E29D25B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F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648D23-78CF-45C1-8D53-1FBE27E3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31A15"/>
                </a:solidFill>
              </a:defRPr>
            </a:pPr>
            <a:r>
              <a:rPr sz="1500" b="1" i="0">
                <a:solidFill>
                  <a:srgbClr val="131A15"/>
                </a:solidFill>
              </a:rPr>
              <a:t>What should we verify live?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49C353-A6DE-4063-98B1-E14B91EE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56158"/>
                </a:solidFill>
              </a:defRPr>
            </a:pPr>
            <a:r>
              <a:rPr sz="1200" b="0" i="0">
                <a:solidFill>
                  <a:srgbClr val="556158"/>
                </a:solidFill>
              </a:rPr>
              <a:t>Use a unique subject and PDF, then confirm the input receipt, final state, valid event links, journal balance and safe-refusal path.</a:t>
            </a:r>
          </a:p>
        </p:txBody>
      </p:sp>
    </p:spTree>
    <p:extLst>
      <p:ext uri="{BB962C8B-B14F-4D97-AF65-F5344CB8AC3E}">
        <p14:creationId xmlns:p14="http://schemas.microsoft.com/office/powerpoint/2010/main" val="10878258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2026-08-11T18:43:31.3420000Z</dcterms:created>
  <dcterms:modified xsi:type="dcterms:W3CDTF">2026-08-11T18:43:31.3420000Z</dcterms:modified>
</coreProperties>
</file>