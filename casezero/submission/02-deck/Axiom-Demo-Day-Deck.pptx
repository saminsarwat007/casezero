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11fd911cff4d6a" /><Relationship Type="http://schemas.openxmlformats.org/officeDocument/2006/relationships/extended-properties" Target="/docProps/app.xml" Id="R6710938ff4054c47" /><Relationship Type="http://schemas.openxmlformats.org/officeDocument/2006/relationships/officeDocument" Target="/ppt/presentation.xml" Id="Rcf24348cd9ef4f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f68d3763c44d43"/>
  </p:sldMasterIdLst>
  <p:notesMasterIdLst>
    <p:notesMasterId xmlns:r="http://schemas.openxmlformats.org/officeDocument/2006/relationships" r:id="R39c3d50feddb4aa6"/>
  </p:notesMasterIdLst>
  <p:sldIdLst>
    <p:sldId xmlns:r="http://schemas.openxmlformats.org/officeDocument/2006/relationships" id="256" r:id="Rfd78bd5c4e43467f"/>
    <p:sldId xmlns:r="http://schemas.openxmlformats.org/officeDocument/2006/relationships" id="257" r:id="Re8b8278afafb49cc"/>
    <p:sldId xmlns:r="http://schemas.openxmlformats.org/officeDocument/2006/relationships" id="258" r:id="R9e202d65b6214f21"/>
    <p:sldId xmlns:r="http://schemas.openxmlformats.org/officeDocument/2006/relationships" id="259" r:id="R4866a1fe39da44b9"/>
    <p:sldId xmlns:r="http://schemas.openxmlformats.org/officeDocument/2006/relationships" id="260" r:id="R0572c7dade684539"/>
    <p:sldId xmlns:r="http://schemas.openxmlformats.org/officeDocument/2006/relationships" id="261" r:id="Rac4998f91ab2475a"/>
    <p:sldId xmlns:r="http://schemas.openxmlformats.org/officeDocument/2006/relationships" id="262" r:id="Rbf447578475741a9"/>
    <p:sldId xmlns:r="http://schemas.openxmlformats.org/officeDocument/2006/relationships" id="263" r:id="Rda96c14b00e544a9"/>
    <p:sldId xmlns:r="http://schemas.openxmlformats.org/officeDocument/2006/relationships" id="264" r:id="R214f567f49c34c87"/>
    <p:sldId xmlns:r="http://schemas.openxmlformats.org/officeDocument/2006/relationships" id="265" r:id="Rdfe891eb673e4f6f"/>
    <p:sldId xmlns:r="http://schemas.openxmlformats.org/officeDocument/2006/relationships" id="266" r:id="Ra542d4e6bd044047"/>
    <p:sldId xmlns:r="http://schemas.openxmlformats.org/officeDocument/2006/relationships" id="267" r:id="R86e9a98de109468a"/>
    <p:sldId xmlns:r="http://schemas.openxmlformats.org/officeDocument/2006/relationships" id="268" r:id="R4dbde6b6048a4c5b"/>
    <p:sldId xmlns:r="http://schemas.openxmlformats.org/officeDocument/2006/relationships" id="269" r:id="Rcae2d44c375a49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e758ca91e94001" /><Relationship Type="http://schemas.openxmlformats.org/officeDocument/2006/relationships/slideMaster" Target="/ppt/slideMasters/slideMaster1.xml" Id="Ra8f68d3763c44d43" /><Relationship Type="http://schemas.openxmlformats.org/officeDocument/2006/relationships/notesMaster" Target="/ppt/notesMasters/notesMaster1.xml" Id="R39c3d50feddb4aa6" /><Relationship Type="http://schemas.openxmlformats.org/officeDocument/2006/relationships/presProps" Target="/ppt/presProps.xml" Id="R7c1ed04a862d481d" /><Relationship Type="http://schemas.openxmlformats.org/officeDocument/2006/relationships/tableStyles" Target="/ppt/tableStyles.xml" Id="R5054f7e9ee244aaf" /><Relationship Type="http://schemas.openxmlformats.org/officeDocument/2006/relationships/slide" Target="/ppt/slides/slide1.xml" Id="Rfd78bd5c4e43467f" /><Relationship Type="http://schemas.openxmlformats.org/officeDocument/2006/relationships/slide" Target="/ppt/slides/slide2.xml" Id="Re8b8278afafb49cc" /><Relationship Type="http://schemas.openxmlformats.org/officeDocument/2006/relationships/slide" Target="/ppt/slides/slide3.xml" Id="R9e202d65b6214f21" /><Relationship Type="http://schemas.openxmlformats.org/officeDocument/2006/relationships/slide" Target="/ppt/slides/slide4.xml" Id="R4866a1fe39da44b9" /><Relationship Type="http://schemas.openxmlformats.org/officeDocument/2006/relationships/slide" Target="/ppt/slides/slide5.xml" Id="R0572c7dade684539" /><Relationship Type="http://schemas.openxmlformats.org/officeDocument/2006/relationships/slide" Target="/ppt/slides/slide6.xml" Id="Rac4998f91ab2475a" /><Relationship Type="http://schemas.openxmlformats.org/officeDocument/2006/relationships/slide" Target="/ppt/slides/slide7.xml" Id="Rbf447578475741a9" /><Relationship Type="http://schemas.openxmlformats.org/officeDocument/2006/relationships/slide" Target="/ppt/slides/slide8.xml" Id="Rda96c14b00e544a9" /><Relationship Type="http://schemas.openxmlformats.org/officeDocument/2006/relationships/slide" Target="/ppt/slides/slide9.xml" Id="R214f567f49c34c87" /><Relationship Type="http://schemas.openxmlformats.org/officeDocument/2006/relationships/slide" Target="/ppt/slides/slide10.xml" Id="Rdfe891eb673e4f6f" /><Relationship Type="http://schemas.openxmlformats.org/officeDocument/2006/relationships/slide" Target="/ppt/slides/slide11.xml" Id="Ra542d4e6bd044047" /><Relationship Type="http://schemas.openxmlformats.org/officeDocument/2006/relationships/slide" Target="/ppt/slides/slide12.xml" Id="R86e9a98de109468a" /><Relationship Type="http://schemas.openxmlformats.org/officeDocument/2006/relationships/slide" Target="/ppt/slides/slide13.xml" Id="R4dbde6b6048a4c5b" /><Relationship Type="http://schemas.openxmlformats.org/officeDocument/2006/relationships/slide" Target="/ppt/slides/slide14.xml" Id="Rcae2d44c375a49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f995908d7049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9f3d50be4f483f" /><Relationship Type="http://schemas.openxmlformats.org/officeDocument/2006/relationships/notesMaster" Target="/ppt/notesMasters/notesMaster1.xml" Id="R6906e383648c47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f6157a02104356" /><Relationship Type="http://schemas.openxmlformats.org/officeDocument/2006/relationships/notesMaster" Target="/ppt/notesMasters/notesMaster1.xml" Id="R63ffbf3fc7634f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a241acac274f43" /><Relationship Type="http://schemas.openxmlformats.org/officeDocument/2006/relationships/notesMaster" Target="/ppt/notesMasters/notesMaster1.xml" Id="R8463f94dfc0f45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567fd76c2d4d9f" /><Relationship Type="http://schemas.openxmlformats.org/officeDocument/2006/relationships/notesMaster" Target="/ppt/notesMasters/notesMaster1.xml" Id="R2f344d8904574e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ca72c0480c4717" /><Relationship Type="http://schemas.openxmlformats.org/officeDocument/2006/relationships/notesMaster" Target="/ppt/notesMasters/notesMaster1.xml" Id="R0638f33011ca49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9a478fc73e43cf" /><Relationship Type="http://schemas.openxmlformats.org/officeDocument/2006/relationships/notesMaster" Target="/ppt/notesMasters/notesMaster1.xml" Id="Rd4be62baa98440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02556119fc482c" /><Relationship Type="http://schemas.openxmlformats.org/officeDocument/2006/relationships/notesMaster" Target="/ppt/notesMasters/notesMaster1.xml" Id="Re6451a80323445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aee20535be434d" /><Relationship Type="http://schemas.openxmlformats.org/officeDocument/2006/relationships/notesMaster" Target="/ppt/notesMasters/notesMaster1.xml" Id="Rfa12bf33617347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a29d93352c4302" /><Relationship Type="http://schemas.openxmlformats.org/officeDocument/2006/relationships/notesMaster" Target="/ppt/notesMasters/notesMaster1.xml" Id="Rc75fe24f7b024a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d84e2440c24975" /><Relationship Type="http://schemas.openxmlformats.org/officeDocument/2006/relationships/notesMaster" Target="/ppt/notesMasters/notesMaster1.xml" Id="R5915c95ed25443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f5510cb8c14f4d" /><Relationship Type="http://schemas.openxmlformats.org/officeDocument/2006/relationships/notesMaster" Target="/ppt/notesMasters/notesMaster1.xml" Id="R7802026a462140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f36855398f4157" /><Relationship Type="http://schemas.openxmlformats.org/officeDocument/2006/relationships/notesMaster" Target="/ppt/notesMasters/notesMaster1.xml" Id="R3e6841b5d69c47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558c7684564306" /><Relationship Type="http://schemas.openxmlformats.org/officeDocument/2006/relationships/notesMaster" Target="/ppt/notesMasters/notesMaster1.xml" Id="R382a28b084d347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9cfcc7c82e420e" /><Relationship Type="http://schemas.openxmlformats.org/officeDocument/2006/relationships/notesMaster" Target="/ppt/notesMasters/notesMaster1.xml" Id="R437b6e07715b41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0:00–0:20 (20 seconds).</a:t>
            </a:r>
          </a:p>
          <a:p xmlns:a="http://schemas.openxmlformats.org/drawingml/2006/main">
            <a:r>
              <a:t>Talk track: ‘A complaint should not disappear between desks. Today I’ll show one customer-written complaint become a visible, governed bank outcome.’</a:t>
            </a:r>
          </a:p>
          <a:p xmlns:a="http://schemas.openxmlformats.org/drawingml/2006/main">
            <a:r>
              <a:t>Pause after ‘between desks’; then move directly to the human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Hackathon Demo Day Guideline supplied by the user, 12 Aug 2026.</a:t>
            </a:r>
          </a:p>
          <a:p xmlns:a="http://schemas.openxmlformats.org/drawingml/2006/main">
            <a:r>
              <a:t>- submission/01-project-copy/PROJECT_DESCRIPTION.md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0:20–0:50 (30 seconds).</a:t>
            </a:r>
          </a:p>
          <a:p xmlns:a="http://schemas.openxmlformats.org/drawingml/2006/main">
            <a:r>
              <a:t>Talk track: ‘This case-study bank serves 1.8 million customers. A complaint takes 90 minutes, and 11% of deadlines are missed. The harder problem is that evidence, ownership and deadlines drift between desks.’</a:t>
            </a:r>
          </a:p>
          <a:p xmlns:a="http://schemas.openxmlformats.org/drawingml/2006/main">
            <a:r>
              <a:t>The three figures are case-study baselines, not claims from the live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submission/01-project-copy/PROJECT_DESCRIPTION.md — Real-world scenario insight.</a:t>
            </a:r>
          </a:p>
          <a:p xmlns:a="http://schemas.openxmlformats.org/drawingml/2006/main">
            <a:r>
              <a:t>- submission/01-project-copy/RUBRIC_MAP.md — Impact &amp; Relevance.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0:50–1:20 (30 seconds).</a:t>
            </a:r>
          </a:p>
          <a:p xmlns:a="http://schemas.openxmlformats.org/drawingml/2006/main">
            <a:r>
              <a:t>Talk track: ‘CaseZero keeps the whole journey in one visible room. The customer writes. A specialist team checks. The system then signs a safe outcome. AI helps with meaning; bank rules own the irreversible decisions.’</a:t>
            </a:r>
          </a:p>
          <a:p xmlns:a="http://schemas.openxmlformats.org/drawingml/2006/main">
            <a:r>
              <a:t>This slide is the map for the live demo. Do not explain implementation details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submission/01-project-copy/PROJECT_DESCRIPTION.md — Comprehensive solution design.</a:t>
            </a:r>
          </a:p>
          <a:p xmlns:a="http://schemas.openxmlformats.org/drawingml/2006/main">
            <a:r>
              <a:t>- submission/01-project-copy/RUBRIC_MAP.md — Human-Centered Design and AI Interaction.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1:20–2:30 (70 seconds including interaction).</a:t>
            </a:r>
          </a:p>
          <a:p xmlns:a="http://schemas.openxmlformats.org/drawingml/2006/main">
            <a:r>
              <a:t>Live-demo cue: open https://casezero-alpha.vercel.app/live, select a fictional persona, type a short complaint, enter the PDF amount and merchant, attach a PDF, then select ‘Run my complaint’.</a:t>
            </a:r>
          </a:p>
          <a:p xmlns:a="http://schemas.openxmlformats.org/drawingml/2006/main">
            <a:r>
              <a:t>Say: ‘The identity is fictional so nobody needs real bank data. The complaint, amount, merchant and PDF are mine. There is no prefilled complaint.’</a:t>
            </a:r>
          </a:p>
          <a:p xmlns:a="http://schemas.openxmlformats.org/drawingml/2006/main">
            <a:r>
              <a:t>While the run is processing, point to the visible handoff rail and explain that each specialist leaves a receipt.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dashboard/app/live/page.tsx — stakeholder composer and fictional-identity disclosure.</a:t>
            </a:r>
          </a:p>
          <a:p xmlns:a="http://schemas.openxmlformats.org/drawingml/2006/main">
            <a:r>
              <a:t>- dashboard/e2e/live.spec.ts — visitor subject, body and PDF assertions.</a:t>
            </a:r>
          </a:p>
          <a:p xmlns:a="http://schemas.openxmlformats.org/drawingml/2006/main">
            <a:r>
              <a:t>- submission/assets/deck/composer.png — fresh local browser capture.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2:30–3:10 (40 seconds).</a:t>
            </a:r>
          </a:p>
          <a:p xmlns:a="http://schemas.openxmlformats.org/drawingml/2006/main">
            <a:r>
              <a:t>Live-demo cue: when the run completes, point first to ‘This result starts with what you submitted’. Confirm the subject, amount, merchant, PDF name and body fingerprint on screen.</a:t>
            </a:r>
          </a:p>
          <a:p xmlns:a="http://schemas.openxmlformats.org/drawingml/2006/main">
            <a:r>
              <a:t>Then point to the verified result, the linked event count and the balanced journal. Avoid reading every receipt; the judges only need to see the proof is inspectable.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api/main.py — stakeholder-authored proof input and execution evidence.</a:t>
            </a:r>
          </a:p>
          <a:p xmlns:a="http://schemas.openxmlformats.org/drawingml/2006/main">
            <a:r>
              <a:t>- api/tests/test_api.py — custom visitor complaint/PDF integration test.</a:t>
            </a:r>
          </a:p>
          <a:p xmlns:a="http://schemas.openxmlformats.org/drawingml/2006/main">
            <a:r>
              <a:t>- submission/assets/deck/input-receipt.png — fresh local browser capture.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3:10–3:45 (35 seconds).</a:t>
            </a:r>
          </a:p>
          <a:p xmlns:a="http://schemas.openxmlformats.org/drawingml/2006/main">
            <a:r>
              <a:t>Talk track: ‘A fast wrong answer is still wrong. Models help interpret. Deterministic bank rules decide the irreversible parts. If an upload contains prompt injection or a foreign identity, CaseZero refuses it before the first model call and explains what a person should do next.’</a:t>
            </a:r>
          </a:p>
          <a:p xmlns:a="http://schemas.openxmlformats.org/drawingml/2006/main">
            <a:r>
              <a:t>If time permits, use the sample-run refusal control; otherwise use this slide as the refusal proof.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submission/01-project-copy/PROJECT_DESCRIPTION.md — responsible-AI controls.</a:t>
            </a:r>
          </a:p>
          <a:p xmlns:a="http://schemas.openxmlformats.org/drawingml/2006/main">
            <a:r>
              <a:t>- submission/01-project-copy/RUBRIC_MAP.md — Responsible AI &amp; Ethics.</a:t>
            </a:r>
          </a:p>
          <a:p xmlns:a="http://schemas.openxmlformats.org/drawingml/2006/main">
            <a:r>
              <a:t>- submission/assets/deck/boardroom-refused.png — fresh local browser capture.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3:45–4:25 (40 seconds).</a:t>
            </a:r>
          </a:p>
          <a:p xmlns:a="http://schemas.openxmlformats.org/drawingml/2006/main">
            <a:r>
              <a:t>Talk track: ‘The case-study baseline is 90 minutes. Our current public proof completes in under 30 seconds. We start with unauthorized transactions and billing errors—57% of stated volume—then integrate bank-owned systems only after compliance and security approval.’</a:t>
            </a:r>
          </a:p>
          <a:p xmlns:a="http://schemas.openxmlformats.org/drawingml/2006/main">
            <a:r>
              <a:t>Important: call 90 minutes a baseline and under 30 seconds a measured public-run result. The 57% is a case-study rollout assumption.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submission/01-project-copy/PROJECT_DESCRIPTION.md — Business value and feasibility caveat.</a:t>
            </a:r>
          </a:p>
          <a:p xmlns:a="http://schemas.openxmlformats.org/drawingml/2006/main">
            <a:r>
              <a:t>- Public production proof recorded by the CaseZero API; exact run ID is refreshed during final deployment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4:25–4:40 (15 seconds). Keep the remaining twenty seconds as demo buffer.</a:t>
            </a:r>
          </a:p>
          <a:p xmlns:a="http://schemas.openxmlformats.org/drawingml/2006/main">
            <a:r>
              <a:t>Talk track: ‘Give us one complaint. We’ll give every customer, operator and auditor the same provable story. CaseZero turns trust from a promise into something you can inspect.’</a:t>
            </a:r>
          </a:p>
          <a:p xmlns:a="http://schemas.openxmlformats.org/drawingml/2006/main">
            <a:r>
              <a:t>End on the URL. Do not add a new feature list. Invite questions and jump to the relevant appendix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Hackathon Demo Day Guideline supplied by the user, 12 Aug 2026.</a:t>
            </a:r>
          </a:p>
          <a:p xmlns:a="http://schemas.openxmlformats.org/drawingml/2006/main">
            <a:r>
              <a:t>- Live URL: https://casezero-alpha.vercel.app/live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 use only. Do not present this slide in the timed five-minute run.</a:t>
            </a:r>
          </a:p>
          <a:p xmlns:a="http://schemas.openxmlformats.org/drawingml/2006/main">
            <a:r>
              <a:t>Click to this slide only when a judge asks a related question. Start with the one-sentence answer shown; add detail only if requested.</a:t>
            </a:r>
          </a:p>
          <a:p xmlns:a="http://schemas.openxmlformats.org/drawingml/2006/main">
            <a:r>
              <a:t>Questions covered: Who is the primary user? | What changes for the customer? | What changes for the bank? | How do you measure value?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submission/01-project-copy/PROJECT_DESCRIPTION.md</a:t>
            </a:r>
          </a:p>
          <a:p xmlns:a="http://schemas.openxmlformats.org/drawingml/2006/main">
            <a:r>
              <a:t>- submission/01-project-copy/RUBRIC_MAP.md</a:t>
            </a:r>
          </a:p>
          <a:p xmlns:a="http://schemas.openxmlformats.org/drawingml/2006/main">
            <a:r>
              <a:t>- UI_UX_AUDIT.md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 use only. Do not present this slide in the timed five-minute run.</a:t>
            </a:r>
          </a:p>
          <a:p xmlns:a="http://schemas.openxmlformats.org/drawingml/2006/main">
            <a:r>
              <a:t>Click to this slide only when a judge asks a related question. Start with the one-sentence answer shown; add detail only if requested.</a:t>
            </a:r>
          </a:p>
          <a:p xmlns:a="http://schemas.openxmlformats.org/drawingml/2006/main">
            <a:r>
              <a:t>Questions covered: Where is AI used? | What does AI never decide? | What makes CaseZero different? | Why six specialists?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submission/01-project-copy/PROJECT_DESCRIPTION.md</a:t>
            </a:r>
          </a:p>
          <a:p xmlns:a="http://schemas.openxmlformats.org/drawingml/2006/main">
            <a:r>
              <a:t>- submission/01-project-copy/RUBRIC_MAP.md</a:t>
            </a:r>
          </a:p>
          <a:p xmlns:a="http://schemas.openxmlformats.org/drawingml/2006/main">
            <a:r>
              <a:t>- UI_UX_AUDIT.md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 use only. Do not present this slide in the timed five-minute run.</a:t>
            </a:r>
          </a:p>
          <a:p xmlns:a="http://schemas.openxmlformats.org/drawingml/2006/main">
            <a:r>
              <a:t>Click to this slide only when a judge asks a related question. Start with the one-sentence answer shown; add detail only if requested.</a:t>
            </a:r>
          </a:p>
          <a:p xmlns:a="http://schemas.openxmlformats.org/drawingml/2006/main">
            <a:r>
              <a:t>Questions covered: What happens if the AI is uncertain? | How do you handle prompt injection? | How is personal data protected? | Can staff override the system?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submission/01-project-copy/PROJECT_DESCRIPTION.md</a:t>
            </a:r>
          </a:p>
          <a:p xmlns:a="http://schemas.openxmlformats.org/drawingml/2006/main">
            <a:r>
              <a:t>- submission/01-project-copy/RUBRIC_MAP.md</a:t>
            </a:r>
          </a:p>
          <a:p xmlns:a="http://schemas.openxmlformats.org/drawingml/2006/main">
            <a:r>
              <a:t>- UI_UX_AUDIT.md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 use only. Do not present this slide in the timed five-minute run.</a:t>
            </a:r>
          </a:p>
          <a:p xmlns:a="http://schemas.openxmlformats.org/drawingml/2006/main">
            <a:r>
              <a:t>Click to this slide only when a judge asks a related question. Start with the one-sentence answer shown; add detail only if requested.</a:t>
            </a:r>
          </a:p>
          <a:p xmlns:a="http://schemas.openxmlformats.org/drawingml/2006/main">
            <a:r>
              <a:t>Questions covered: Is this only a prototype? | What still needs the bank? | How would you start? | What if a bank already has a case system?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submission/01-project-copy/PROJECT_DESCRIPTION.md</a:t>
            </a:r>
          </a:p>
          <a:p xmlns:a="http://schemas.openxmlformats.org/drawingml/2006/main">
            <a:r>
              <a:t>- submission/01-project-copy/RUBRIC_MAP.md</a:t>
            </a:r>
          </a:p>
          <a:p xmlns:a="http://schemas.openxmlformats.org/drawingml/2006/main">
            <a:r>
              <a:t>- UI_UX_AUDIT.md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 use only. Do not present this slide in the timed five-minute run.</a:t>
            </a:r>
          </a:p>
          <a:p xmlns:a="http://schemas.openxmlformats.org/drawingml/2006/main">
            <a:r>
              <a:t>Click to this slide only when a judge asks a related question. Start with the one-sentence answer shown; add detail only if requested.</a:t>
            </a:r>
          </a:p>
          <a:p xmlns:a="http://schemas.openxmlformats.org/drawingml/2006/main">
            <a:r>
              <a:t>Questions covered: Is the complaint prefilled? | Does the PDF really matter? | What if the PDF is scanned? | Is it accessible on mobile?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submission/01-project-copy/PROJECT_DESCRIPTION.md</a:t>
            </a:r>
          </a:p>
          <a:p xmlns:a="http://schemas.openxmlformats.org/drawingml/2006/main">
            <a:r>
              <a:t>- submission/01-project-copy/RUBRIC_MAP.md</a:t>
            </a:r>
          </a:p>
          <a:p xmlns:a="http://schemas.openxmlformats.org/drawingml/2006/main">
            <a:r>
              <a:t>- UI_UX_AUDIT.md</a:t>
            </a:r>
          </a:p>
          <a:p xmlns:a="http://schemas.openxmlformats.org/drawingml/2006/main">
            <a:r>
              <a:t>- dashboard/app/live/page.tsx and dashboard/e2e/live.spec.ts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 use only. Do not present this slide in the timed five-minute run.</a:t>
            </a:r>
          </a:p>
          <a:p xmlns:a="http://schemas.openxmlformats.org/drawingml/2006/main">
            <a:r>
              <a:t>Click to this slide only when a judge asks a related question. Start with the one-sentence answer shown; add detail only if requested.</a:t>
            </a:r>
          </a:p>
          <a:p xmlns:a="http://schemas.openxmlformats.org/drawingml/2006/main">
            <a:r>
              <a:t>Questions covered: What proof does one run leave? | Can a model fake a successful result? | How is it tested? | What should we verify live?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submission/01-project-copy/PROJECT_DESCRIPTION.md</a:t>
            </a:r>
          </a:p>
          <a:p xmlns:a="http://schemas.openxmlformats.org/drawingml/2006/main">
            <a:r>
              <a:t>- submission/01-project-copy/RUBRIC_MAP.md</a:t>
            </a:r>
          </a:p>
          <a:p xmlns:a="http://schemas.openxmlformats.org/drawingml/2006/main">
            <a:r>
              <a:t>- UI_UX_AUDIT.md</a:t>
            </a:r>
          </a:p>
          <a:p xmlns:a="http://schemas.openxmlformats.org/drawingml/2006/main">
            <a:r>
              <a:t>- api/main.py and api/tests/test_api.py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433908f7f240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4c6ed4a4464f7a" /><Relationship Type="http://schemas.openxmlformats.org/officeDocument/2006/relationships/slideLayout" Target="/ppt/slideLayouts/slideLayout1.xml" Id="R1afcca7419d64e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fcca7419d64e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31c8b652449cd" /><Relationship Type="http://schemas.openxmlformats.org/officeDocument/2006/relationships/notesSlide" Target="/ppt/notesSlides/notesSlide1.xml" Id="R15c5a495eed847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860e1ed944379" /><Relationship Type="http://schemas.openxmlformats.org/officeDocument/2006/relationships/notesSlide" Target="/ppt/notesSlides/notesSlide2.xml" Id="R2aed9667316446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a4323691f4f17" /><Relationship Type="http://schemas.openxmlformats.org/officeDocument/2006/relationships/notesSlide" Target="/ppt/notesSlides/notesSlide3.xml" Id="R40a57ad2343245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b43a1db5e41da" /><Relationship Type="http://schemas.openxmlformats.org/officeDocument/2006/relationships/image" Target="/ppt/media/image.png" Id="R9b06b88fe81a4e09" /><Relationship Type="http://schemas.openxmlformats.org/officeDocument/2006/relationships/notesSlide" Target="/ppt/notesSlides/notesSlide4.xml" Id="R75497310628e4d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7194feed44142" /><Relationship Type="http://schemas.openxmlformats.org/officeDocument/2006/relationships/image" Target="/ppt/media/image2.png" Id="R77d330e63449472c" /><Relationship Type="http://schemas.openxmlformats.org/officeDocument/2006/relationships/notesSlide" Target="/ppt/notesSlides/notesSlide5.xml" Id="R813cd22bec2c40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4aa4bab7e4c88" /><Relationship Type="http://schemas.openxmlformats.org/officeDocument/2006/relationships/image" Target="/ppt/media/image3.png" Id="R630039daa7834f0b" /><Relationship Type="http://schemas.openxmlformats.org/officeDocument/2006/relationships/notesSlide" Target="/ppt/notesSlides/notesSlide6.xml" Id="R7001ca37964846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6e82e39cc44aa" /><Relationship Type="http://schemas.openxmlformats.org/officeDocument/2006/relationships/notesSlide" Target="/ppt/notesSlides/notesSlide7.xml" Id="Rea6cac64449840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61e3218434121" /><Relationship Type="http://schemas.openxmlformats.org/officeDocument/2006/relationships/notesSlide" Target="/ppt/notesSlides/notesSlide8.xml" Id="R34de7f7fd1ed4d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44dc95d44432e" /><Relationship Type="http://schemas.openxmlformats.org/officeDocument/2006/relationships/notesSlide" Target="/ppt/notesSlides/notesSlide9.xml" Id="R5aeea0d10e3241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8a3b7851f4070" /><Relationship Type="http://schemas.openxmlformats.org/officeDocument/2006/relationships/notesSlide" Target="/ppt/notesSlides/notesSlide10.xml" Id="R5dd9d636143742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40ed803b44c2f" /><Relationship Type="http://schemas.openxmlformats.org/officeDocument/2006/relationships/notesSlide" Target="/ppt/notesSlides/notesSlide11.xml" Id="R5e192cc238274f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fe655f7c04af8" /><Relationship Type="http://schemas.openxmlformats.org/officeDocument/2006/relationships/notesSlide" Target="/ppt/notesSlides/notesSlide12.xml" Id="R7b449cfc2c99411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79187662f49b3" /><Relationship Type="http://schemas.openxmlformats.org/officeDocument/2006/relationships/notesSlide" Target="/ppt/notesSlides/notesSlide13.xml" Id="Rd512723afd5c44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72a3f57db4c61" /><Relationship Type="http://schemas.openxmlformats.org/officeDocument/2006/relationships/notesSlide" Target="/ppt/notesSlides/notesSlide14.xml" Id="R00ee264bfa7d48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F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DAA56-0AB9-4EB2-B5A0-BAFCB1AE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8BFB0"/>
                </a:solidFill>
              </a:defRPr>
            </a:pPr>
            <a:r>
              <a:rPr sz="900" b="1" i="0">
                <a:solidFill>
                  <a:srgbClr val="A8BFB0"/>
                </a:solidFill>
              </a:rPr>
              <a:t>CASEZERO  /  DEMO 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7A55F-7F4D-4C32-B045-12F0879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8096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FFFFF"/>
                </a:solidFill>
              </a:defRPr>
            </a:pPr>
            <a:r>
              <a:rPr sz="4650" b="1" i="0">
                <a:solidFill>
                  <a:srgbClr val="FFFFFF"/>
                </a:solidFill>
              </a:rPr>
              <a:t>A complaint should not disappear between desks.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05B18-032F-4C02-B8CD-C091A15A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A8BFB0"/>
                </a:solidFill>
              </a:defRPr>
            </a:pPr>
            <a:r>
              <a:rPr sz="1725" b="0" i="0">
                <a:solidFill>
                  <a:srgbClr val="A8BFB0"/>
                </a:solidFill>
              </a:rPr>
              <a:t>Axiom turns one customer email and PDF into a visible, governed outcome — in minutes, not hours.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07526-723A-4B56-93EE-2BC4E7C2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257300"/>
            <a:ext cx="2667000" cy="37338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11813"/>
          </a:solidFill>
          <a:ln xmlns:a="http://schemas.openxmlformats.org/drawingml/2006/main" w="19050">
            <a:solidFill>
              <a:srgbClr val="365F4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2296E-E605-4778-8DCE-E87A8C4D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8B2333"/>
                </a:solidFill>
              </a:defRPr>
            </a:pPr>
            <a:r>
              <a:rPr sz="3150" b="1" i="0">
                <a:solidFill>
                  <a:srgbClr val="8B2333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FDB38-F47E-46FE-AF59-A4FA2534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4790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CUSTOMER</a:t>
            </a:r>
          </a:p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WRITES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ADB41-39EE-4137-8642-7079173E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1676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F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49F1F-8086-4F49-AABF-AE7A5A06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8B2333"/>
                </a:solidFill>
              </a:defRPr>
            </a:pPr>
            <a:r>
              <a:rPr sz="3150" b="1" i="0">
                <a:solidFill>
                  <a:srgbClr val="8B2333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392E4-1523-48D9-937D-6B4C3274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BANK</a:t>
            </a:r>
          </a:p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PROVES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C5DA2-03AE-41BB-9938-DBAA025B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BAD9F"/>
                </a:solidFill>
              </a:defRPr>
            </a:pPr>
            <a:r>
              <a:rPr sz="750" b="1" i="0">
                <a:solidFill>
                  <a:srgbClr val="9BAD9F"/>
                </a:solidFill>
              </a:rPr>
              <a:t>AXIOM BY CASEZERO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E2B59-7595-498F-A3AF-CB2D301D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9BAD9F"/>
                </a:solidFill>
              </a:defRPr>
            </a:pPr>
            <a:r>
              <a:rPr sz="825" b="1" i="0">
                <a:solidFill>
                  <a:srgbClr val="9BAD9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225971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4EA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06A39F-7CA9-40AD-BE35-A65CF431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2333"/>
                </a:solidFill>
              </a:defRPr>
            </a:pPr>
            <a:r>
              <a:rPr sz="900" b="1" i="0">
                <a:solidFill>
                  <a:srgbClr val="8B2333"/>
                </a:solidFill>
              </a:rPr>
              <a:t>THE HUMAN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2F400-480C-4CD6-A6E7-0279B61E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00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31A15"/>
                </a:solidFill>
              </a:defRPr>
            </a:pPr>
            <a:r>
              <a:rPr sz="3600" b="1" i="0">
                <a:solidFill>
                  <a:srgbClr val="131A15"/>
                </a:solidFill>
              </a:rPr>
              <a:t>The customer waits. The bank loses the thread.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DDBF5-F462-4299-BC8B-EB809A47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56158"/>
                </a:solidFill>
              </a:defRPr>
            </a:pPr>
            <a:r>
              <a:rPr sz="750" b="1" i="0">
                <a:solidFill>
                  <a:srgbClr val="556158"/>
                </a:solidFill>
              </a:rPr>
              <a:t>AXIOM BY CASEZERO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2A84E-C95A-443D-AEE8-EB2E79F9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56158"/>
                </a:solidFill>
              </a:defRPr>
            </a:pPr>
            <a:r>
              <a:rPr sz="825" b="1" i="0">
                <a:solidFill>
                  <a:srgbClr val="556158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0D966-43DD-403D-BFBA-3C4108C4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131A15"/>
                </a:solidFill>
              </a:defRPr>
            </a:pPr>
            <a:r>
              <a:rPr sz="4050" b="1" i="0">
                <a:solidFill>
                  <a:srgbClr val="131A15"/>
                </a:solidFill>
              </a:rPr>
              <a:t>90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DAF5B-9A6D-4493-837A-4EFE1E3C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baseline handling time</a:t>
            </a:r>
          </a:p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per complaint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7BB89-695E-4612-96AF-080F2009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003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8B2333"/>
                </a:solidFill>
              </a:defRPr>
            </a:pPr>
            <a:r>
              <a:rPr sz="4050" b="1" i="0">
                <a:solidFill>
                  <a:srgbClr val="8B2333"/>
                </a:solidFill>
              </a:rPr>
              <a:t>11%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F79BB-2ED7-420D-AD43-346001B3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718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regulatory deadlines</a:t>
            </a:r>
          </a:p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missed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E6CDD-74F9-4B98-B208-8BAD3FB7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3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131A15"/>
                </a:solidFill>
              </a:defRPr>
            </a:pPr>
            <a:r>
              <a:rPr sz="4050" b="1" i="0">
                <a:solidFill>
                  <a:srgbClr val="131A15"/>
                </a:solidFill>
              </a:rPr>
              <a:t>1.8M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F6713-9FBD-432F-99C9-8A1D33B1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retail and SME</a:t>
            </a:r>
          </a:p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customers affected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1E1B8-ED21-4451-8A24-9FCD0414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33600"/>
            <a:ext cx="1885950" cy="20764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0B0F0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4AF8B-2FBC-4B02-8484-0A322B3B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003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8BFB0"/>
                </a:solidFill>
              </a:defRPr>
            </a:pPr>
            <a:r>
              <a:rPr sz="1125" b="1" i="0">
                <a:solidFill>
                  <a:srgbClr val="A8BFB0"/>
                </a:solidFill>
              </a:rPr>
              <a:t>The real failure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F12DD-5D63-4B8A-B5E5-36B6E397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95600"/>
            <a:ext cx="1390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Evidence, ownership and deadlines drift between teams.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C75B9F-19A6-48A1-929A-D259B51B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F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EC8A5-6CB4-4834-9A6A-5EC6B018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31A15"/>
                </a:solidFill>
              </a:defRPr>
            </a:pPr>
            <a:r>
              <a:rPr sz="1800" b="1" i="0">
                <a:solidFill>
                  <a:srgbClr val="131A15"/>
                </a:solidFill>
              </a:rPr>
              <a:t>So speed alone is not enough. Every handoff must stay understandable, safe and provable.</a:t>
            </a:r>
          </a:p>
        </p:txBody>
      </p:sp>
    </p:spTree>
    <p:extLst>
      <p:ext uri="{BB962C8B-B14F-4D97-AF65-F5344CB8AC3E}">
        <p14:creationId xmlns:p14="http://schemas.microsoft.com/office/powerpoint/2010/main" val="14521702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4EA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E53630-3172-4D7D-AE9F-547B7EBB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2333"/>
                </a:solidFill>
              </a:defRPr>
            </a:pPr>
            <a:r>
              <a:rPr sz="900" b="1" i="0">
                <a:solidFill>
                  <a:srgbClr val="8B2333"/>
                </a:solidFill>
              </a:rPr>
              <a:t>THE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0083F-E938-4DDD-8395-D0E41230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31A15"/>
                </a:solidFill>
              </a:defRPr>
            </a:pPr>
            <a:r>
              <a:rPr sz="3600" b="1" i="0">
                <a:solidFill>
                  <a:srgbClr val="131A15"/>
                </a:solidFill>
              </a:rPr>
              <a:t>One complaint. One visible team. One signed outcome.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A9922-BF2C-4F5E-A899-C89C9102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56158"/>
                </a:solidFill>
              </a:defRPr>
            </a:pPr>
            <a:r>
              <a:rPr sz="750" b="1" i="0">
                <a:solidFill>
                  <a:srgbClr val="556158"/>
                </a:solidFill>
              </a:rPr>
              <a:t>AXIOM BY CASEZERO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ADE02-2DBC-4E5B-A22D-13F79983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56158"/>
                </a:solidFill>
              </a:defRPr>
            </a:pPr>
            <a:r>
              <a:rPr sz="825" b="1" i="0">
                <a:solidFill>
                  <a:srgbClr val="556158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ECE06-3037-4540-AB8B-522BAD31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33528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A0AC2-4C5A-4181-A38E-C04FCC8E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8B2333"/>
                </a:solidFill>
              </a:defRPr>
            </a:pPr>
            <a:r>
              <a:rPr sz="2100" b="1" i="0">
                <a:solidFill>
                  <a:srgbClr val="8B233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1B7EE-C228-4E4D-BE8F-AFE8CF39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31A15"/>
                </a:solidFill>
              </a:defRPr>
            </a:pPr>
            <a:r>
              <a:rPr sz="1875" b="1" i="0">
                <a:solidFill>
                  <a:srgbClr val="131A15"/>
                </a:solidFill>
              </a:rPr>
              <a:t>Customer writes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EF34A-BB94-447C-A93A-7ED8EC68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819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6158"/>
                </a:solidFill>
              </a:defRPr>
            </a:pPr>
            <a:r>
              <a:rPr sz="1350" b="0" i="0">
                <a:solidFill>
                  <a:srgbClr val="556158"/>
                </a:solidFill>
              </a:rPr>
              <a:t>Their own words and PDF become the case input.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F29137-5F61-443A-B8FA-140C958E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38500"/>
            <a:ext cx="32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8B2333"/>
                </a:solidFill>
              </a:defRPr>
            </a:pPr>
            <a:r>
              <a:rPr sz="2250" b="1" i="0">
                <a:solidFill>
                  <a:srgbClr val="8B2333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9EA97-1155-4619-883A-28034577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33600"/>
            <a:ext cx="33528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6C8A8C-A2B7-42E4-AC34-7838E24A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431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8B2333"/>
                </a:solidFill>
              </a:defRPr>
            </a:pPr>
            <a:r>
              <a:rPr sz="2100" b="1" i="0">
                <a:solidFill>
                  <a:srgbClr val="8B2333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BE45C-7B6C-45C6-AA69-C6EB903F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527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31A15"/>
                </a:solidFill>
              </a:defRPr>
            </a:pPr>
            <a:r>
              <a:rPr sz="1875" b="1" i="0">
                <a:solidFill>
                  <a:srgbClr val="131A15"/>
                </a:solidFill>
              </a:rPr>
              <a:t>A visible team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C6951-FD24-4F9F-BDD3-8A78C4C2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2819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6158"/>
                </a:solidFill>
              </a:defRPr>
            </a:pPr>
            <a:r>
              <a:rPr sz="1350" b="0" i="0">
                <a:solidFill>
                  <a:srgbClr val="556158"/>
                </a:solidFill>
              </a:rPr>
              <a:t>Every handoff shows who acted and what they found.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498AD-E196-49F4-B582-7DEE9A6F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38500"/>
            <a:ext cx="32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8B2333"/>
                </a:solidFill>
              </a:defRPr>
            </a:pPr>
            <a:r>
              <a:rPr sz="2250" b="1" i="0">
                <a:solidFill>
                  <a:srgbClr val="8B2333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800E3-08A8-45A7-830B-C8CC6F9C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33600"/>
            <a:ext cx="33528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0B0F0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68DA86-A2C0-4F81-8D44-892527B7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431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8B2333"/>
                </a:solidFill>
              </a:defRPr>
            </a:pPr>
            <a:r>
              <a:rPr sz="2100" b="1" i="0">
                <a:solidFill>
                  <a:srgbClr val="8B2333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2D61A7-3D2B-406D-879D-87864151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Rules protect the outcome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E18385-6317-42E5-A65A-AAEEA215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2819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8BFB0"/>
                </a:solidFill>
              </a:defRPr>
            </a:pPr>
            <a:r>
              <a:rPr sz="1350" b="0" i="0">
                <a:solidFill>
                  <a:srgbClr val="A8BFB0"/>
                </a:solidFill>
              </a:rPr>
              <a:t>AI may suggest; bank rules decide money, deadlines and disclosures.</a:t>
            </a:r>
          </a:p>
        </p:txBody>
      </p:sp>
    </p:spTree>
    <p:extLst>
      <p:ext uri="{BB962C8B-B14F-4D97-AF65-F5344CB8AC3E}">
        <p14:creationId xmlns:p14="http://schemas.microsoft.com/office/powerpoint/2010/main" val="18049216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4EA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B65D5F-1245-4A9F-B05E-1B63A1E8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2333"/>
                </a:solidFill>
              </a:defRPr>
            </a:pPr>
            <a:r>
              <a:rPr sz="900" b="1" i="0">
                <a:solidFill>
                  <a:srgbClr val="8B2333"/>
                </a:solidFill>
              </a:rPr>
              <a:t>LIVE DEMO · STEP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44497-9886-4D61-B54D-437A3C92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04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31A15"/>
                </a:solidFill>
              </a:defRPr>
            </a:pPr>
            <a:r>
              <a:rPr sz="3300" b="1" i="0">
                <a:solidFill>
                  <a:srgbClr val="131A15"/>
                </a:solidFill>
              </a:rPr>
              <a:t>Nothing is pre-written except the fictional identity.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FEEF5-4219-4892-BB45-D49149BA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56158"/>
                </a:solidFill>
              </a:defRPr>
            </a:pPr>
            <a:r>
              <a:rPr sz="750" b="1" i="0">
                <a:solidFill>
                  <a:srgbClr val="556158"/>
                </a:solidFill>
              </a:rPr>
              <a:t>AXIOM BY CASEZERO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8740D-5EC7-4C04-A2CB-8496B11C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56158"/>
                </a:solidFill>
              </a:defRPr>
            </a:pPr>
            <a:r>
              <a:rPr sz="825" b="1" i="0">
                <a:solidFill>
                  <a:srgbClr val="556158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C92A6-5FA5-4559-A520-D14E5AFA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257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8B2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5F34D-4AFA-4358-8CD2-98C80436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VISITOR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DDEE1-CD62-4BA3-A5F4-65CAEFB0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31A15"/>
                </a:solidFill>
              </a:defRPr>
            </a:pPr>
            <a:r>
              <a:rPr sz="2025" b="1" i="0">
                <a:solidFill>
                  <a:srgbClr val="131A15"/>
                </a:solidFill>
              </a:rPr>
              <a:t>Type any complaint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5E73E-A518-4B1F-B7FA-A1B931F4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6158"/>
                </a:solidFill>
              </a:defRPr>
            </a:pPr>
            <a:r>
              <a:rPr sz="1350" b="0" i="0">
                <a:solidFill>
                  <a:srgbClr val="556158"/>
                </a:solidFill>
              </a:rPr>
              <a:t>Use your own subject and words.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350E4-12DE-4AF8-BC37-C0473EB6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31A15"/>
                </a:solidFill>
              </a:defRPr>
            </a:pPr>
            <a:r>
              <a:rPr sz="2025" b="1" i="0">
                <a:solidFill>
                  <a:srgbClr val="131A15"/>
                </a:solidFill>
              </a:rPr>
              <a:t>Upload your 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6CF8D-8D19-41AE-8B71-820B1447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6158"/>
                </a:solidFill>
              </a:defRPr>
            </a:pPr>
            <a:r>
              <a:rPr sz="1350" b="0" i="0">
                <a:solidFill>
                  <a:srgbClr val="556158"/>
                </a:solidFill>
              </a:rPr>
              <a:t>The amount, merchant and evidence filename follow what you submit.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F6B2D-D875-432D-A90A-0FB5B92E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F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56A59-11BB-497A-ACA6-2C65A266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B2333"/>
                </a:solidFill>
              </a:defRPr>
            </a:pPr>
            <a:r>
              <a:rPr sz="1050" b="1" i="0">
                <a:solidFill>
                  <a:srgbClr val="8B2333"/>
                </a:solidFill>
              </a:rPr>
              <a:t>Demo safety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842B0-75DA-40E1-8937-EA1134D8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31A15"/>
                </a:solidFill>
              </a:defRPr>
            </a:pPr>
            <a:r>
              <a:rPr sz="1275" b="0" i="0">
                <a:solidFill>
                  <a:srgbClr val="131A15"/>
                </a:solidFill>
              </a:rPr>
              <a:t>Only the customer name, email and account are fictional.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A8E267-72E0-46C6-8AD9-0EFF54D9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52600"/>
            <a:ext cx="70294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6b88fe81a4e09"/>
          <a:stretch xmlns:a="http://schemas.openxmlformats.org/drawingml/2006/main"/>
        </p:blipFill>
        <p:spPr>
          <a:xfrm xmlns:a="http://schemas.openxmlformats.org/drawingml/2006/main">
            <a:off x="7139159" y="1924050"/>
            <a:ext cx="1780833" cy="3867150"/>
          </a:xfrm>
          <a:prstGeom xmlns:a="http://schemas.openxmlformats.org/drawingml/2006/main" prst="roundRect">
            <a:avLst>
              <a:gd name="adj" fmla="val 2956"/>
            </a:avLst>
          </a:prstGeom>
        </p:spPr>
      </p:pic>
    </p:spTree>
    <p:extLst>
      <p:ext uri="{BB962C8B-B14F-4D97-AF65-F5344CB8AC3E}">
        <p14:creationId xmlns:p14="http://schemas.microsoft.com/office/powerpoint/2010/main" val="11409223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4EA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A8E3EB-14A1-4452-B959-43A9FF54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2333"/>
                </a:solidFill>
              </a:defRPr>
            </a:pPr>
            <a:r>
              <a:rPr sz="900" b="1" i="0">
                <a:solidFill>
                  <a:srgbClr val="8B2333"/>
                </a:solidFill>
              </a:rPr>
              <a:t>LIVE DEMO · STEP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AD2E7-8DC0-48B3-968B-FF804D6C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31A15"/>
                </a:solidFill>
              </a:defRPr>
            </a:pPr>
            <a:r>
              <a:rPr sz="3300" b="1" i="0">
                <a:solidFill>
                  <a:srgbClr val="131A15"/>
                </a:solidFill>
              </a:rPr>
              <a:t>The screen gives the visitor their input receipt.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D26FF-9655-4099-8D6F-9FF14F97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56158"/>
                </a:solidFill>
              </a:defRPr>
            </a:pPr>
            <a:r>
              <a:rPr sz="750" b="1" i="0">
                <a:solidFill>
                  <a:srgbClr val="556158"/>
                </a:solidFill>
              </a:rPr>
              <a:t>AXIOM BY CASEZERO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FE997-2E16-496C-897D-9DD1667F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56158"/>
                </a:solidFill>
              </a:defRPr>
            </a:pPr>
            <a:r>
              <a:rPr sz="825" b="1" i="0">
                <a:solidFill>
                  <a:srgbClr val="556158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BE33D-AAD8-48CE-B86F-A0302AC6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7696200" cy="4019550"/>
          </a:xfrm>
          <a:prstGeom xmlns:a="http://schemas.openxmlformats.org/drawingml/2006/main" prst="roundRect">
            <a:avLst>
              <a:gd name="adj" fmla="val 1896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d330e63449472c"/>
          <a:stretch xmlns:a="http://schemas.openxmlformats.org/drawingml/2006/main"/>
        </p:blipFill>
        <p:spPr>
          <a:xfrm xmlns:a="http://schemas.openxmlformats.org/drawingml/2006/main">
            <a:off x="800100" y="2933787"/>
            <a:ext cx="7353300" cy="1771477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C5092-3B3F-435E-B779-4766A15F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6690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B0F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9D065-72B2-48A1-863F-F3A5E9F8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145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INPUT RECEIPT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826BB-97A4-4311-9B83-8585B7BC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38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333"/>
                </a:solidFill>
              </a:defRPr>
            </a:pPr>
            <a:r>
              <a:rPr sz="975" b="1" i="0">
                <a:solidFill>
                  <a:srgbClr val="8B2333"/>
                </a:solidFill>
              </a:rPr>
              <a:t>Subject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9EE9B-DB98-4CD2-A65A-3E00EB41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31A15"/>
                </a:solidFill>
              </a:defRPr>
            </a:pPr>
            <a:r>
              <a:rPr sz="1350" b="1" i="0">
                <a:solidFill>
                  <a:srgbClr val="131A15"/>
                </a:solidFill>
              </a:rPr>
              <a:t>exact visitor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1D784-7D6C-49CF-83CA-9121F565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81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333"/>
                </a:solidFill>
              </a:defRPr>
            </a:pPr>
            <a:r>
              <a:rPr sz="975" b="1" i="0">
                <a:solidFill>
                  <a:srgbClr val="8B2333"/>
                </a:solidFill>
              </a:rPr>
              <a:t>Claim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01AAA-8AEF-4A2A-9155-2FC57573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099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31A15"/>
                </a:solidFill>
              </a:defRPr>
            </a:pPr>
            <a:r>
              <a:rPr sz="1350" b="1" i="0">
                <a:solidFill>
                  <a:srgbClr val="131A15"/>
                </a:solidFill>
              </a:rPr>
              <a:t>amount + merchant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7C469-AB3E-48A1-8260-CFAFE07B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24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333"/>
                </a:solidFill>
              </a:defRPr>
            </a:pPr>
            <a:r>
              <a:rPr sz="975" b="1" i="0">
                <a:solidFill>
                  <a:srgbClr val="8B2333"/>
                </a:solidFill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F3D35-A34F-4859-A205-181D3993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529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31A15"/>
                </a:solidFill>
              </a:defRPr>
            </a:pPr>
            <a:r>
              <a:rPr sz="1350" b="1" i="0">
                <a:solidFill>
                  <a:srgbClr val="131A15"/>
                </a:solidFill>
              </a:rPr>
              <a:t>chosen PDF + read method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90FC1-2833-48B5-8D2E-98574C88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67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333"/>
                </a:solidFill>
              </a:defRPr>
            </a:pPr>
            <a:r>
              <a:rPr sz="975" b="1" i="0">
                <a:solidFill>
                  <a:srgbClr val="8B2333"/>
                </a:solidFill>
              </a:rPr>
              <a:t>Body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01651F-0F11-4E07-8C15-140A9334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958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31A15"/>
                </a:solidFill>
              </a:defRPr>
            </a:pPr>
            <a:r>
              <a:rPr sz="1350" b="1" i="0">
                <a:solidFill>
                  <a:srgbClr val="131A15"/>
                </a:solidFill>
              </a:rPr>
              <a:t>length + unique fingerprint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0BC911-6F25-4E81-96A2-223FC2F2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67350"/>
            <a:ext cx="251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Then the result shows the final state, event chain and balanced journal.</a:t>
            </a:r>
          </a:p>
        </p:txBody>
      </p:sp>
    </p:spTree>
    <p:extLst>
      <p:ext uri="{BB962C8B-B14F-4D97-AF65-F5344CB8AC3E}">
        <p14:creationId xmlns:p14="http://schemas.microsoft.com/office/powerpoint/2010/main" val="17342588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F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70207-8456-4625-919F-39842071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8BFB0"/>
                </a:solidFill>
              </a:defRPr>
            </a:pPr>
            <a:r>
              <a:rPr sz="900" b="1" i="0">
                <a:solidFill>
                  <a:srgbClr val="A8BFB0"/>
                </a:solidFill>
              </a:rPr>
              <a:t>RESPONSIBLE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79887-AE81-46C7-89FD-954B1CED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The most important feature is a safe ‘no’.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20A4F-8A2D-4BE1-BA12-E48DE728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BAD9F"/>
                </a:solidFill>
              </a:defRPr>
            </a:pPr>
            <a:r>
              <a:rPr sz="750" b="1" i="0">
                <a:solidFill>
                  <a:srgbClr val="9BAD9F"/>
                </a:solidFill>
              </a:rPr>
              <a:t>AXIOM BY CASEZERO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D4869-AA4A-472E-8EEC-14131B91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9BAD9F"/>
                </a:solidFill>
              </a:defRPr>
            </a:pPr>
            <a:r>
              <a:rPr sz="825" b="1" i="0">
                <a:solidFill>
                  <a:srgbClr val="9BAD9F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24453-0CD4-49EA-BF45-2C1E040E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AI interprets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3B149-8BB8-4C47-A53A-D669E07C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8BFB0"/>
                </a:solidFill>
              </a:defRPr>
            </a:pPr>
            <a:r>
              <a:rPr sz="1350" b="0" i="0">
                <a:solidFill>
                  <a:srgbClr val="A8BFB0"/>
                </a:solidFill>
              </a:rPr>
              <a:t>the complaint, category and customer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A04CD-A361-42AB-8A7E-9E85D025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Rules decide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8BDD8-FF8E-4A38-8596-9582C781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8BFB0"/>
                </a:solidFill>
              </a:defRPr>
            </a:pPr>
            <a:r>
              <a:rPr sz="1350" b="0" i="0">
                <a:solidFill>
                  <a:srgbClr val="A8BFB0"/>
                </a:solidFill>
              </a:rPr>
              <a:t>money movement, deadlines, authority and mandatory disclosures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D1960-6F35-4713-A38B-D6EF76E8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8B2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80FA1-48CA-4BE0-A52E-EE9F5BC5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BLOCKED BEFORE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0627C-442F-4ED7-B650-93F7066E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52600"/>
            <a:ext cx="73152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13"/>
          </a:solidFill>
          <a:ln xmlns:a="http://schemas.openxmlformats.org/drawingml/2006/main" w="9525">
            <a:solidFill>
              <a:srgbClr val="365F4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039daa7834f0b"/>
          <a:stretch xmlns:a="http://schemas.openxmlformats.org/drawingml/2006/main"/>
        </p:blipFill>
        <p:spPr>
          <a:xfrm xmlns:a="http://schemas.openxmlformats.org/drawingml/2006/main">
            <a:off x="6173734" y="1924050"/>
            <a:ext cx="3425932" cy="3867150"/>
          </a:xfrm>
          <a:prstGeom xmlns:a="http://schemas.openxmlformats.org/drawingml/2006/main" prst="roundRect">
            <a:avLst>
              <a:gd name="adj" fmla="val 2956"/>
            </a:avLst>
          </a:prstGeom>
        </p:spPr>
      </p:pic>
    </p:spTree>
    <p:extLst>
      <p:ext uri="{BB962C8B-B14F-4D97-AF65-F5344CB8AC3E}">
        <p14:creationId xmlns:p14="http://schemas.microsoft.com/office/powerpoint/2010/main" val="2340823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4EA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4026ED-F820-4C51-97A3-7BA86FBA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2333"/>
                </a:solidFill>
              </a:defRPr>
            </a:pPr>
            <a:r>
              <a:rPr sz="900" b="1" i="0">
                <a:solidFill>
                  <a:srgbClr val="8B2333"/>
                </a:solidFill>
              </a:rPr>
              <a:t>IMPACT AND FEASIBILITY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CBDA0-304C-4F42-B892-C7625CB4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31A15"/>
                </a:solidFill>
              </a:defRPr>
            </a:pPr>
            <a:r>
              <a:rPr sz="3600" b="1" i="0">
                <a:solidFill>
                  <a:srgbClr val="131A15"/>
                </a:solidFill>
              </a:rPr>
              <a:t>Start where the value is high and the path is real.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12C98-B7A8-4ACC-AFC4-D4DD8536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56158"/>
                </a:solidFill>
              </a:defRPr>
            </a:pPr>
            <a:r>
              <a:rPr sz="750" b="1" i="0">
                <a:solidFill>
                  <a:srgbClr val="556158"/>
                </a:solidFill>
              </a:rPr>
              <a:t>AXIOM BY CASEZERO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636C9-5AFF-468E-8C28-F6B86D02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56158"/>
                </a:solidFill>
              </a:defRPr>
            </a:pPr>
            <a:r>
              <a:rPr sz="825" b="1" i="0">
                <a:solidFill>
                  <a:srgbClr val="556158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ED111-579C-4B2D-A25E-9C3C15F6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31A15"/>
                </a:solidFill>
              </a:defRPr>
            </a:pPr>
            <a:r>
              <a:rPr sz="3750" b="1" i="0">
                <a:solidFill>
                  <a:srgbClr val="131A15"/>
                </a:solidFill>
              </a:rPr>
              <a:t>90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06F09-ABB4-4286-B3A3-9DD2346E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case-study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B515A4-7D00-4C78-9903-25330294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431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8B2333"/>
                </a:solidFill>
              </a:defRPr>
            </a:pPr>
            <a:r>
              <a:rPr sz="3000" b="1" i="0">
                <a:solidFill>
                  <a:srgbClr val="8B2333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9405D-B203-409A-B1A1-CA3CF2F7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479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365F48"/>
                </a:solidFill>
              </a:defRPr>
            </a:pPr>
            <a:r>
              <a:rPr sz="3750" b="1" i="0">
                <a:solidFill>
                  <a:srgbClr val="365F48"/>
                </a:solidFill>
              </a:rPr>
              <a:t>&lt; 30 sec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DAE5AF-E500-4CE3-BE92-0A239522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194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latest verified public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D1844-C32D-4BC4-8039-5B7471BA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81200"/>
            <a:ext cx="403860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0B0F0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E785C-5127-459C-A021-4331B478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4790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57%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9AE14-2075-4B79-8333-85A335F5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337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8BFB0"/>
                </a:solidFill>
              </a:defRPr>
            </a:pPr>
            <a:r>
              <a:rPr sz="1500" b="0" i="0">
                <a:solidFill>
                  <a:srgbClr val="A8BFB0"/>
                </a:solidFill>
              </a:rPr>
              <a:t>of stated volume in the first rollout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2BF99-9432-4CEB-A26D-EDF5FA45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F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CAD7C-6A8D-4B1A-9437-FE0D0ABF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B2333"/>
                </a:solidFill>
              </a:defRPr>
            </a:pPr>
            <a:r>
              <a:rPr sz="825" b="1" i="0">
                <a:solidFill>
                  <a:srgbClr val="8B2333"/>
                </a:solidFill>
              </a:rPr>
              <a:t>NOW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E1D70-413F-4AE7-B9D5-D825E0EC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31A15"/>
                </a:solidFill>
              </a:defRPr>
            </a:pPr>
            <a:r>
              <a:rPr sz="1575" b="1" i="0">
                <a:solidFill>
                  <a:srgbClr val="131A15"/>
                </a:solidFill>
              </a:rPr>
              <a:t>Synthetic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7708FA-6D78-4E89-A50E-E182FD92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56158"/>
                </a:solidFill>
              </a:defRPr>
            </a:pPr>
            <a:r>
              <a:rPr sz="1125" b="0" i="0">
                <a:solidFill>
                  <a:srgbClr val="556158"/>
                </a:solidFill>
              </a:rPr>
              <a:t>Deployed app, real models, bank-tool simulators and database proof.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3A95E6-2885-4639-8BC6-0C423DB3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434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B2333"/>
                </a:solidFill>
              </a:defRPr>
            </a:pPr>
            <a:r>
              <a:rPr sz="825" b="1" i="0">
                <a:solidFill>
                  <a:srgbClr val="8B2333"/>
                </a:solidFill>
              </a:rPr>
              <a:t>NEXT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8D3DB2-7922-4999-B629-13FF293B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292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31A15"/>
                </a:solidFill>
              </a:defRPr>
            </a:pPr>
            <a:r>
              <a:rPr sz="1575" b="1" i="0">
                <a:solidFill>
                  <a:srgbClr val="131A15"/>
                </a:solidFill>
              </a:rPr>
              <a:t>Controlled rollout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F91CFB-5F7D-41ED-8B75-B4D711C1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911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56158"/>
                </a:solidFill>
              </a:defRPr>
            </a:pPr>
            <a:r>
              <a:rPr sz="1125" b="0" i="0">
                <a:solidFill>
                  <a:srgbClr val="556158"/>
                </a:solidFill>
              </a:rPr>
              <a:t>Two high-volume dispute types with staff review.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371F82-5AE1-4528-A7BA-03D098CB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434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B2333"/>
                </a:solidFill>
              </a:defRPr>
            </a:pPr>
            <a:r>
              <a:rPr sz="825" b="1" i="0">
                <a:solidFill>
                  <a:srgbClr val="8B2333"/>
                </a:solidFill>
              </a:rPr>
              <a:t>THEN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60DAAD-D7E1-4743-9B36-D7B1C17C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292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31A15"/>
                </a:solidFill>
              </a:defRPr>
            </a:pPr>
            <a:r>
              <a:rPr sz="1575" b="1" i="0">
                <a:solidFill>
                  <a:srgbClr val="131A15"/>
                </a:solidFill>
              </a:rPr>
              <a:t>Bank integration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872A6F-4EC0-428E-9F1B-6F8B1DED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911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56158"/>
                </a:solidFill>
              </a:defRPr>
            </a:pPr>
            <a:r>
              <a:rPr sz="1125" b="0" i="0">
                <a:solidFill>
                  <a:srgbClr val="556158"/>
                </a:solidFill>
              </a:rPr>
              <a:t>Bank credentials, compliance sign-off and security approval.</a:t>
            </a:r>
          </a:p>
        </p:txBody>
      </p:sp>
    </p:spTree>
    <p:extLst>
      <p:ext uri="{BB962C8B-B14F-4D97-AF65-F5344CB8AC3E}">
        <p14:creationId xmlns:p14="http://schemas.microsoft.com/office/powerpoint/2010/main" val="6869699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8B23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F08BC1-3756-42F5-9377-D1FE7570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1DDE1"/>
                </a:solidFill>
              </a:defRPr>
            </a:pPr>
            <a:r>
              <a:rPr sz="900" b="1" i="0">
                <a:solidFill>
                  <a:srgbClr val="F1DDE1"/>
                </a:solidFill>
              </a:rPr>
              <a:t>THE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0BBC2-04F8-41A9-B76F-B7CFA75F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</a:defRPr>
            </a:pPr>
            <a:r>
              <a:rPr sz="4350" b="1" i="0">
                <a:solidFill>
                  <a:srgbClr val="FFFFFF"/>
                </a:solidFill>
              </a:rPr>
              <a:t>Give us one complaint.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FEC60-920C-4AC0-958A-2F5C0CCE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8477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5E8EB"/>
                </a:solidFill>
              </a:defRPr>
            </a:pPr>
            <a:r>
              <a:rPr sz="2325" b="1" i="0">
                <a:solidFill>
                  <a:srgbClr val="F5E8EB"/>
                </a:solidFill>
              </a:rPr>
              <a:t>We’ll give every customer, operator and auditor the same provable 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37E6C-FADA-4C66-9AE4-12F5A55E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7442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0B0F0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B7FF7-A0D0-4B78-9D9B-1AD49448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01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casezero-alpha.vercel.app/live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9C9C9-6717-4EAE-A6FE-D3F8A2E4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BFB0"/>
                </a:solidFill>
              </a:defRPr>
            </a:pPr>
            <a:r>
              <a:rPr sz="1125" b="0" i="0">
                <a:solidFill>
                  <a:srgbClr val="A8BFB0"/>
                </a:solidFill>
              </a:rPr>
              <a:t>Visitor-written complaint · Visitor-uploaded PDF · Fictional identity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9BA85-82E5-4298-B9C3-0364099C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7244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8B2333"/>
          </a:solidFill>
          <a:ln xmlns:a="http://schemas.openxmlformats.org/drawingml/2006/main" w="9525">
            <a:solidFill>
              <a:srgbClr val="D89B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6314A-96BE-4D8D-9EF7-1C8EE3E2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7720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Q&amp;A 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53CD3-7CC5-458E-89B2-6BE4EDBF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BAD9F"/>
                </a:solidFill>
              </a:defRPr>
            </a:pPr>
            <a:r>
              <a:rPr sz="750" b="1" i="0">
                <a:solidFill>
                  <a:srgbClr val="9BAD9F"/>
                </a:solidFill>
              </a:rPr>
              <a:t>AXIOM BY CASEZERO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6398D-F700-424A-AAF4-C9335CB0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9BAD9F"/>
                </a:solidFill>
              </a:defRPr>
            </a:pPr>
            <a:r>
              <a:rPr sz="825" b="1" i="0">
                <a:solidFill>
                  <a:srgbClr val="9BAD9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164898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4EA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88DCA1-8B3D-4353-8443-8BDB1EA3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2333"/>
                </a:solidFill>
              </a:defRPr>
            </a:pPr>
            <a:r>
              <a:rPr sz="900" b="1" i="0">
                <a:solidFill>
                  <a:srgbClr val="8B2333"/>
                </a:solidFill>
              </a:rPr>
              <a:t>APPENDIX 1 OF 6 · VALUE AND USERS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648F9-B1F9-421F-8390-11633930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31A15"/>
                </a:solidFill>
              </a:defRPr>
            </a:pPr>
            <a:r>
              <a:rPr sz="3000" b="1" i="0">
                <a:solidFill>
                  <a:srgbClr val="131A15"/>
                </a:solidFill>
              </a:rPr>
              <a:t>Who benefits — and why should they care?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521C0-E163-4609-98EB-3368AB3C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56158"/>
                </a:solidFill>
              </a:defRPr>
            </a:pPr>
            <a:r>
              <a:rPr sz="750" b="1" i="0">
                <a:solidFill>
                  <a:srgbClr val="556158"/>
                </a:solidFill>
              </a:rPr>
              <a:t>AXIOM BY CASEZERO  ·  APPENDIX / Q&amp;A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89C93-D2FA-44F0-AABD-B3E43A4F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56158"/>
                </a:solidFill>
              </a:defRPr>
            </a:pPr>
            <a:r>
              <a:rPr sz="825" b="1" i="0">
                <a:solidFill>
                  <a:srgbClr val="556158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FDDF7-7D45-49E4-B751-66A0064F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6250"/>
            <a:ext cx="2838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B0F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45F85-ABE5-4F72-A621-36AFA273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NOT PART OF THE FIVE-MINUTE 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93CFA-2533-4899-8A19-F0D374C7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2578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E1189-9BC2-47FF-BB9F-3260D651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918AB-411D-46FF-BE68-BA4230B2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1A15"/>
                </a:solidFill>
              </a:defRPr>
            </a:pPr>
            <a:r>
              <a:rPr sz="1500" b="1" i="0">
                <a:solidFill>
                  <a:srgbClr val="131A15"/>
                </a:solidFill>
              </a:rPr>
              <a:t>Who is the primary user?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7177E-1040-4A89-8913-A40F292C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A small complaints team that needs one clear view of the customer, evidence, deadline and next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A4DD8-2E80-489C-8EA5-E5A61961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52578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9E5F2-D8E1-4629-BFF7-DB9E6E28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F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A35E5C-475F-4683-9030-433767AE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1A15"/>
                </a:solidFill>
              </a:defRPr>
            </a:pPr>
            <a:r>
              <a:rPr sz="1500" b="1" i="0">
                <a:solidFill>
                  <a:srgbClr val="131A15"/>
                </a:solidFill>
              </a:rPr>
              <a:t>What changes for the customer?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E373E-A5AB-4DDF-8D89-B42BB894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They get a faster, clearer answer and a traceable explanation instead of repeating their story across teams.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047745-9D7C-4095-924A-3DBC9264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2578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D4EBD8-DACB-46D5-BB28-588F87F0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36CCB8-C4F6-4D9C-882B-6BD723B2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1A15"/>
                </a:solidFill>
              </a:defRPr>
            </a:pPr>
            <a:r>
              <a:rPr sz="1500" b="1" i="0">
                <a:solidFill>
                  <a:srgbClr val="131A15"/>
                </a:solidFill>
              </a:rPr>
              <a:t>What changes for the bank?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07A964-F594-4CBD-84A0-7468F94F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Less manual chasing, fewer missed deadlines and one auditable record from intake to final response.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FAD81-1D4E-4CF6-9D2D-33E43324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52578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0FDD56-168C-4D51-9735-E106D07C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F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DF1D9C-8361-4861-B541-835382F6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1A15"/>
                </a:solidFill>
              </a:defRPr>
            </a:pPr>
            <a:r>
              <a:rPr sz="1500" b="1" i="0">
                <a:solidFill>
                  <a:srgbClr val="131A15"/>
                </a:solidFill>
              </a:rPr>
              <a:t>How do you measure value?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8B097B-E72B-4FC7-A29A-86946CF6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577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Handling time, deadline misses, first-time resolution, safe-refusal rate and staff time saved—reported separately as measured, baseline or assumption.</a:t>
            </a:r>
          </a:p>
        </p:txBody>
      </p:sp>
    </p:spTree>
    <p:extLst>
      <p:ext uri="{BB962C8B-B14F-4D97-AF65-F5344CB8AC3E}">
        <p14:creationId xmlns:p14="http://schemas.microsoft.com/office/powerpoint/2010/main" val="7647953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4EA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C77DD4-66B5-411D-A06D-89279D75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2333"/>
                </a:solidFill>
              </a:defRPr>
            </a:pPr>
            <a:r>
              <a:rPr sz="900" b="1" i="0">
                <a:solidFill>
                  <a:srgbClr val="8B2333"/>
                </a:solidFill>
              </a:rPr>
              <a:t>APPENDIX 2 OF 6 · AI AND ORIGINALITY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F2A8C-E4D0-4F49-93E6-28D6409F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31A15"/>
                </a:solidFill>
              </a:defRPr>
            </a:pPr>
            <a:r>
              <a:rPr sz="3000" b="1" i="0">
                <a:solidFill>
                  <a:srgbClr val="131A15"/>
                </a:solidFill>
              </a:rPr>
              <a:t>Where is AI meaningful — and what is new?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F5D50-55F4-4421-B686-BD41FE54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56158"/>
                </a:solidFill>
              </a:defRPr>
            </a:pPr>
            <a:r>
              <a:rPr sz="750" b="1" i="0">
                <a:solidFill>
                  <a:srgbClr val="556158"/>
                </a:solidFill>
              </a:rPr>
              <a:t>AXIOM BY CASEZERO  ·  APPENDIX / Q&amp;A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77979-0E37-4F0C-9167-DE29388D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56158"/>
                </a:solidFill>
              </a:defRPr>
            </a:pPr>
            <a:r>
              <a:rPr sz="825" b="1" i="0">
                <a:solidFill>
                  <a:srgbClr val="556158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3B7AA-4F5D-4422-8C04-4731BCE8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6250"/>
            <a:ext cx="2838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B0F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ABECE-E0D9-4342-B515-905FDE76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NOT PART OF THE FIVE-MINUTE 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5082B-EFF6-4A77-BCFA-196C3ED4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2578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79DD3-8C33-40A0-A0FA-B0534DB7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4390A-19F8-49D9-B50C-DEF6F22F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1A15"/>
                </a:solidFill>
              </a:defRPr>
            </a:pPr>
            <a:r>
              <a:rPr sz="1500" b="1" i="0">
                <a:solidFill>
                  <a:srgbClr val="131A15"/>
                </a:solidFill>
              </a:rPr>
              <a:t>Where is AI used?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669E8-6CC6-4408-971A-D9AB6270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AI reads messy complaint language, classifies the issue, compares evidence and drafts a plain-language customer explanation.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E4DEE-DDB2-492F-BC41-22B472C0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52578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7A09A-8449-44A9-BCDB-BD14CC93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F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C50A1-E258-478E-9489-0E1F6ADF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1A15"/>
                </a:solidFill>
              </a:defRPr>
            </a:pPr>
            <a:r>
              <a:rPr sz="1500" b="1" i="0">
                <a:solidFill>
                  <a:srgbClr val="131A15"/>
                </a:solidFill>
              </a:rPr>
              <a:t>What does AI never decide?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243FF-DB18-4356-8BBA-338A13D2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It cannot move money, change a deadline, skip a required disclosure or grant itself authority.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210F0B-580D-429D-A0E9-D0AEAA14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2578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F7A03-6FDF-463D-8D75-EA767146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7328E2-BD78-4D80-BEDB-BE8CC4A0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1A15"/>
                </a:solidFill>
              </a:defRPr>
            </a:pPr>
            <a:r>
              <a:rPr sz="1500" b="1" i="0">
                <a:solidFill>
                  <a:srgbClr val="131A15"/>
                </a:solidFill>
              </a:rPr>
              <a:t>What makes CaseZero different?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EDDB75-7C68-4FDD-9FBA-1E33ADE9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Governance is visible product behavior: every handoff leaves a receipt, every write needs a scoped ticket, and safe refusal is treated as success.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5B48DE-2242-41D0-AF58-653731FA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52578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1FFA00-7F4B-43B8-9742-729CF25F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F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E043D8-472A-48DA-B322-6D7C1CFC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1A15"/>
                </a:solidFill>
              </a:defRPr>
            </a:pPr>
            <a:r>
              <a:rPr sz="1500" b="1" i="0">
                <a:solidFill>
                  <a:srgbClr val="131A15"/>
                </a:solidFill>
              </a:rPr>
              <a:t>Why six specialists?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4A2274-9486-4E3D-8F6E-728A2F57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577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Each specialist has one narrow job. That makes handoffs understandable and lets the bank improve or replace one part without hiding the whole decision.</a:t>
            </a:r>
          </a:p>
        </p:txBody>
      </p:sp>
    </p:spTree>
    <p:extLst>
      <p:ext uri="{BB962C8B-B14F-4D97-AF65-F5344CB8AC3E}">
        <p14:creationId xmlns:p14="http://schemas.microsoft.com/office/powerpoint/2010/main" val="14085560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4EA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401161-F0C0-4650-9366-2CAF079E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2333"/>
                </a:solidFill>
              </a:defRPr>
            </a:pPr>
            <a:r>
              <a:rPr sz="900" b="1" i="0">
                <a:solidFill>
                  <a:srgbClr val="8B2333"/>
                </a:solidFill>
              </a:rPr>
              <a:t>APPENDIX 3 OF 6 · SAFETY, PRIVACY AND ETHICS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97CB7-4C37-4F9E-8F3D-B4B7D3DE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31A15"/>
                </a:solidFill>
              </a:defRPr>
            </a:pPr>
            <a:r>
              <a:rPr sz="3000" b="1" i="0">
                <a:solidFill>
                  <a:srgbClr val="131A15"/>
                </a:solidFill>
              </a:rPr>
              <a:t>How do you keep people and money safe?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5E36F-4500-4091-B0FC-2C29E4B0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56158"/>
                </a:solidFill>
              </a:defRPr>
            </a:pPr>
            <a:r>
              <a:rPr sz="750" b="1" i="0">
                <a:solidFill>
                  <a:srgbClr val="556158"/>
                </a:solidFill>
              </a:rPr>
              <a:t>AXIOM BY CASEZERO  ·  APPENDIX / Q&amp;A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FA05E-5959-4CA0-B0D5-D142A38C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56158"/>
                </a:solidFill>
              </a:defRPr>
            </a:pPr>
            <a:r>
              <a:rPr sz="825" b="1" i="0">
                <a:solidFill>
                  <a:srgbClr val="556158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C855E-A624-4371-A7AD-F4A5C498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6250"/>
            <a:ext cx="2838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B0F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369CC-7DB6-437F-8E0E-3EE888F1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NOT PART OF THE FIVE-MINUTE 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0F5D8-B527-4BA3-9E0C-4C2F0411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2578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4CC42-6877-4337-93C5-907DA2E4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967EE-DE89-4D41-A8A2-E3BEE50D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1A15"/>
                </a:solidFill>
              </a:defRPr>
            </a:pPr>
            <a:r>
              <a:rPr sz="1500" b="1" i="0">
                <a:solidFill>
                  <a:srgbClr val="131A15"/>
                </a:solidFill>
              </a:rPr>
              <a:t>What happens if the AI is uncertain?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2FEB2-A1D8-4657-AD51-01332A2B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The case stops for human review. It does not guess its way into a financial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EC056F-D14D-44F6-922F-3E216D5D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52578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BF0F9F-EBD9-4CD6-A696-053481E9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F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44AD5-2023-4DBA-B47D-F5870BC9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1A15"/>
                </a:solidFill>
              </a:defRPr>
            </a:pPr>
            <a:r>
              <a:rPr sz="1500" b="1" i="0">
                <a:solidFill>
                  <a:srgbClr val="131A15"/>
                </a:solidFill>
              </a:rPr>
              <a:t>How do you handle prompt injection?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7681E-19D8-421E-AADF-6AA6A679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Suspicious instructions inside email or PDF evidence are blocked before any model is called.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01F8B-E0BA-4C27-ABD9-0EC4EAB3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2578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85808F-A55F-4F56-BA4D-BF8889B5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C34AD-2D86-4EA5-9BCD-8B1BC879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1A15"/>
                </a:solidFill>
              </a:defRPr>
            </a:pPr>
            <a:r>
              <a:rPr sz="1500" b="1" i="0">
                <a:solidFill>
                  <a:srgbClr val="131A15"/>
                </a:solidFill>
              </a:rPr>
              <a:t>How is personal data protected?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614C1-1988-4E1B-9C6B-B02F5BA6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The public demo uses fictional identities. In deployment, identifiers are encrypted, redacted in views and restricted by role.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E339B2-C342-4CF7-9E5D-CA1F145F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52578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66DB9E-1B7D-4EB4-AD9B-F9C87828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F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1EDB16-E7E6-4CB0-B043-2F891A1B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1A15"/>
                </a:solidFill>
              </a:defRPr>
            </a:pPr>
            <a:r>
              <a:rPr sz="1500" b="1" i="0">
                <a:solidFill>
                  <a:srgbClr val="131A15"/>
                </a:solidFill>
              </a:rPr>
              <a:t>Can staff override the system?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6F39F-4B02-41D0-A86A-37D8E735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577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Authorized staff can review and resolve exceptions, but the action and reason remain visible in the audit trail.</a:t>
            </a:r>
          </a:p>
        </p:txBody>
      </p:sp>
    </p:spTree>
    <p:extLst>
      <p:ext uri="{BB962C8B-B14F-4D97-AF65-F5344CB8AC3E}">
        <p14:creationId xmlns:p14="http://schemas.microsoft.com/office/powerpoint/2010/main" val="4210687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4EA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169CD3-D585-4D1F-A336-B5900ACB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2333"/>
                </a:solidFill>
              </a:defRPr>
            </a:pPr>
            <a:r>
              <a:rPr sz="900" b="1" i="0">
                <a:solidFill>
                  <a:srgbClr val="8B2333"/>
                </a:solidFill>
              </a:rPr>
              <a:t>APPENDIX 4 OF 6 · FEASIBILITY AND ROLLOUT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54383-54C4-410A-BA2F-73CB529E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31A15"/>
                </a:solidFill>
              </a:defRPr>
            </a:pPr>
            <a:r>
              <a:rPr sz="3000" b="1" i="0">
                <a:solidFill>
                  <a:srgbClr val="131A15"/>
                </a:solidFill>
              </a:rPr>
              <a:t>Can a bank actually adopt this?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01F93-1C20-4402-8D73-1C1E624C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56158"/>
                </a:solidFill>
              </a:defRPr>
            </a:pPr>
            <a:r>
              <a:rPr sz="750" b="1" i="0">
                <a:solidFill>
                  <a:srgbClr val="556158"/>
                </a:solidFill>
              </a:rPr>
              <a:t>AXIOM BY CASEZERO  ·  APPENDIX / Q&amp;A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C1207-434E-4F9C-B217-F5B3C6E2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56158"/>
                </a:solidFill>
              </a:defRPr>
            </a:pPr>
            <a:r>
              <a:rPr sz="825" b="1" i="0">
                <a:solidFill>
                  <a:srgbClr val="556158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C0ACB-DE73-41D1-81AE-03093306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6250"/>
            <a:ext cx="2838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B0F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59B03-822B-4143-8AD3-34004D1D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NOT PART OF THE FIVE-MINUTE 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BD018-9124-4C55-AB51-633C30D7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2578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18F84-99E4-4AA5-B7CB-0BC774DD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75F21-EBB9-480B-8BEA-6C9D1C08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1A15"/>
                </a:solidFill>
              </a:defRPr>
            </a:pPr>
            <a:r>
              <a:rPr sz="1500" b="1" i="0">
                <a:solidFill>
                  <a:srgbClr val="131A15"/>
                </a:solidFill>
              </a:rPr>
              <a:t>Is this only a prototype?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42525-01D7-4C6F-87DD-9A910777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The dashboard and API are deployed today with real model calls, a real database and controlled bank-tool simulations.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9FE07-6160-4371-BD97-DD59328D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52578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EDE1D-9933-4F62-B2DB-00D21E18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F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1C4B4-A342-4C22-AB81-1721B2B7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1A15"/>
                </a:solidFill>
              </a:defRPr>
            </a:pPr>
            <a:r>
              <a:rPr sz="1500" b="1" i="0">
                <a:solidFill>
                  <a:srgbClr val="131A15"/>
                </a:solidFill>
              </a:rPr>
              <a:t>What still needs the bank?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F4D027-9AAB-420C-A19E-1F5F8145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Core-system credentials, complaint-mailbox access, staff identities, compliance sign-off and production security approval.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C436C0-A39A-48FB-8FA9-3A4D821D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2578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F08C7D-0101-40C5-BCF6-0EE8DC94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6BB43-0E84-4C83-AE3B-9B748436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1A15"/>
                </a:solidFill>
              </a:defRPr>
            </a:pPr>
            <a:r>
              <a:rPr sz="1500" b="1" i="0">
                <a:solidFill>
                  <a:srgbClr val="131A15"/>
                </a:solidFill>
              </a:rPr>
              <a:t>How would you start?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1B028E-9976-4B86-91C2-4F60FC86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Begin with synthetic cases, then a staff-reviewed pilot for two high-volume dispute types before allowing controlled financial writes.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8CA747-DCA2-472C-9B86-BA8EF55E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52578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AC304A-B2FF-4D94-9312-BBA88CCA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F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16572D-8141-49ED-BBB7-F1FE563E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1A15"/>
                </a:solidFill>
              </a:defRPr>
            </a:pPr>
            <a:r>
              <a:rPr sz="1500" b="1" i="0">
                <a:solidFill>
                  <a:srgbClr val="131A15"/>
                </a:solidFill>
              </a:rPr>
              <a:t>What if a bank already has a case system?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15EC30-5028-4D6F-8361-BCF98491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577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CaseZero can sit above existing systems as the governed workflow and proof layer instead of replacing everything at once.</a:t>
            </a:r>
          </a:p>
        </p:txBody>
      </p:sp>
    </p:spTree>
    <p:extLst>
      <p:ext uri="{BB962C8B-B14F-4D97-AF65-F5344CB8AC3E}">
        <p14:creationId xmlns:p14="http://schemas.microsoft.com/office/powerpoint/2010/main" val="17644708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4EA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29E635-C04C-4BDE-9F7E-48B9FBAA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2333"/>
                </a:solidFill>
              </a:defRPr>
            </a:pPr>
            <a:r>
              <a:rPr sz="900" b="1" i="0">
                <a:solidFill>
                  <a:srgbClr val="8B2333"/>
                </a:solidFill>
              </a:rPr>
              <a:t>APPENDIX 5 OF 6 · PRODUCT AND ACCESSIBILITY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E4346-3751-4B1A-AB94-CE961417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31A15"/>
                </a:solidFill>
              </a:defRPr>
            </a:pPr>
            <a:r>
              <a:rPr sz="3000" b="1" i="0">
                <a:solidFill>
                  <a:srgbClr val="131A15"/>
                </a:solidFill>
              </a:rPr>
              <a:t>What exactly can a visitor test?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75BC0-4F11-45EF-8E97-DB17FB2F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56158"/>
                </a:solidFill>
              </a:defRPr>
            </a:pPr>
            <a:r>
              <a:rPr sz="750" b="1" i="0">
                <a:solidFill>
                  <a:srgbClr val="556158"/>
                </a:solidFill>
              </a:rPr>
              <a:t>AXIOM BY CASEZERO  ·  APPENDIX / Q&amp;A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73FC9-2661-44BD-B98C-0E2F2D0A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56158"/>
                </a:solidFill>
              </a:defRPr>
            </a:pPr>
            <a:r>
              <a:rPr sz="825" b="1" i="0">
                <a:solidFill>
                  <a:srgbClr val="556158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19A06-5510-4CE4-AE40-A6A2EC0D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6250"/>
            <a:ext cx="2838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B0F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80F93-2CB7-4EB6-9A57-87E5A98F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NOT PART OF THE FIVE-MINUTE 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92C87-4CD6-4FE6-8FDB-55B8817E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2578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C190C-0FB7-4BFF-A53E-9C91E39B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A2637-23AB-43B0-BA81-D80F18E6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1A15"/>
                </a:solidFill>
              </a:defRPr>
            </a:pPr>
            <a:r>
              <a:rPr sz="1500" b="1" i="0">
                <a:solidFill>
                  <a:srgbClr val="131A15"/>
                </a:solidFill>
              </a:rPr>
              <a:t>Is the complaint prefilled?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C1FB8-B3AB-4F67-B020-DDF9A385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No. Only a fictional identity is provided. The subject, complaint words, amount, merchant and uploaded PDF come from the visitor.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BAE8F-37BB-474A-B555-56FAD642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52578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7C259-4D7D-4486-BD2E-B5BD0F80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F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BA331-3F36-4D1A-B106-9E203F97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1A15"/>
                </a:solidFill>
              </a:defRPr>
            </a:pPr>
            <a:r>
              <a:rPr sz="1500" b="1" i="0">
                <a:solidFill>
                  <a:srgbClr val="131A15"/>
                </a:solidFill>
              </a:rPr>
              <a:t>Does the PDF really matter?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8FF53-0087-4A9F-9DC4-ACCDAF54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Yes. Its filename and read method appear in the input receipt, and its evidence is compared with the visitor’s claim.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C97FA-C09C-4840-BE9C-37BCF53F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2578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C280A3-22E3-470C-8E26-4E26A4FD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882BAE-E4DB-47BD-B09C-147A154B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1A15"/>
                </a:solidFill>
              </a:defRPr>
            </a:pPr>
            <a:r>
              <a:rPr sz="1500" b="1" i="0">
                <a:solidFill>
                  <a:srgbClr val="131A15"/>
                </a:solidFill>
              </a:rPr>
              <a:t>What if the PDF is scanned?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E8292A-754E-44BA-800B-A614C791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The system can read scanned pages visually; if the evidence is unclear or inconsistent, it stops for review.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F429C-92C0-4C66-956A-D5148A31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52578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8168B4-B5C7-448F-8535-CDFA6D6B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F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2F6AC1-7AE9-46EA-8E1E-262A734D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1A15"/>
                </a:solidFill>
              </a:defRPr>
            </a:pPr>
            <a:r>
              <a:rPr sz="1500" b="1" i="0">
                <a:solidFill>
                  <a:srgbClr val="131A15"/>
                </a:solidFill>
              </a:rPr>
              <a:t>Is it accessible on mobile?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4AA8DC-DB3D-4D24-B6EC-A0CE86A1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577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The live workspace is keyboard-operable, has visible focus, reduced-motion support, readable states and no horizontal overflow at 390px.</a:t>
            </a:r>
          </a:p>
        </p:txBody>
      </p:sp>
    </p:spTree>
    <p:extLst>
      <p:ext uri="{BB962C8B-B14F-4D97-AF65-F5344CB8AC3E}">
        <p14:creationId xmlns:p14="http://schemas.microsoft.com/office/powerpoint/2010/main" val="44116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4EA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F58990-435F-482B-B90F-49067942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2333"/>
                </a:solidFill>
              </a:defRPr>
            </a:pPr>
            <a:r>
              <a:rPr sz="900" b="1" i="0">
                <a:solidFill>
                  <a:srgbClr val="8B2333"/>
                </a:solidFill>
              </a:rPr>
              <a:t>APPENDIX 6 OF 6 · PROOF AND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BF404-3546-46DC-99B7-048355A2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31A15"/>
                </a:solidFill>
              </a:defRPr>
            </a:pPr>
            <a:r>
              <a:rPr sz="3000" b="1" i="0">
                <a:solidFill>
                  <a:srgbClr val="131A15"/>
                </a:solidFill>
              </a:rPr>
              <a:t>How do you know the result is real?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19342-380B-474E-AEC4-F69A7CF7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56158"/>
                </a:solidFill>
              </a:defRPr>
            </a:pPr>
            <a:r>
              <a:rPr sz="750" b="1" i="0">
                <a:solidFill>
                  <a:srgbClr val="556158"/>
                </a:solidFill>
              </a:rPr>
              <a:t>AXIOM BY CASEZERO  ·  APPENDIX / Q&amp;A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FD340-9435-4532-AC8C-CBFBC61C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56158"/>
                </a:solidFill>
              </a:defRPr>
            </a:pPr>
            <a:r>
              <a:rPr sz="825" b="1" i="0">
                <a:solidFill>
                  <a:srgbClr val="556158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E82D7-647B-491C-8293-6573EB68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6250"/>
            <a:ext cx="2838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B0F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351BD-FDB4-4221-B839-BC093CFA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NOT PART OF THE FIVE-MINUTE 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7B30E-DFCB-49A2-A0C9-67BE6F05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2578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AB29F7-A5CE-42E7-855E-CB913111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DF25D-CE35-4BAC-B22C-C6D41BBA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1A15"/>
                </a:solidFill>
              </a:defRPr>
            </a:pPr>
            <a:r>
              <a:rPr sz="1500" b="1" i="0">
                <a:solidFill>
                  <a:srgbClr val="131A15"/>
                </a:solidFill>
              </a:rPr>
              <a:t>What proof does one run leave?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44202-FAFE-4B6A-AF94-4902BD25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A visitor-input receipt, specialist handoff receipts, a final verdict, a balanced journal and a linked event history.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1CB29-8FFC-4659-9248-C5842C24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52578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28D8D-C31B-4618-80E5-DBAED70B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F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FCCA6-3AF5-4CB8-B97E-F612F33C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1A15"/>
                </a:solidFill>
              </a:defRPr>
            </a:pPr>
            <a:r>
              <a:rPr sz="1500" b="1" i="0">
                <a:solidFill>
                  <a:srgbClr val="131A15"/>
                </a:solidFill>
              </a:rPr>
              <a:t>Can a model fake a successful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332D5D-7EDF-4F8F-82BD-DF020B00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No. The final state and money movement come from server-side rules and bank-tool responses, not from model wording.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5E78AE-9CDB-445B-B1BF-21683C6B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2578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836379-487A-4746-9FDD-D9AA99F3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65C85-CDA2-4451-A3D1-5B1F9309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1A15"/>
                </a:solidFill>
              </a:defRPr>
            </a:pPr>
            <a:r>
              <a:rPr sz="1500" b="1" i="0">
                <a:solidFill>
                  <a:srgbClr val="131A15"/>
                </a:solidFill>
              </a:rPr>
              <a:t>How is it tested?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DDCED-A135-4201-AF39-A5E67696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The release gate runs 500+ backend tests, 29 browser journeys, type checks, a production build and dependency security checks.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491095-7942-4C83-9254-C8571139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52578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4"/>
          </a:solidFill>
          <a:ln xmlns:a="http://schemas.openxmlformats.org/drawingml/2006/main" w="9525">
            <a:solidFill>
              <a:srgbClr val="A8BF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E8D455-4817-4EB6-9152-4848F5D3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F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B2D5CD-42D7-48B6-BFD2-EE1272FF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1A15"/>
                </a:solidFill>
              </a:defRPr>
            </a:pPr>
            <a:r>
              <a:rPr sz="1500" b="1" i="0">
                <a:solidFill>
                  <a:srgbClr val="131A15"/>
                </a:solidFill>
              </a:rPr>
              <a:t>What should we verify live?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52121A-3ED8-46E0-86DA-250DFCEE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577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6158"/>
                </a:solidFill>
              </a:defRPr>
            </a:pPr>
            <a:r>
              <a:rPr sz="1200" b="0" i="0">
                <a:solidFill>
                  <a:srgbClr val="556158"/>
                </a:solidFill>
              </a:rPr>
              <a:t>Use a unique subject and PDF, then confirm the input receipt, final state, valid event links, journal balance and safe-refusal path.</a:t>
            </a:r>
          </a:p>
        </p:txBody>
      </p:sp>
    </p:spTree>
    <p:extLst>
      <p:ext uri="{BB962C8B-B14F-4D97-AF65-F5344CB8AC3E}">
        <p14:creationId xmlns:p14="http://schemas.microsoft.com/office/powerpoint/2010/main" val="1474145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2026-08-11T18:56:29.3350000Z</dcterms:created>
  <dcterms:modified xsi:type="dcterms:W3CDTF">2026-08-11T18:56:29.3350000Z</dcterms:modified>
</coreProperties>
</file>